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9e75e9b64714a20" /><Relationship Type="http://schemas.openxmlformats.org/officeDocument/2006/relationships/extended-properties" Target="/docProps/app.xml" Id="R95cb7e4448ed4172" /><Relationship Type="http://schemas.openxmlformats.org/officeDocument/2006/relationships/officeDocument" Target="/ppt/presentation.xml" Id="R5969e0d544064d78" /></Relationships>
</file>

<file path=ppt/presentation.xml><?xml version="1.0" encoding="utf-8"?>
<p:presentation xmlns:p="http://schemas.openxmlformats.org/presentationml/2006/main">
  <p:sldMasterIdLst>
    <p:sldMasterId xmlns:r="http://schemas.openxmlformats.org/officeDocument/2006/relationships" id="2147483648" r:id="Rccf95f48dc6043ce"/>
  </p:sldMasterIdLst>
  <p:notesMasterIdLst>
    <p:notesMasterId xmlns:r="http://schemas.openxmlformats.org/officeDocument/2006/relationships" r:id="R9173eef0df724e0b"/>
  </p:notesMasterIdLst>
  <p:sldIdLst>
    <p:sldId xmlns:r="http://schemas.openxmlformats.org/officeDocument/2006/relationships" id="256" r:id="R2e1f02bd47024095"/>
    <p:sldId xmlns:r="http://schemas.openxmlformats.org/officeDocument/2006/relationships" id="257" r:id="R128f554359c44032"/>
    <p:sldId xmlns:r="http://schemas.openxmlformats.org/officeDocument/2006/relationships" id="258" r:id="R2f6dd9812bef4726"/>
    <p:sldId xmlns:r="http://schemas.openxmlformats.org/officeDocument/2006/relationships" id="259" r:id="R80841a4cba7e48bd"/>
    <p:sldId xmlns:r="http://schemas.openxmlformats.org/officeDocument/2006/relationships" id="260" r:id="R60fa7e0a23244e5c"/>
    <p:sldId xmlns:r="http://schemas.openxmlformats.org/officeDocument/2006/relationships" id="261" r:id="R6268934610ed455f"/>
    <p:sldId xmlns:r="http://schemas.openxmlformats.org/officeDocument/2006/relationships" id="262" r:id="Rb9443d8d75f34f7f"/>
    <p:sldId xmlns:r="http://schemas.openxmlformats.org/officeDocument/2006/relationships" id="263" r:id="Rb3b61cbcd5dc4b02"/>
    <p:sldId xmlns:r="http://schemas.openxmlformats.org/officeDocument/2006/relationships" id="264" r:id="R80ea82d8699b4f82"/>
    <p:sldId xmlns:r="http://schemas.openxmlformats.org/officeDocument/2006/relationships" id="265" r:id="Rc258635c76854a0c"/>
    <p:sldId xmlns:r="http://schemas.openxmlformats.org/officeDocument/2006/relationships" id="266" r:id="R7dad8c7fdefe44b1"/>
    <p:sldId xmlns:r="http://schemas.openxmlformats.org/officeDocument/2006/relationships" id="267" r:id="Rfc856eccb38c48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8fa67eb695478b" /><Relationship Type="http://schemas.openxmlformats.org/officeDocument/2006/relationships/slideMaster" Target="/ppt/slideMasters/slideMaster1.xml" Id="Rccf95f48dc6043ce" /><Relationship Type="http://schemas.openxmlformats.org/officeDocument/2006/relationships/notesMaster" Target="/ppt/notesMasters/notesMaster1.xml" Id="R9173eef0df724e0b" /><Relationship Type="http://schemas.openxmlformats.org/officeDocument/2006/relationships/presProps" Target="/ppt/presProps.xml" Id="R050f03c6ab7e4c1a" /><Relationship Type="http://schemas.openxmlformats.org/officeDocument/2006/relationships/tableStyles" Target="/ppt/tableStyles.xml" Id="Rf75bad074fac4ef2" /><Relationship Type="http://schemas.openxmlformats.org/officeDocument/2006/relationships/slide" Target="/ppt/slides/slide1.xml" Id="R2e1f02bd47024095" /><Relationship Type="http://schemas.openxmlformats.org/officeDocument/2006/relationships/slide" Target="/ppt/slides/slide2.xml" Id="R128f554359c44032" /><Relationship Type="http://schemas.openxmlformats.org/officeDocument/2006/relationships/slide" Target="/ppt/slides/slide3.xml" Id="R2f6dd9812bef4726" /><Relationship Type="http://schemas.openxmlformats.org/officeDocument/2006/relationships/slide" Target="/ppt/slides/slide4.xml" Id="R80841a4cba7e48bd" /><Relationship Type="http://schemas.openxmlformats.org/officeDocument/2006/relationships/slide" Target="/ppt/slides/slide5.xml" Id="R60fa7e0a23244e5c" /><Relationship Type="http://schemas.openxmlformats.org/officeDocument/2006/relationships/slide" Target="/ppt/slides/slide6.xml" Id="R6268934610ed455f" /><Relationship Type="http://schemas.openxmlformats.org/officeDocument/2006/relationships/slide" Target="/ppt/slides/slide7.xml" Id="Rb9443d8d75f34f7f" /><Relationship Type="http://schemas.openxmlformats.org/officeDocument/2006/relationships/slide" Target="/ppt/slides/slide8.xml" Id="Rb3b61cbcd5dc4b02" /><Relationship Type="http://schemas.openxmlformats.org/officeDocument/2006/relationships/slide" Target="/ppt/slides/slide9.xml" Id="R80ea82d8699b4f82" /><Relationship Type="http://schemas.openxmlformats.org/officeDocument/2006/relationships/slide" Target="/ppt/slides/slide10.xml" Id="Rc258635c76854a0c" /><Relationship Type="http://schemas.openxmlformats.org/officeDocument/2006/relationships/slide" Target="/ppt/slides/slide11.xml" Id="R7dad8c7fdefe44b1" /><Relationship Type="http://schemas.openxmlformats.org/officeDocument/2006/relationships/slide" Target="/ppt/slides/slide12.xml" Id="Rfc856eccb38c48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c9ed56919f41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73051c15d44aaf" /><Relationship Type="http://schemas.openxmlformats.org/officeDocument/2006/relationships/notesMaster" Target="/ppt/notesMasters/notesMaster1.xml" Id="R010e4f1b4a1c40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983fa56e0c4239" /><Relationship Type="http://schemas.openxmlformats.org/officeDocument/2006/relationships/notesMaster" Target="/ppt/notesMasters/notesMaster1.xml" Id="R06637ccc009744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966acbbb7b43a9" /><Relationship Type="http://schemas.openxmlformats.org/officeDocument/2006/relationships/notesMaster" Target="/ppt/notesMasters/notesMaster1.xml" Id="Rb506d0a72c1e43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97d7ec263b41eb" /><Relationship Type="http://schemas.openxmlformats.org/officeDocument/2006/relationships/notesMaster" Target="/ppt/notesMasters/notesMaster1.xml" Id="R9022ccc72c604f7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b1db7aa1c44c92" /><Relationship Type="http://schemas.openxmlformats.org/officeDocument/2006/relationships/notesMaster" Target="/ppt/notesMasters/notesMaster1.xml" Id="Rb4a36e9251df49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f85726b0574984" /><Relationship Type="http://schemas.openxmlformats.org/officeDocument/2006/relationships/notesMaster" Target="/ppt/notesMasters/notesMaster1.xml" Id="R1e2acccbb76e4b3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06a7b98cd94013" /><Relationship Type="http://schemas.openxmlformats.org/officeDocument/2006/relationships/notesMaster" Target="/ppt/notesMasters/notesMaster1.xml" Id="R1d845fa7fc5b47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990e4e710c4e3e" /><Relationship Type="http://schemas.openxmlformats.org/officeDocument/2006/relationships/notesMaster" Target="/ppt/notesMasters/notesMaster1.xml" Id="R2daeff7faad449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2bf578761c427c" /><Relationship Type="http://schemas.openxmlformats.org/officeDocument/2006/relationships/notesMaster" Target="/ppt/notesMasters/notesMaster1.xml" Id="Rcf07305a35f943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6407b4b0c44bb6" /><Relationship Type="http://schemas.openxmlformats.org/officeDocument/2006/relationships/notesMaster" Target="/ppt/notesMasters/notesMaster1.xml" Id="R29ba451cf5994d6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f014e74aba94f9b" /><Relationship Type="http://schemas.openxmlformats.org/officeDocument/2006/relationships/notesMaster" Target="/ppt/notesMasters/notesMaster1.xml" Id="R8c9806bd70ed44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4d0e6fb82304d09" /><Relationship Type="http://schemas.openxmlformats.org/officeDocument/2006/relationships/notesMaster" Target="/ppt/notesMasters/notesMaster1.xml" Id="R3ff06d67357f4e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completed architecture: a deterministic document processor supplies evidence to a mandatory local supervisor and mirrored AP/AR agents; deterministic controls decide whether money moves.</a:t>
            </a:r>
          </a:p>
          <a:p xmlns:a="http://schemas.openxmlformats.org/drawingml/2006/main">
            <a:r>
              <a:t/>
            </a:r>
          </a:p>
          <a:p xmlns:a="http://schemas.openxmlformats.org/drawingml/2006/main">
            <a:r>
              <a:t>[Sources]</a:t>
            </a:r>
          </a:p>
          <a:p xmlns:a="http://schemas.openxmlformats.org/drawingml/2006/main">
            <a:r>
              <a:t>- AI-Engineer - Assignment.docx — objective and mirrored AP/AR scenario.</a:t>
            </a:r>
          </a:p>
          <a:p xmlns:a="http://schemas.openxmlformats.org/drawingml/2006/main">
            <a:r>
              <a:t>- Project-generated image: presentation/assets/invoice-automation-hero.png.</a:t>
            </a:r>
          </a:p>
          <a:p xmlns:a="http://schemas.openxmlformats.org/drawingml/2006/main">
            <a:r>
              <a:t>- https://ollama.com/library/qwen3.5/tags — selected local Qwen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assignment as a separation-of-concerns problem, not merely an OCR task.</a:t>
            </a:r>
          </a:p>
          <a:p xmlns:a="http://schemas.openxmlformats.org/drawingml/2006/main">
            <a:r>
              <a:t/>
            </a:r>
          </a:p>
          <a:p xmlns:a="http://schemas.openxmlformats.org/drawingml/2006/main">
            <a:r>
              <a:t>[Sources]</a:t>
            </a:r>
          </a:p>
          <a:p xmlns:a="http://schemas.openxmlformats.org/drawingml/2006/main">
            <a:r>
              <a:t>- AI-Engineer - Assignment.docx — business scenario and functional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document processor is a tool, Qwen supervises routing, and bounded AP/AR agents invoke policy and ERP tools. The bottom rail retains every decision and evidence item.</a:t>
            </a:r>
          </a:p>
          <a:p xmlns:a="http://schemas.openxmlformats.org/drawingml/2006/main">
            <a:r>
              <a:t/>
            </a:r>
          </a:p>
          <a:p xmlns:a="http://schemas.openxmlformats.org/drawingml/2006/main">
            <a:r>
              <a:t>[Sources]</a:t>
            </a:r>
          </a:p>
          <a:p xmlns:a="http://schemas.openxmlformats.org/drawingml/2006/main">
            <a:r>
              <a:t>- app/document_processing.py; app/agent_runtime.py; app/orchestrator.py.</a:t>
            </a:r>
          </a:p>
          <a:p xmlns:a="http://schemas.openxmlformats.org/drawingml/2006/main">
            <a:r>
              <a:t>- app/workflow.py; app/ar_workflow.py; app/context.py.</a:t>
            </a:r>
          </a:p>
          <a:p xmlns:a="http://schemas.openxmlformats.org/drawingml/2006/main">
            <a:r>
              <a:t>- https://ollama.com/library/qwen3.5/tags.</a:t>
            </a:r>
          </a:p>
          <a:p xmlns:a="http://schemas.openxmlformats.org/drawingml/2006/main">
            <a:r>
              <a:t>- https://ollama.com/library/embeddinggemma.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graphs bound the lifecycle. The supervisor dispatches the shared evidence to AP, AR, or review; the domain agent then chooses only a schema-valid, stage-allow-listed post/apply/escalate action. Deterministic matching, status, approval, and posting guards remain authoritative.</a:t>
            </a:r>
          </a:p>
          <a:p xmlns:a="http://schemas.openxmlformats.org/drawingml/2006/main">
            <a:r>
              <a:t/>
            </a:r>
          </a:p>
          <a:p xmlns:a="http://schemas.openxmlformats.org/drawingml/2006/main">
            <a:r>
              <a:t>[Sources]</a:t>
            </a:r>
          </a:p>
          <a:p xmlns:a="http://schemas.openxmlformats.org/drawingml/2006/main">
            <a:r>
              <a:t>- https://github.com/saifs1315/Agentic-Invoice-to-Payment/blob/main/app/agent_runtime.py</a:t>
            </a:r>
          </a:p>
          <a:p xmlns:a="http://schemas.openxmlformats.org/drawingml/2006/main">
            <a:r>
              <a:t>- https://github.com/saifs1315/Agentic-Invoice-to-Payment/blob/main/app/orchestrator.py</a:t>
            </a:r>
          </a:p>
          <a:p xmlns:a="http://schemas.openxmlformats.org/drawingml/2006/main">
            <a:r>
              <a:t>- https://github.com/saifs1315/Agentic-Invoice-to-Payment/blob/main/app/workflow.py</a:t>
            </a:r>
          </a:p>
          <a:p xmlns:a="http://schemas.openxmlformats.org/drawingml/2006/main">
            <a:r>
              <a:t>- https://github.com/saifs1315/Agentic-Invoice-to-Payment/blob/main/app/ar_workflow.py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boundary test makes the policy precise: equal to the tolerance passes, exceeding it fails. Partial quantities, line arithmetic, and tax/freight reconciliation are also deterministic.</a:t>
            </a:r>
          </a:p>
          <a:p xmlns:a="http://schemas.openxmlformats.org/drawingml/2006/main">
            <a:r>
              <a:t/>
            </a:r>
          </a:p>
          <a:p xmlns:a="http://schemas.openxmlformats.org/drawingml/2006/main">
            <a:r>
              <a:t>[Sources]</a:t>
            </a:r>
          </a:p>
          <a:p xmlns:a="http://schemas.openxmlformats.org/drawingml/2006/main">
            <a:r>
              <a:t>- app/matching.py — tolerance, arithmetic, partial-invoice, and reconciliation logic.</a:t>
            </a:r>
          </a:p>
          <a:p xmlns:a="http://schemas.openxmlformats.org/drawingml/2006/main">
            <a:r>
              <a:t>- tests/test_matching.py — boundary, partial, arithmetic, and tax tests.</a:t>
            </a:r>
          </a:p>
          <a:p xmlns:a="http://schemas.openxmlformats.org/drawingml/2006/main">
            <a:r>
              <a:t>- .env.example — configurable defaults.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Contrast AP and AR review semantics. AR corrections always return through matching against current ERP state; an invalid allocation cannot be force-approved.</a:t>
            </a:r>
          </a:p>
          <a:p xmlns:a="http://schemas.openxmlformats.org/drawingml/2006/main">
            <a:r>
              <a:t/>
            </a:r>
          </a:p>
          <a:p xmlns:a="http://schemas.openxmlformats.org/drawingml/2006/main">
            <a:r>
              <a:t>[Sources]</a:t>
            </a:r>
          </a:p>
          <a:p xmlns:a="http://schemas.openxmlformats.org/drawingml/2006/main">
            <a:r>
              <a:t>- app/api.py — unified queue and AP/AR decision endpoints.</a:t>
            </a:r>
          </a:p>
          <a:p xmlns:a="http://schemas.openxmlformats.org/drawingml/2006/main">
            <a:r>
              <a:t>- app/ar_workflow.py — correction, re-match, reject, manual-resolution, and valid-match approval guards.</a:t>
            </a:r>
          </a:p>
          <a:p xmlns:a="http://schemas.openxmlformats.org/drawingml/2006/main">
            <a:r>
              <a:t>- docs/security-and-controls.md — identity limitation and production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literal mirror: both domains receive processor evidence, supervisor dispatch, semantic policy context, current ERP facts, a model decision, deterministic guard validation, and an audited action.</a:t>
            </a:r>
          </a:p>
          <a:p xmlns:a="http://schemas.openxmlformats.org/drawingml/2006/main">
            <a:r>
              <a:t/>
            </a:r>
          </a:p>
          <a:p xmlns:a="http://schemas.openxmlformats.org/drawingml/2006/main">
            <a:r>
              <a:t>[Sources]</a:t>
            </a:r>
          </a:p>
          <a:p xmlns:a="http://schemas.openxmlformats.org/drawingml/2006/main">
            <a:r>
              <a:t>- app/orchestrator.py; app/workflow.py; app/ar_workflow.py.</a:t>
            </a:r>
          </a:p>
          <a:p xmlns:a="http://schemas.openxmlformats.org/drawingml/2006/main">
            <a:r>
              <a:t>- tests/test_orchestrator.py; tests/test_agent_runtime.py.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required contracts remain intact. Their evidence now includes supervisor/domain decisions and required-model health without breaking the assignment walkthrough.</a:t>
            </a:r>
          </a:p>
          <a:p xmlns:a="http://schemas.openxmlformats.org/drawingml/2006/main">
            <a:r>
              <a:t/>
            </a:r>
          </a:p>
          <a:p xmlns:a="http://schemas.openxmlformats.org/drawingml/2006/main">
            <a:r>
              <a:t>[Sources]</a:t>
            </a:r>
          </a:p>
          <a:p xmlns:a="http://schemas.openxmlformats.org/drawingml/2006/main">
            <a:r>
              <a:t>- openapi/openapi.yaml; app/api.py.</a:t>
            </a:r>
          </a:p>
          <a:p xmlns:a="http://schemas.openxmlformats.org/drawingml/2006/main">
            <a:r>
              <a:t>- app/agent_runtime.py; app/observability.py.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required technology is active in the default stack. Ollama, both models, and Phoenix are startup dependencies rather than optional profiles.</a:t>
            </a:r>
          </a:p>
          <a:p xmlns:a="http://schemas.openxmlformats.org/drawingml/2006/main">
            <a:r>
              <a:t/>
            </a:r>
          </a:p>
          <a:p xmlns:a="http://schemas.openxmlformats.org/drawingml/2006/main">
            <a:r>
              <a:t>[Sources]</a:t>
            </a:r>
          </a:p>
          <a:p xmlns:a="http://schemas.openxmlformats.org/drawingml/2006/main">
            <a:r>
              <a:t>- docker-compose.yml; pyproject.toml; app/context.py; app/observability.py.</a:t>
            </a:r>
          </a:p>
          <a:p xmlns:a="http://schemas.openxmlformats.org/drawingml/2006/main">
            <a:r>
              <a:t>- https://ollama.com/library/qwen3.5/tags.</a:t>
            </a:r>
          </a:p>
          <a:p xmlns:a="http://schemas.openxmlformats.org/drawingml/2006/main">
            <a:r>
              <a:t>- https://ollama.com/library/embeddinggemma.</a:t>
            </a:r>
          </a:p>
          <a:p xmlns:a="http://schemas.openxmlformats.org/drawingml/2006/main">
            <a:r>
              <a:t>- https://github.com/ollama/ollama/releases.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live-agent evaluation exercises model extraction and bounded action selection while deterministic controls decide financial eligibility. Conservative escalation counts eligible matches the agent voluntarily sends to review. Results are regression evidence, not a production accuracy estimate.</a:t>
            </a:r>
          </a:p>
          <a:p xmlns:a="http://schemas.openxmlformats.org/drawingml/2006/main">
            <a:r>
              <a:t/>
            </a:r>
          </a:p>
          <a:p xmlns:a="http://schemas.openxmlformats.org/drawingml/2006/main">
            <a:r>
              <a:t>[Sources]</a:t>
            </a:r>
          </a:p>
          <a:p xmlns:a="http://schemas.openxmlformats.org/drawingml/2006/main">
            <a:r>
              <a:t>- https://github.com/saifs1315/Agentic-Invoice-to-Payment/blob/main/evaluation/results/latest.json</a:t>
            </a:r>
          </a:p>
          <a:p xmlns:a="http://schemas.openxmlformats.org/drawingml/2006/main">
            <a:r>
              <a:t>- https://github.com/saifs1315/Agentic-Invoice-to-Payment/blob/main/evaluation/results/ar-latest.json</a:t>
            </a:r>
          </a:p>
          <a:p xmlns:a="http://schemas.openxmlformats.org/drawingml/2006/main">
            <a:r>
              <a:t>- https://github.com/saifs1315/Agentic-Invoice-to-Payment/blob/main/evaluation/results/rag-latest.json</a:t>
            </a:r>
          </a:p>
          <a:p xmlns:a="http://schemas.openxmlformats.org/drawingml/2006/main">
            <a:r>
              <a:t>- https://github.com/saifs1315/Agentic-Invoice-to-Payment/blob/main/docs/evaluation-report.md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Compose command starts the complete required topology, pulls models once, and exposes Swagger, Phoenix, and the Mock ERP for a reviewer-led AP/AR demonstration. The verification line reflects the current automated suite and live evaluation commands.</a:t>
            </a:r>
          </a:p>
          <a:p xmlns:a="http://schemas.openxmlformats.org/drawingml/2006/main">
            <a:r>
              <a:t/>
            </a:r>
          </a:p>
          <a:p xmlns:a="http://schemas.openxmlformats.org/drawingml/2006/main">
            <a:r>
              <a:t>[Sources]</a:t>
            </a:r>
          </a:p>
          <a:p xmlns:a="http://schemas.openxmlformats.org/drawingml/2006/main">
            <a:r>
              <a:t>- https://github.com/saifs1315/Agentic-Invoice-to-Payment/blob/main/README.md</a:t>
            </a:r>
          </a:p>
          <a:p xmlns:a="http://schemas.openxmlformats.org/drawingml/2006/main">
            <a:r>
              <a:t>- https://github.com/saifs1315/Agentic-Invoice-to-Payment/blob/main/docker-compose.yml</a:t>
            </a:r>
          </a:p>
          <a:p xmlns:a="http://schemas.openxmlformats.org/drawingml/2006/main">
            <a:r>
              <a:t>- https://github.com/saifs1315/Agentic-Invoice-to-Payment/blob/main/scripts/demo.ps1</a:t>
            </a:r>
          </a:p>
          <a:p xmlns:a="http://schemas.openxmlformats.org/drawingml/2006/main">
            <a:r>
              <a:t>- https://github.com/saifs1315/Agentic-Invoice-to-Payment/blob/main/docs/evaluation-report.md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evidence-building step: run permissioned vendor and remittance documents against a real ERP sandbox after the controlled local demonstration.</a:t>
            </a:r>
          </a:p>
          <a:p xmlns:a="http://schemas.openxmlformats.org/drawingml/2006/main">
            <a:r>
              <a:t/>
            </a:r>
          </a:p>
          <a:p xmlns:a="http://schemas.openxmlformats.org/drawingml/2006/main">
            <a:r>
              <a:t>[Sources]</a:t>
            </a:r>
          </a:p>
          <a:p xmlns:a="http://schemas.openxmlformats.org/drawingml/2006/main">
            <a:r>
              <a:t>- https://github.com/saifs1315/Agentic-Invoice-to-Payment/blob/main/docs/traceability-matrix.md</a:t>
            </a:r>
          </a:p>
          <a:p xmlns:a="http://schemas.openxmlformats.org/drawingml/2006/main">
            <a:r>
              <a:t>- https://github.com/saifs1315/Agentic-Invoice-to-Payment/blob/main/docs/evaluation-report.md</a:t>
            </a:r>
          </a:p>
          <a:p xmlns:a="http://schemas.openxmlformats.org/drawingml/2006/main">
            <a:r>
              <a:t>- https://github.com/saifs1315/Agentic-Invoice-to-Payment/blob/main/README.md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6c520da58e4f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027c1ed33243a6" /><Relationship Type="http://schemas.openxmlformats.org/officeDocument/2006/relationships/slideLayout" Target="/ppt/slideLayouts/slideLayout1.xml" Id="Rb07b8317176d49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07b8317176d49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85f2ca811624be1" /><Relationship Type="http://schemas.openxmlformats.org/officeDocument/2006/relationships/image" Target="/ppt/media/image.png" Id="R44ec0341e29e4445" /><Relationship Type="http://schemas.openxmlformats.org/officeDocument/2006/relationships/notesSlide" Target="/ppt/notesSlides/notesSlide1.xml" Id="Rad60245badaf4c9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1e87fc1b37e4b35" /><Relationship Type="http://schemas.openxmlformats.org/officeDocument/2006/relationships/notesSlide" Target="/ppt/notesSlides/notesSlide2.xml" Id="R692a01cb6b9e4a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fed5be6d5df4d65" /><Relationship Type="http://schemas.openxmlformats.org/officeDocument/2006/relationships/notesSlide" Target="/ppt/notesSlides/notesSlide3.xml" Id="R6784b0a7fe9345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838fd09baf4f72" /><Relationship Type="http://schemas.openxmlformats.org/officeDocument/2006/relationships/notesSlide" Target="/ppt/notesSlides/notesSlide4.xml" Id="R97278471a97642a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8ca6be58d844db" /><Relationship Type="http://schemas.openxmlformats.org/officeDocument/2006/relationships/notesSlide" Target="/ppt/notesSlides/notesSlide5.xml" Id="Ra8fef41d505546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260ccf07204eb4" /><Relationship Type="http://schemas.openxmlformats.org/officeDocument/2006/relationships/notesSlide" Target="/ppt/notesSlides/notesSlide6.xml" Id="R4318a95293444f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7a027e527ed4a50" /><Relationship Type="http://schemas.openxmlformats.org/officeDocument/2006/relationships/notesSlide" Target="/ppt/notesSlides/notesSlide7.xml" Id="Re9743ecdcd4241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85dfb85c87747b6" /><Relationship Type="http://schemas.openxmlformats.org/officeDocument/2006/relationships/notesSlide" Target="/ppt/notesSlides/notesSlide8.xml" Id="R08bd03a21b8248e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0ebc8b41d54444" /><Relationship Type="http://schemas.openxmlformats.org/officeDocument/2006/relationships/notesSlide" Target="/ppt/notesSlides/notesSlide9.xml" Id="R2219572c0b6d4cd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bc477e36a724e5f" /><Relationship Type="http://schemas.openxmlformats.org/officeDocument/2006/relationships/notesSlide" Target="/ppt/notesSlides/notesSlide10.xml" Id="Rb20b6162b5bc48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111c3dcc3af43cf" /><Relationship Type="http://schemas.openxmlformats.org/officeDocument/2006/relationships/notesSlide" Target="/ppt/notesSlides/notesSlide11.xml" Id="R5799380a505f4a3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dace84c99f247d1" /><Relationship Type="http://schemas.openxmlformats.org/officeDocument/2006/relationships/notesSlide" Target="/ppt/notesSlides/notesSlide12.xml" Id="Rd813934f9cdf4f9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ver-eyebrow">
            <a:extLst xmlns:a="http://schemas.openxmlformats.org/drawingml/2006/main">
              <a:ext uri="{FF2B5EF4-FFF2-40B4-BE49-F238E27FC236}">
                <a16:creationId xmlns:a16="http://schemas.microsoft.com/office/drawing/2014/main" id="{77E9631E-D080-4164-9FFC-8412277487BC}"/>
              </a:ext>
            </a:extLst>
          </p:cNvPr>
          <p:cNvSpPr>
            <a:spLocks xmlns:a="http://schemas.openxmlformats.org/drawingml/2006/main" noGrp="1"/>
          </p:cNvSpPr>
          <p:nvPr/>
        </p:nvSpPr>
        <p:spPr>
          <a:xfrm xmlns:a="http://schemas.openxmlformats.org/drawingml/2006/main">
            <a:off x="400050" y="32385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AI ENGINEER TECHNICAL ASSIGNMENT</a:t>
            </a:r>
          </a:p>
        </p:txBody>
      </p:sp>
      <p:sp>
        <p:nvSpPr>
          <p:cNvPr id="2" name="cover-title">
            <a:extLst xmlns:a="http://schemas.openxmlformats.org/drawingml/2006/main">
              <a:ext uri="{FF2B5EF4-FFF2-40B4-BE49-F238E27FC236}">
                <a16:creationId xmlns:a16="http://schemas.microsoft.com/office/drawing/2014/main" id="{1F0C77FE-2C42-4DF0-B789-3363CA5445DC}"/>
              </a:ext>
            </a:extLst>
          </p:cNvPr>
          <p:cNvSpPr>
            <a:spLocks xmlns:a="http://schemas.openxmlformats.org/drawingml/2006/main" noGrp="1"/>
          </p:cNvSpPr>
          <p:nvPr/>
        </p:nvSpPr>
        <p:spPr>
          <a:xfrm xmlns:a="http://schemas.openxmlformats.org/drawingml/2006/main">
            <a:off x="400050" y="1428750"/>
            <a:ext cx="5429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737"/>
          </a:bodyPr>
          <a:lstStyle xmlns:a="http://schemas.openxmlformats.org/drawingml/2006/main"/>
          <a:p xmlns:a="http://schemas.openxmlformats.org/drawingml/2006/main">
            <a:pPr algn="l">
              <a:buNone/>
              <a:defRPr sz="4050" b="1">
                <a:solidFill>
                  <a:srgbClr val="000000"/>
                </a:solidFill>
                <a:latin typeface="Arial"/>
                <a:ea typeface="Arial"/>
                <a:cs typeface="Arial"/>
              </a:defRPr>
            </a:pPr>
            <a:r>
              <a:rPr sz="4050" b="1">
                <a:solidFill>
                  <a:srgbClr val="000000"/>
                </a:solidFill>
                <a:latin typeface="Arial"/>
                <a:ea typeface="Arial"/>
                <a:cs typeface="Arial"/>
              </a:rPr>
              <a:t>Agentic invoice-to-payment automation</a:t>
            </a:r>
          </a:p>
        </p:txBody>
      </p:sp>
      <p:sp>
        <p:nvSpPr>
          <p:cNvPr id="3" name="cover-subtitle">
            <a:extLst xmlns:a="http://schemas.openxmlformats.org/drawingml/2006/main">
              <a:ext uri="{FF2B5EF4-FFF2-40B4-BE49-F238E27FC236}">
                <a16:creationId xmlns:a16="http://schemas.microsoft.com/office/drawing/2014/main" id="{AA0A8E8F-8E97-4D0E-AFF6-B1B40E40CE4E}"/>
              </a:ext>
            </a:extLst>
          </p:cNvPr>
          <p:cNvSpPr>
            <a:spLocks xmlns:a="http://schemas.openxmlformats.org/drawingml/2006/main" noGrp="1"/>
          </p:cNvSpPr>
          <p:nvPr/>
        </p:nvSpPr>
        <p:spPr>
          <a:xfrm xmlns:a="http://schemas.openxmlformats.org/drawingml/2006/main">
            <a:off x="400050" y="3638550"/>
            <a:ext cx="51435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a:solidFill>
                  <a:srgbClr val="5E6773"/>
                </a:solidFill>
                <a:latin typeface="Arial"/>
                <a:ea typeface="Arial"/>
                <a:cs typeface="Arial"/>
              </a:defRPr>
            </a:pPr>
            <a:r>
              <a:rPr sz="1725" b="0">
                <a:solidFill>
                  <a:srgbClr val="5E6773"/>
                </a:solidFill>
                <a:latin typeface="Arial"/>
                <a:ea typeface="Arial"/>
                <a:cs typeface="Arial"/>
              </a:rPr>
              <a:t>A runnable AP + AR prototype with a mandatory local supervisor, mirrored finance agents, deterministic controls, and an HTTP Mock ERP.</a:t>
            </a:r>
          </a:p>
        </p:txBody>
      </p:sp>
      <p:sp>
        <p:nvSpPr>
          <p:cNvPr id="4" name="rule-42-558">
            <a:extLst xmlns:a="http://schemas.openxmlformats.org/drawingml/2006/main">
              <a:ext uri="{FF2B5EF4-FFF2-40B4-BE49-F238E27FC236}">
                <a16:creationId xmlns:a16="http://schemas.microsoft.com/office/drawing/2014/main" id="{945FBD63-6313-4C4F-9C00-879B380BD579}"/>
              </a:ext>
            </a:extLst>
          </p:cNvPr>
          <p:cNvSpPr>
            <a:spLocks xmlns:a="http://schemas.openxmlformats.org/drawingml/2006/main" noGrp="1"/>
          </p:cNvSpPr>
          <p:nvPr/>
        </p:nvSpPr>
        <p:spPr>
          <a:xfrm xmlns:a="http://schemas.openxmlformats.org/drawingml/2006/main">
            <a:off x="400050" y="5314950"/>
            <a:ext cx="1714500"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5" name="cover-meta">
            <a:extLst xmlns:a="http://schemas.openxmlformats.org/drawingml/2006/main">
              <a:ext uri="{FF2B5EF4-FFF2-40B4-BE49-F238E27FC236}">
                <a16:creationId xmlns:a16="http://schemas.microsoft.com/office/drawing/2014/main" id="{16675874-9BDD-4EC7-8A3C-3D3BAF7BE096}"/>
              </a:ext>
            </a:extLst>
          </p:cNvPr>
          <p:cNvSpPr>
            <a:spLocks xmlns:a="http://schemas.openxmlformats.org/drawingml/2006/main" noGrp="1"/>
          </p:cNvSpPr>
          <p:nvPr/>
        </p:nvSpPr>
        <p:spPr>
          <a:xfrm xmlns:a="http://schemas.openxmlformats.org/drawingml/2006/main">
            <a:off x="400050" y="5572125"/>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LedgerPilot · Qwen 3.5 · LangGraph · Semantic RAG · Mock ERP</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4ec0341e29e4445"/>
          <a:srcRect xmlns:a="http://schemas.openxmlformats.org/drawingml/2006/main" l="0" t="9434" r="0" b="9434"/>
          <a:stretch xmlns:a="http://schemas.openxmlformats.org/drawingml/2006/main">
            <a:fillRect l="0" t="0" r="0" b="0"/>
          </a:stretch>
        </p:blipFill>
        <p:spPr>
          <a:xfrm xmlns:a="http://schemas.openxmlformats.org/drawingml/2006/main">
            <a:off x="6267450" y="400050"/>
            <a:ext cx="5524500" cy="5600700"/>
          </a:xfrm>
          <a:prstGeom xmlns:a="http://schemas.openxmlformats.org/drawingml/2006/main" prst="roundRect">
            <a:avLst>
              <a:gd name="adj" fmla="val 2069"/>
            </a:avLst>
          </a:prstGeom>
        </p:spPr>
      </p:pic>
      <p:sp>
        <p:nvSpPr>
          <p:cNvPr id="7" name="cover-page">
            <a:extLst xmlns:a="http://schemas.openxmlformats.org/drawingml/2006/main">
              <a:ext uri="{FF2B5EF4-FFF2-40B4-BE49-F238E27FC236}">
                <a16:creationId xmlns:a16="http://schemas.microsoft.com/office/drawing/2014/main" id="{768A359C-3015-45FF-8701-43AD070982CF}"/>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01</a:t>
            </a:r>
          </a:p>
        </p:txBody>
      </p:sp>
    </p:spTree>
    <p:extLst>
      <p:ext uri="{BB962C8B-B14F-4D97-AF65-F5344CB8AC3E}">
        <p14:creationId xmlns:p14="http://schemas.microsoft.com/office/powerpoint/2010/main" val="6963912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eyebrow-2">
            <a:extLst xmlns:a="http://schemas.openxmlformats.org/drawingml/2006/main">
              <a:ext uri="{FF2B5EF4-FFF2-40B4-BE49-F238E27FC236}">
                <a16:creationId xmlns:a16="http://schemas.microsoft.com/office/drawing/2014/main" id="{FBEECD3C-68BA-4285-9C19-0B8735400BD6}"/>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2">
            <a:extLst xmlns:a="http://schemas.openxmlformats.org/drawingml/2006/main">
              <a:ext uri="{FF2B5EF4-FFF2-40B4-BE49-F238E27FC236}">
                <a16:creationId xmlns:a16="http://schemas.microsoft.com/office/drawing/2014/main" id="{86113D65-1586-45E9-B3AB-80942085C91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046"/>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Finance automation fails when interpretation and control are conflated</a:t>
            </a:r>
          </a:p>
        </p:txBody>
      </p:sp>
      <p:sp>
        <p:nvSpPr>
          <p:cNvPr id="3" name="rule-42-145">
            <a:extLst xmlns:a="http://schemas.openxmlformats.org/drawingml/2006/main">
              <a:ext uri="{FF2B5EF4-FFF2-40B4-BE49-F238E27FC236}">
                <a16:creationId xmlns:a16="http://schemas.microsoft.com/office/drawing/2014/main" id="{826650E4-3CCD-495E-B24A-E3FE6E74CC7C}"/>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2">
            <a:extLst xmlns:a="http://schemas.openxmlformats.org/drawingml/2006/main">
              <a:ext uri="{FF2B5EF4-FFF2-40B4-BE49-F238E27FC236}">
                <a16:creationId xmlns:a16="http://schemas.microsoft.com/office/drawing/2014/main" id="{12012602-02CE-40DB-99AA-E61D73F136CA}"/>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02</a:t>
            </a:r>
          </a:p>
        </p:txBody>
      </p:sp>
      <p:sp>
        <p:nvSpPr>
          <p:cNvPr id="5" name="problem-lead">
            <a:extLst xmlns:a="http://schemas.openxmlformats.org/drawingml/2006/main">
              <a:ext uri="{FF2B5EF4-FFF2-40B4-BE49-F238E27FC236}">
                <a16:creationId xmlns:a16="http://schemas.microsoft.com/office/drawing/2014/main" id="{5DDCBBC8-3FA0-479D-9F4B-EA30049E99FA}"/>
              </a:ext>
            </a:extLst>
          </p:cNvPr>
          <p:cNvSpPr>
            <a:spLocks xmlns:a="http://schemas.openxmlformats.org/drawingml/2006/main" noGrp="1"/>
          </p:cNvSpPr>
          <p:nvPr/>
        </p:nvSpPr>
        <p:spPr>
          <a:xfrm xmlns:a="http://schemas.openxmlformats.org/drawingml/2006/main">
            <a:off x="400050" y="1695450"/>
            <a:ext cx="7429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The workflow must understand messy documents without letting probabilistic output authorize a financial posting.</a:t>
            </a:r>
          </a:p>
        </p:txBody>
      </p:sp>
      <p:sp>
        <p:nvSpPr>
          <p:cNvPr id="6" name="rule-42-330">
            <a:extLst xmlns:a="http://schemas.openxmlformats.org/drawingml/2006/main">
              <a:ext uri="{FF2B5EF4-FFF2-40B4-BE49-F238E27FC236}">
                <a16:creationId xmlns:a16="http://schemas.microsoft.com/office/drawing/2014/main" id="{2A971FAF-8FA2-41A5-8AC1-10BBC1B8C656}"/>
              </a:ext>
            </a:extLst>
          </p:cNvPr>
          <p:cNvSpPr>
            <a:spLocks xmlns:a="http://schemas.openxmlformats.org/drawingml/2006/main" noGrp="1"/>
          </p:cNvSpPr>
          <p:nvPr/>
        </p:nvSpPr>
        <p:spPr>
          <a:xfrm xmlns:a="http://schemas.openxmlformats.org/drawingml/2006/main">
            <a:off x="400050" y="3143250"/>
            <a:ext cx="3095625"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problem-h-0">
            <a:extLst xmlns:a="http://schemas.openxmlformats.org/drawingml/2006/main">
              <a:ext uri="{FF2B5EF4-FFF2-40B4-BE49-F238E27FC236}">
                <a16:creationId xmlns:a16="http://schemas.microsoft.com/office/drawing/2014/main" id="{BBEB2A7D-025A-42B4-B6E5-AC75302B7FFF}"/>
              </a:ext>
            </a:extLst>
          </p:cNvPr>
          <p:cNvSpPr>
            <a:spLocks xmlns:a="http://schemas.openxmlformats.org/drawingml/2006/main" noGrp="1"/>
          </p:cNvSpPr>
          <p:nvPr/>
        </p:nvSpPr>
        <p:spPr>
          <a:xfrm xmlns:a="http://schemas.openxmlformats.org/drawingml/2006/main">
            <a:off x="400050" y="3381375"/>
            <a:ext cx="3095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Arial"/>
                <a:ea typeface="Arial"/>
                <a:cs typeface="Arial"/>
              </a:defRPr>
            </a:pPr>
            <a:r>
              <a:rPr sz="1800" b="1">
                <a:solidFill>
                  <a:srgbClr val="000000"/>
                </a:solidFill>
                <a:latin typeface="Arial"/>
                <a:ea typeface="Arial"/>
                <a:cs typeface="Arial"/>
              </a:rPr>
              <a:t>Input variability</a:t>
            </a:r>
          </a:p>
        </p:txBody>
      </p:sp>
      <p:sp>
        <p:nvSpPr>
          <p:cNvPr id="8" name="problem-b-0">
            <a:extLst xmlns:a="http://schemas.openxmlformats.org/drawingml/2006/main">
              <a:ext uri="{FF2B5EF4-FFF2-40B4-BE49-F238E27FC236}">
                <a16:creationId xmlns:a16="http://schemas.microsoft.com/office/drawing/2014/main" id="{F20CCCCE-1D2D-4758-AFF1-DA47CD18AD46}"/>
              </a:ext>
            </a:extLst>
          </p:cNvPr>
          <p:cNvSpPr>
            <a:spLocks xmlns:a="http://schemas.openxmlformats.org/drawingml/2006/main" noGrp="1"/>
          </p:cNvSpPr>
          <p:nvPr/>
        </p:nvSpPr>
        <p:spPr>
          <a:xfrm xmlns:a="http://schemas.openxmlformats.org/drawingml/2006/main">
            <a:off x="400050" y="3943350"/>
            <a:ext cx="3095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E6773"/>
                </a:solidFill>
                <a:latin typeface="Arial"/>
                <a:ea typeface="Arial"/>
                <a:cs typeface="Arial"/>
              </a:defRPr>
            </a:pPr>
            <a:r>
              <a:rPr sz="1350" b="0">
                <a:solidFill>
                  <a:srgbClr val="5E6773"/>
                </a:solidFill>
                <a:latin typeface="Arial"/>
                <a:ea typeface="Arial"/>
                <a:cs typeface="Arial"/>
              </a:rPr>
              <a:t>PDFs, scans, HTML, line items, missing references, and inconsistent vendor layouts.</a:t>
            </a:r>
          </a:p>
        </p:txBody>
      </p:sp>
      <p:sp>
        <p:nvSpPr>
          <p:cNvPr id="9" name="rule-450-330">
            <a:extLst xmlns:a="http://schemas.openxmlformats.org/drawingml/2006/main">
              <a:ext uri="{FF2B5EF4-FFF2-40B4-BE49-F238E27FC236}">
                <a16:creationId xmlns:a16="http://schemas.microsoft.com/office/drawing/2014/main" id="{F6496747-773C-4B00-810D-1EA8ADCF020F}"/>
              </a:ext>
            </a:extLst>
          </p:cNvPr>
          <p:cNvSpPr>
            <a:spLocks xmlns:a="http://schemas.openxmlformats.org/drawingml/2006/main" noGrp="1"/>
          </p:cNvSpPr>
          <p:nvPr/>
        </p:nvSpPr>
        <p:spPr>
          <a:xfrm xmlns:a="http://schemas.openxmlformats.org/drawingml/2006/main">
            <a:off x="4286250" y="3143250"/>
            <a:ext cx="3095625" cy="47625"/>
          </a:xfrm>
          <a:prstGeom xmlns:a="http://schemas.openxmlformats.org/drawingml/2006/main" prst="rect">
            <a:avLst/>
          </a:prstGeom>
          <a:solidFill xmlns:a="http://schemas.openxmlformats.org/drawingml/2006/main">
            <a:srgbClr val="F3B43F"/>
          </a:solidFill>
          <a:ln xmlns:a="http://schemas.openxmlformats.org/drawingml/2006/main" w="0">
            <a:noFill/>
            <a:prstDash val="solid"/>
          </a:ln>
        </p:spPr>
      </p:sp>
      <p:sp>
        <p:nvSpPr>
          <p:cNvPr id="10" name="problem-h-1">
            <a:extLst xmlns:a="http://schemas.openxmlformats.org/drawingml/2006/main">
              <a:ext uri="{FF2B5EF4-FFF2-40B4-BE49-F238E27FC236}">
                <a16:creationId xmlns:a16="http://schemas.microsoft.com/office/drawing/2014/main" id="{FE5BCEFB-5A03-43AE-AAD4-80DEA4B00847}"/>
              </a:ext>
            </a:extLst>
          </p:cNvPr>
          <p:cNvSpPr>
            <a:spLocks xmlns:a="http://schemas.openxmlformats.org/drawingml/2006/main" noGrp="1"/>
          </p:cNvSpPr>
          <p:nvPr/>
        </p:nvSpPr>
        <p:spPr>
          <a:xfrm xmlns:a="http://schemas.openxmlformats.org/drawingml/2006/main">
            <a:off x="4286250" y="3381375"/>
            <a:ext cx="3095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Arial"/>
                <a:ea typeface="Arial"/>
                <a:cs typeface="Arial"/>
              </a:defRPr>
            </a:pPr>
            <a:r>
              <a:rPr sz="1800" b="1">
                <a:solidFill>
                  <a:srgbClr val="000000"/>
                </a:solidFill>
                <a:latin typeface="Arial"/>
                <a:ea typeface="Arial"/>
                <a:cs typeface="Arial"/>
              </a:rPr>
              <a:t>Control complexity</a:t>
            </a:r>
          </a:p>
        </p:txBody>
      </p:sp>
      <p:sp>
        <p:nvSpPr>
          <p:cNvPr id="11" name="problem-b-1">
            <a:extLst xmlns:a="http://schemas.openxmlformats.org/drawingml/2006/main">
              <a:ext uri="{FF2B5EF4-FFF2-40B4-BE49-F238E27FC236}">
                <a16:creationId xmlns:a16="http://schemas.microsoft.com/office/drawing/2014/main" id="{5A20FF59-2072-4E0A-9BD7-1F74F2C79EFA}"/>
              </a:ext>
            </a:extLst>
          </p:cNvPr>
          <p:cNvSpPr>
            <a:spLocks xmlns:a="http://schemas.openxmlformats.org/drawingml/2006/main" noGrp="1"/>
          </p:cNvSpPr>
          <p:nvPr/>
        </p:nvSpPr>
        <p:spPr>
          <a:xfrm xmlns:a="http://schemas.openxmlformats.org/drawingml/2006/main">
            <a:off x="4286250" y="3943350"/>
            <a:ext cx="3095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E6773"/>
                </a:solidFill>
                <a:latin typeface="Arial"/>
                <a:ea typeface="Arial"/>
                <a:cs typeface="Arial"/>
              </a:defRPr>
            </a:pPr>
            <a:r>
              <a:rPr sz="1350" b="0">
                <a:solidFill>
                  <a:srgbClr val="5E6773"/>
                </a:solidFill>
                <a:latin typeface="Arial"/>
                <a:ea typeface="Arial"/>
                <a:cs typeface="Arial"/>
              </a:rPr>
              <a:t>PO, price, quantity, currency, receipt, duplicate, approval, and idempotency checks.</a:t>
            </a:r>
          </a:p>
        </p:txBody>
      </p:sp>
      <p:sp>
        <p:nvSpPr>
          <p:cNvPr id="12" name="rule-858-330">
            <a:extLst xmlns:a="http://schemas.openxmlformats.org/drawingml/2006/main">
              <a:ext uri="{FF2B5EF4-FFF2-40B4-BE49-F238E27FC236}">
                <a16:creationId xmlns:a16="http://schemas.microsoft.com/office/drawing/2014/main" id="{0226DEF2-B79C-43DB-A3CA-7A7927B06805}"/>
              </a:ext>
            </a:extLst>
          </p:cNvPr>
          <p:cNvSpPr>
            <a:spLocks xmlns:a="http://schemas.openxmlformats.org/drawingml/2006/main" noGrp="1"/>
          </p:cNvSpPr>
          <p:nvPr/>
        </p:nvSpPr>
        <p:spPr>
          <a:xfrm xmlns:a="http://schemas.openxmlformats.org/drawingml/2006/main">
            <a:off x="8172450" y="3143250"/>
            <a:ext cx="3095625"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3" name="problem-h-2">
            <a:extLst xmlns:a="http://schemas.openxmlformats.org/drawingml/2006/main">
              <a:ext uri="{FF2B5EF4-FFF2-40B4-BE49-F238E27FC236}">
                <a16:creationId xmlns:a16="http://schemas.microsoft.com/office/drawing/2014/main" id="{C3DD4153-CC3B-4A3A-8FF5-F1B0AF9F9718}"/>
              </a:ext>
            </a:extLst>
          </p:cNvPr>
          <p:cNvSpPr>
            <a:spLocks xmlns:a="http://schemas.openxmlformats.org/drawingml/2006/main" noGrp="1"/>
          </p:cNvSpPr>
          <p:nvPr/>
        </p:nvSpPr>
        <p:spPr>
          <a:xfrm xmlns:a="http://schemas.openxmlformats.org/drawingml/2006/main">
            <a:off x="8172450" y="3381375"/>
            <a:ext cx="30956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000000"/>
                </a:solidFill>
                <a:latin typeface="Arial"/>
                <a:ea typeface="Arial"/>
                <a:cs typeface="Arial"/>
              </a:defRPr>
            </a:pPr>
            <a:r>
              <a:rPr sz="1800" b="1">
                <a:solidFill>
                  <a:srgbClr val="000000"/>
                </a:solidFill>
                <a:latin typeface="Arial"/>
                <a:ea typeface="Arial"/>
                <a:cs typeface="Arial"/>
              </a:rPr>
              <a:t>Audit burden</a:t>
            </a:r>
          </a:p>
        </p:txBody>
      </p:sp>
      <p:sp>
        <p:nvSpPr>
          <p:cNvPr id="14" name="problem-b-2">
            <a:extLst xmlns:a="http://schemas.openxmlformats.org/drawingml/2006/main">
              <a:ext uri="{FF2B5EF4-FFF2-40B4-BE49-F238E27FC236}">
                <a16:creationId xmlns:a16="http://schemas.microsoft.com/office/drawing/2014/main" id="{0131110B-0EC0-49F2-B1A7-38D8BBEE7445}"/>
              </a:ext>
            </a:extLst>
          </p:cNvPr>
          <p:cNvSpPr>
            <a:spLocks xmlns:a="http://schemas.openxmlformats.org/drawingml/2006/main" noGrp="1"/>
          </p:cNvSpPr>
          <p:nvPr/>
        </p:nvSpPr>
        <p:spPr>
          <a:xfrm xmlns:a="http://schemas.openxmlformats.org/drawingml/2006/main">
            <a:off x="8172450" y="3943350"/>
            <a:ext cx="3095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5E6773"/>
                </a:solidFill>
                <a:latin typeface="Arial"/>
                <a:ea typeface="Arial"/>
                <a:cs typeface="Arial"/>
              </a:defRPr>
            </a:pPr>
            <a:r>
              <a:rPr sz="1350" b="0">
                <a:solidFill>
                  <a:srgbClr val="5E6773"/>
                </a:solidFill>
                <a:latin typeface="Arial"/>
                <a:ea typeface="Arial"/>
                <a:cs typeface="Arial"/>
              </a:rPr>
              <a:t>Every extracted value, decision, exception, human action, and ERP response must remain traceable.</a:t>
            </a:r>
          </a:p>
        </p:txBody>
      </p:sp>
      <p:sp>
        <p:nvSpPr>
          <p:cNvPr id="15" name="problem-bottom">
            <a:extLst xmlns:a="http://schemas.openxmlformats.org/drawingml/2006/main">
              <a:ext uri="{FF2B5EF4-FFF2-40B4-BE49-F238E27FC236}">
                <a16:creationId xmlns:a16="http://schemas.microsoft.com/office/drawing/2014/main" id="{8D1E957E-104C-451D-AE71-3801206DA761}"/>
              </a:ext>
            </a:extLst>
          </p:cNvPr>
          <p:cNvSpPr>
            <a:spLocks xmlns:a="http://schemas.openxmlformats.org/drawingml/2006/main" noGrp="1"/>
          </p:cNvSpPr>
          <p:nvPr/>
        </p:nvSpPr>
        <p:spPr>
          <a:xfrm xmlns:a="http://schemas.openxmlformats.org/drawingml/2006/main">
            <a:off x="400050" y="5743575"/>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57"/>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Design consequence: keep document intelligence flexible and the posting gate explicit, testable, and fail-closed.</a:t>
            </a:r>
          </a:p>
        </p:txBody>
      </p:sp>
    </p:spTree>
    <p:extLst>
      <p:ext uri="{BB962C8B-B14F-4D97-AF65-F5344CB8AC3E}">
        <p14:creationId xmlns:p14="http://schemas.microsoft.com/office/powerpoint/2010/main" val="6766021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eyebrow-3">
            <a:extLst xmlns:a="http://schemas.openxmlformats.org/drawingml/2006/main">
              <a:ext uri="{FF2B5EF4-FFF2-40B4-BE49-F238E27FC236}">
                <a16:creationId xmlns:a16="http://schemas.microsoft.com/office/drawing/2014/main" id="{B9C4996E-CB5C-4E5E-8A06-79250889DBB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3">
            <a:extLst xmlns:a="http://schemas.openxmlformats.org/drawingml/2006/main">
              <a:ext uri="{FF2B5EF4-FFF2-40B4-BE49-F238E27FC236}">
                <a16:creationId xmlns:a16="http://schemas.microsoft.com/office/drawing/2014/main" id="{B697F00A-CD06-49F8-BD5A-AEAEE097A29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151"/>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One supervisor dispatches evidence to bounded AP and AR agents</a:t>
            </a:r>
          </a:p>
        </p:txBody>
      </p:sp>
      <p:sp>
        <p:nvSpPr>
          <p:cNvPr id="3" name="rule-42-145">
            <a:extLst xmlns:a="http://schemas.openxmlformats.org/drawingml/2006/main">
              <a:ext uri="{FF2B5EF4-FFF2-40B4-BE49-F238E27FC236}">
                <a16:creationId xmlns:a16="http://schemas.microsoft.com/office/drawing/2014/main" id="{94B5AFFE-62C9-45EC-93F4-E7D52C44F4C6}"/>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3">
            <a:extLst xmlns:a="http://schemas.openxmlformats.org/drawingml/2006/main">
              <a:ext uri="{FF2B5EF4-FFF2-40B4-BE49-F238E27FC236}">
                <a16:creationId xmlns:a16="http://schemas.microsoft.com/office/drawing/2014/main" id="{40E1D495-FFB5-48A0-A0F9-D2F41F92553D}"/>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03</a:t>
            </a:r>
          </a:p>
        </p:txBody>
      </p:sp>
      <p:sp>
        <p:nvSpPr>
          <p:cNvPr id="5" name="a1">
            <a:extLst xmlns:a="http://schemas.openxmlformats.org/drawingml/2006/main">
              <a:ext uri="{FF2B5EF4-FFF2-40B4-BE49-F238E27FC236}">
                <a16:creationId xmlns:a16="http://schemas.microsoft.com/office/drawing/2014/main" id="{DAA23EA5-AFEA-4111-8121-52BDA20CB8AE}"/>
              </a:ext>
            </a:extLst>
          </p:cNvPr>
          <p:cNvSpPr>
            <a:spLocks xmlns:a="http://schemas.openxmlformats.org/drawingml/2006/main" noGrp="1"/>
          </p:cNvSpPr>
          <p:nvPr/>
        </p:nvSpPr>
        <p:spPr>
          <a:xfrm xmlns:a="http://schemas.openxmlformats.org/drawingml/2006/main">
            <a:off x="2190750"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6" name="a2">
            <a:extLst xmlns:a="http://schemas.openxmlformats.org/drawingml/2006/main">
              <a:ext uri="{FF2B5EF4-FFF2-40B4-BE49-F238E27FC236}">
                <a16:creationId xmlns:a16="http://schemas.microsoft.com/office/drawing/2014/main" id="{C8075D21-1F02-42D4-A4D3-EAAF568EFA58}"/>
              </a:ext>
            </a:extLst>
          </p:cNvPr>
          <p:cNvSpPr>
            <a:spLocks xmlns:a="http://schemas.openxmlformats.org/drawingml/2006/main" noGrp="1"/>
          </p:cNvSpPr>
          <p:nvPr/>
        </p:nvSpPr>
        <p:spPr>
          <a:xfrm xmlns:a="http://schemas.openxmlformats.org/drawingml/2006/main">
            <a:off x="4810125"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a3">
            <a:extLst xmlns:a="http://schemas.openxmlformats.org/drawingml/2006/main">
              <a:ext uri="{FF2B5EF4-FFF2-40B4-BE49-F238E27FC236}">
                <a16:creationId xmlns:a16="http://schemas.microsoft.com/office/drawing/2014/main" id="{1FC125ED-B642-445B-9A7B-33DC76082C54}"/>
              </a:ext>
            </a:extLst>
          </p:cNvPr>
          <p:cNvSpPr>
            <a:spLocks xmlns:a="http://schemas.openxmlformats.org/drawingml/2006/main" noGrp="1"/>
          </p:cNvSpPr>
          <p:nvPr/>
        </p:nvSpPr>
        <p:spPr>
          <a:xfrm xmlns:a="http://schemas.openxmlformats.org/drawingml/2006/main">
            <a:off x="7429500"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a4">
            <a:extLst xmlns:a="http://schemas.openxmlformats.org/drawingml/2006/main">
              <a:ext uri="{FF2B5EF4-FFF2-40B4-BE49-F238E27FC236}">
                <a16:creationId xmlns:a16="http://schemas.microsoft.com/office/drawing/2014/main" id="{1D4C704B-2DE9-45A8-92A7-CC5401471DF7}"/>
              </a:ext>
            </a:extLst>
          </p:cNvPr>
          <p:cNvSpPr>
            <a:spLocks xmlns:a="http://schemas.openxmlformats.org/drawingml/2006/main" noGrp="1"/>
          </p:cNvSpPr>
          <p:nvPr/>
        </p:nvSpPr>
        <p:spPr>
          <a:xfrm xmlns:a="http://schemas.openxmlformats.org/drawingml/2006/main">
            <a:off x="10048875" y="2857500"/>
            <a:ext cx="809625" cy="2857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audit-1">
            <a:extLst xmlns:a="http://schemas.openxmlformats.org/drawingml/2006/main">
              <a:ext uri="{FF2B5EF4-FFF2-40B4-BE49-F238E27FC236}">
                <a16:creationId xmlns:a16="http://schemas.microsoft.com/office/drawing/2014/main" id="{CB058F21-3F7F-475C-ADD8-95B9A4ECBBFE}"/>
              </a:ext>
            </a:extLst>
          </p:cNvPr>
          <p:cNvSpPr>
            <a:spLocks xmlns:a="http://schemas.openxmlformats.org/drawingml/2006/main" noGrp="1"/>
          </p:cNvSpPr>
          <p:nvPr/>
        </p:nvSpPr>
        <p:spPr>
          <a:xfrm xmlns:a="http://schemas.openxmlformats.org/drawingml/2006/main">
            <a:off x="1381125"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0" name="audit-2">
            <a:extLst xmlns:a="http://schemas.openxmlformats.org/drawingml/2006/main">
              <a:ext uri="{FF2B5EF4-FFF2-40B4-BE49-F238E27FC236}">
                <a16:creationId xmlns:a16="http://schemas.microsoft.com/office/drawing/2014/main" id="{9BBCBF88-5E3F-4896-9409-C36CE60985FA}"/>
              </a:ext>
            </a:extLst>
          </p:cNvPr>
          <p:cNvSpPr>
            <a:spLocks xmlns:a="http://schemas.openxmlformats.org/drawingml/2006/main" noGrp="1"/>
          </p:cNvSpPr>
          <p:nvPr/>
        </p:nvSpPr>
        <p:spPr>
          <a:xfrm xmlns:a="http://schemas.openxmlformats.org/drawingml/2006/main">
            <a:off x="4000500"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1" name="audit-3">
            <a:extLst xmlns:a="http://schemas.openxmlformats.org/drawingml/2006/main">
              <a:ext uri="{FF2B5EF4-FFF2-40B4-BE49-F238E27FC236}">
                <a16:creationId xmlns:a16="http://schemas.microsoft.com/office/drawing/2014/main" id="{23A97570-3DE3-4F36-B82D-C2B4B6B64AD9}"/>
              </a:ext>
            </a:extLst>
          </p:cNvPr>
          <p:cNvSpPr>
            <a:spLocks xmlns:a="http://schemas.openxmlformats.org/drawingml/2006/main" noGrp="1"/>
          </p:cNvSpPr>
          <p:nvPr/>
        </p:nvSpPr>
        <p:spPr>
          <a:xfrm xmlns:a="http://schemas.openxmlformats.org/drawingml/2006/main">
            <a:off x="6619875"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2" name="audit-4">
            <a:extLst xmlns:a="http://schemas.openxmlformats.org/drawingml/2006/main">
              <a:ext uri="{FF2B5EF4-FFF2-40B4-BE49-F238E27FC236}">
                <a16:creationId xmlns:a16="http://schemas.microsoft.com/office/drawing/2014/main" id="{82D5D088-697D-408E-B73F-E810F62FCD87}"/>
              </a:ext>
            </a:extLst>
          </p:cNvPr>
          <p:cNvSpPr>
            <a:spLocks xmlns:a="http://schemas.openxmlformats.org/drawingml/2006/main" noGrp="1"/>
          </p:cNvSpPr>
          <p:nvPr/>
        </p:nvSpPr>
        <p:spPr>
          <a:xfrm xmlns:a="http://schemas.openxmlformats.org/drawingml/2006/main">
            <a:off x="9239250"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audit-5">
            <a:extLst xmlns:a="http://schemas.openxmlformats.org/drawingml/2006/main">
              <a:ext uri="{FF2B5EF4-FFF2-40B4-BE49-F238E27FC236}">
                <a16:creationId xmlns:a16="http://schemas.microsoft.com/office/drawing/2014/main" id="{1365B6E9-48FA-47A9-A2DB-1D0BEE8337C2}"/>
              </a:ext>
            </a:extLst>
          </p:cNvPr>
          <p:cNvSpPr>
            <a:spLocks xmlns:a="http://schemas.openxmlformats.org/drawingml/2006/main" noGrp="1"/>
          </p:cNvSpPr>
          <p:nvPr/>
        </p:nvSpPr>
        <p:spPr>
          <a:xfrm xmlns:a="http://schemas.openxmlformats.org/drawingml/2006/main">
            <a:off x="11811000" y="3638550"/>
            <a:ext cx="28575" cy="16192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4" name="source-box">
            <a:extLst xmlns:a="http://schemas.openxmlformats.org/drawingml/2006/main">
              <a:ext uri="{FF2B5EF4-FFF2-40B4-BE49-F238E27FC236}">
                <a16:creationId xmlns:a16="http://schemas.microsoft.com/office/drawing/2014/main" id="{0877ECF5-B7C0-4186-A9F2-444FEF24B338}"/>
              </a:ext>
            </a:extLst>
          </p:cNvPr>
          <p:cNvSpPr>
            <a:spLocks xmlns:a="http://schemas.openxmlformats.org/drawingml/2006/main" noGrp="1"/>
          </p:cNvSpPr>
          <p:nvPr/>
        </p:nvSpPr>
        <p:spPr>
          <a:xfrm xmlns:a="http://schemas.openxmlformats.org/drawingml/2006/main">
            <a:off x="400050" y="2095500"/>
            <a:ext cx="1790700" cy="15430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5" name="source-label">
            <a:extLst xmlns:a="http://schemas.openxmlformats.org/drawingml/2006/main">
              <a:ext uri="{FF2B5EF4-FFF2-40B4-BE49-F238E27FC236}">
                <a16:creationId xmlns:a16="http://schemas.microsoft.com/office/drawing/2014/main" id="{3902D89C-30EB-4F5C-A506-7C1CF0447640}"/>
              </a:ext>
            </a:extLst>
          </p:cNvPr>
          <p:cNvSpPr>
            <a:spLocks xmlns:a="http://schemas.openxmlformats.org/drawingml/2006/main" noGrp="1"/>
          </p:cNvSpPr>
          <p:nvPr/>
        </p:nvSpPr>
        <p:spPr>
          <a:xfrm xmlns:a="http://schemas.openxmlformats.org/drawingml/2006/main">
            <a:off x="571500" y="2266950"/>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Sources</a:t>
            </a:r>
          </a:p>
        </p:txBody>
      </p:sp>
      <p:sp>
        <p:nvSpPr>
          <p:cNvPr id="16" name="source-sub">
            <a:extLst xmlns:a="http://schemas.openxmlformats.org/drawingml/2006/main">
              <a:ext uri="{FF2B5EF4-FFF2-40B4-BE49-F238E27FC236}">
                <a16:creationId xmlns:a16="http://schemas.microsoft.com/office/drawing/2014/main" id="{F2BB58D1-F4AA-4E35-84D2-B31D3D037B59}"/>
              </a:ext>
            </a:extLst>
          </p:cNvPr>
          <p:cNvSpPr>
            <a:spLocks xmlns:a="http://schemas.openxmlformats.org/drawingml/2006/main" noGrp="1"/>
          </p:cNvSpPr>
          <p:nvPr/>
        </p:nvSpPr>
        <p:spPr>
          <a:xfrm xmlns:a="http://schemas.openxmlformats.org/drawingml/2006/main">
            <a:off x="571500" y="2647950"/>
            <a:ext cx="1447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Finance mailbox</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Unified API</a:t>
            </a:r>
          </a:p>
        </p:txBody>
      </p:sp>
      <p:sp>
        <p:nvSpPr>
          <p:cNvPr id="17" name="extract-box">
            <a:extLst xmlns:a="http://schemas.openxmlformats.org/drawingml/2006/main">
              <a:ext uri="{FF2B5EF4-FFF2-40B4-BE49-F238E27FC236}">
                <a16:creationId xmlns:a16="http://schemas.microsoft.com/office/drawing/2014/main" id="{5A581314-4C0B-40C0-96F4-1BC32F4E93B9}"/>
              </a:ext>
            </a:extLst>
          </p:cNvPr>
          <p:cNvSpPr>
            <a:spLocks xmlns:a="http://schemas.openxmlformats.org/drawingml/2006/main" noGrp="1"/>
          </p:cNvSpPr>
          <p:nvPr/>
        </p:nvSpPr>
        <p:spPr>
          <a:xfrm xmlns:a="http://schemas.openxmlformats.org/drawingml/2006/main">
            <a:off x="3000375" y="2095500"/>
            <a:ext cx="1809750" cy="1543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8" name="extract-label">
            <a:extLst xmlns:a="http://schemas.openxmlformats.org/drawingml/2006/main">
              <a:ext uri="{FF2B5EF4-FFF2-40B4-BE49-F238E27FC236}">
                <a16:creationId xmlns:a16="http://schemas.microsoft.com/office/drawing/2014/main" id="{3DB40E13-19B0-444C-8387-2AB8D2B3A43C}"/>
              </a:ext>
            </a:extLst>
          </p:cNvPr>
          <p:cNvSpPr>
            <a:spLocks xmlns:a="http://schemas.openxmlformats.org/drawingml/2006/main" noGrp="1"/>
          </p:cNvSpPr>
          <p:nvPr/>
        </p:nvSpPr>
        <p:spPr>
          <a:xfrm xmlns:a="http://schemas.openxmlformats.org/drawingml/2006/main">
            <a:off x="3171825" y="226695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Process</a:t>
            </a:r>
          </a:p>
        </p:txBody>
      </p:sp>
      <p:sp>
        <p:nvSpPr>
          <p:cNvPr id="19" name="extract-sub">
            <a:extLst xmlns:a="http://schemas.openxmlformats.org/drawingml/2006/main">
              <a:ext uri="{FF2B5EF4-FFF2-40B4-BE49-F238E27FC236}">
                <a16:creationId xmlns:a16="http://schemas.microsoft.com/office/drawing/2014/main" id="{4AB0C7FB-2943-4354-A19B-954F52219B40}"/>
              </a:ext>
            </a:extLst>
          </p:cNvPr>
          <p:cNvSpPr>
            <a:spLocks xmlns:a="http://schemas.openxmlformats.org/drawingml/2006/main" noGrp="1"/>
          </p:cNvSpPr>
          <p:nvPr/>
        </p:nvSpPr>
        <p:spPr>
          <a:xfrm xmlns:a="http://schemas.openxmlformats.org/drawingml/2006/main">
            <a:off x="3171825" y="2647950"/>
            <a:ext cx="1466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Canonical text</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Evidence + confidence</a:t>
            </a:r>
          </a:p>
        </p:txBody>
      </p:sp>
      <p:sp>
        <p:nvSpPr>
          <p:cNvPr id="20" name="agent-box">
            <a:extLst xmlns:a="http://schemas.openxmlformats.org/drawingml/2006/main">
              <a:ext uri="{FF2B5EF4-FFF2-40B4-BE49-F238E27FC236}">
                <a16:creationId xmlns:a16="http://schemas.microsoft.com/office/drawing/2014/main" id="{0D9F5128-5C63-419D-8292-4FC5C3D8D475}"/>
              </a:ext>
            </a:extLst>
          </p:cNvPr>
          <p:cNvSpPr>
            <a:spLocks xmlns:a="http://schemas.openxmlformats.org/drawingml/2006/main" noGrp="1"/>
          </p:cNvSpPr>
          <p:nvPr/>
        </p:nvSpPr>
        <p:spPr>
          <a:xfrm xmlns:a="http://schemas.openxmlformats.org/drawingml/2006/main">
            <a:off x="5619750" y="2095500"/>
            <a:ext cx="1809750" cy="1543050"/>
          </a:xfrm>
          <a:prstGeom xmlns:a="http://schemas.openxmlformats.org/drawingml/2006/main" prst="rect">
            <a:avLst/>
          </a:prstGeom>
          <a:solidFill xmlns:a="http://schemas.openxmlformats.org/drawingml/2006/main">
            <a:srgbClr val="10243E"/>
          </a:solidFill>
          <a:ln xmlns:a="http://schemas.openxmlformats.org/drawingml/2006/main" w="0">
            <a:noFill/>
            <a:prstDash val="solid"/>
          </a:ln>
        </p:spPr>
      </p:sp>
      <p:sp>
        <p:nvSpPr>
          <p:cNvPr id="21" name="agent-label">
            <a:extLst xmlns:a="http://schemas.openxmlformats.org/drawingml/2006/main">
              <a:ext uri="{FF2B5EF4-FFF2-40B4-BE49-F238E27FC236}">
                <a16:creationId xmlns:a16="http://schemas.microsoft.com/office/drawing/2014/main" id="{5C2BF0CC-17C5-4920-9DD3-E4350792955D}"/>
              </a:ext>
            </a:extLst>
          </p:cNvPr>
          <p:cNvSpPr>
            <a:spLocks xmlns:a="http://schemas.openxmlformats.org/drawingml/2006/main" noGrp="1"/>
          </p:cNvSpPr>
          <p:nvPr/>
        </p:nvSpPr>
        <p:spPr>
          <a:xfrm xmlns:a="http://schemas.openxmlformats.org/drawingml/2006/main">
            <a:off x="5791200" y="226695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FFFFFF"/>
                </a:solidFill>
                <a:latin typeface="Arial"/>
                <a:ea typeface="Arial"/>
                <a:cs typeface="Arial"/>
              </a:defRPr>
            </a:pPr>
            <a:r>
              <a:rPr sz="1725" b="1">
                <a:solidFill>
                  <a:srgbClr val="FFFFFF"/>
                </a:solidFill>
                <a:latin typeface="Arial"/>
                <a:ea typeface="Arial"/>
                <a:cs typeface="Arial"/>
              </a:rPr>
              <a:t>Supervise</a:t>
            </a:r>
          </a:p>
        </p:txBody>
      </p:sp>
      <p:sp>
        <p:nvSpPr>
          <p:cNvPr id="22" name="agent-sub">
            <a:extLst xmlns:a="http://schemas.openxmlformats.org/drawingml/2006/main">
              <a:ext uri="{FF2B5EF4-FFF2-40B4-BE49-F238E27FC236}">
                <a16:creationId xmlns:a16="http://schemas.microsoft.com/office/drawing/2014/main" id="{AD88F0F1-D983-4620-A7EF-E965B26FADA2}"/>
              </a:ext>
            </a:extLst>
          </p:cNvPr>
          <p:cNvSpPr>
            <a:spLocks xmlns:a="http://schemas.openxmlformats.org/drawingml/2006/main" noGrp="1"/>
          </p:cNvSpPr>
          <p:nvPr/>
        </p:nvSpPr>
        <p:spPr>
          <a:xfrm xmlns:a="http://schemas.openxmlformats.org/drawingml/2006/main">
            <a:off x="5791200" y="2647950"/>
            <a:ext cx="1466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D7E7F4"/>
                </a:solidFill>
                <a:latin typeface="Arial"/>
                <a:ea typeface="Arial"/>
                <a:cs typeface="Arial"/>
              </a:defRPr>
            </a:pPr>
            <a:r>
              <a:rPr sz="1200" b="0">
                <a:solidFill>
                  <a:srgbClr val="D7E7F4"/>
                </a:solidFill>
                <a:latin typeface="Arial"/>
                <a:ea typeface="Arial"/>
                <a:cs typeface="Arial"/>
              </a:rPr>
              <a:t>Qwen 3.5 agent</a:t>
            </a:r>
          </a:p>
          <a:p xmlns:a="http://schemas.openxmlformats.org/drawingml/2006/main">
            <a:pPr algn="l">
              <a:buNone/>
              <a:defRPr sz="1200" b="0">
                <a:solidFill>
                  <a:srgbClr val="D7E7F4"/>
                </a:solidFill>
                <a:latin typeface="Arial"/>
                <a:ea typeface="Arial"/>
                <a:cs typeface="Arial"/>
              </a:defRPr>
            </a:pPr>
            <a:r>
              <a:rPr sz="1200" b="0">
                <a:solidFill>
                  <a:srgbClr val="D7E7F4"/>
                </a:solidFill>
                <a:latin typeface="Arial"/>
                <a:ea typeface="Arial"/>
                <a:cs typeface="Arial"/>
              </a:rPr>
              <a:t>AP / AR / escalate</a:t>
            </a:r>
          </a:p>
        </p:txBody>
      </p:sp>
      <p:sp>
        <p:nvSpPr>
          <p:cNvPr id="23" name="control-box">
            <a:extLst xmlns:a="http://schemas.openxmlformats.org/drawingml/2006/main">
              <a:ext uri="{FF2B5EF4-FFF2-40B4-BE49-F238E27FC236}">
                <a16:creationId xmlns:a16="http://schemas.microsoft.com/office/drawing/2014/main" id="{C6E68834-68EC-4276-B71E-D505C18E156D}"/>
              </a:ext>
            </a:extLst>
          </p:cNvPr>
          <p:cNvSpPr>
            <a:spLocks xmlns:a="http://schemas.openxmlformats.org/drawingml/2006/main" noGrp="1"/>
          </p:cNvSpPr>
          <p:nvPr/>
        </p:nvSpPr>
        <p:spPr>
          <a:xfrm xmlns:a="http://schemas.openxmlformats.org/drawingml/2006/main">
            <a:off x="8239125" y="2095500"/>
            <a:ext cx="1809750" cy="1543050"/>
          </a:xfrm>
          <a:prstGeom xmlns:a="http://schemas.openxmlformats.org/drawingml/2006/main" prst="rect">
            <a:avLst/>
          </a:prstGeom>
          <a:solidFill xmlns:a="http://schemas.openxmlformats.org/drawingml/2006/main">
            <a:srgbClr val="FFF2CF"/>
          </a:solidFill>
          <a:ln xmlns:a="http://schemas.openxmlformats.org/drawingml/2006/main" w="0">
            <a:noFill/>
            <a:prstDash val="solid"/>
          </a:ln>
        </p:spPr>
      </p:sp>
      <p:sp>
        <p:nvSpPr>
          <p:cNvPr id="24" name="control-label">
            <a:extLst xmlns:a="http://schemas.openxmlformats.org/drawingml/2006/main">
              <a:ext uri="{FF2B5EF4-FFF2-40B4-BE49-F238E27FC236}">
                <a16:creationId xmlns:a16="http://schemas.microsoft.com/office/drawing/2014/main" id="{740B622F-1399-4A51-BA0B-FE6DA2ED04C3}"/>
              </a:ext>
            </a:extLst>
          </p:cNvPr>
          <p:cNvSpPr>
            <a:spLocks xmlns:a="http://schemas.openxmlformats.org/drawingml/2006/main" noGrp="1"/>
          </p:cNvSpPr>
          <p:nvPr/>
        </p:nvSpPr>
        <p:spPr>
          <a:xfrm xmlns:a="http://schemas.openxmlformats.org/drawingml/2006/main">
            <a:off x="8410575" y="226695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Act</a:t>
            </a:r>
          </a:p>
        </p:txBody>
      </p:sp>
      <p:sp>
        <p:nvSpPr>
          <p:cNvPr id="25" name="control-sub">
            <a:extLst xmlns:a="http://schemas.openxmlformats.org/drawingml/2006/main">
              <a:ext uri="{FF2B5EF4-FFF2-40B4-BE49-F238E27FC236}">
                <a16:creationId xmlns:a16="http://schemas.microsoft.com/office/drawing/2014/main" id="{37A780B7-CD4B-4D98-9FFF-B405370FB9E1}"/>
              </a:ext>
            </a:extLst>
          </p:cNvPr>
          <p:cNvSpPr>
            <a:spLocks xmlns:a="http://schemas.openxmlformats.org/drawingml/2006/main" noGrp="1"/>
          </p:cNvSpPr>
          <p:nvPr/>
        </p:nvSpPr>
        <p:spPr>
          <a:xfrm xmlns:a="http://schemas.openxmlformats.org/drawingml/2006/main">
            <a:off x="8410575" y="2647950"/>
            <a:ext cx="1466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Bounded tools</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Deterministic guards</a:t>
            </a:r>
          </a:p>
        </p:txBody>
      </p:sp>
      <p:sp>
        <p:nvSpPr>
          <p:cNvPr id="26" name="erp-box">
            <a:extLst xmlns:a="http://schemas.openxmlformats.org/drawingml/2006/main">
              <a:ext uri="{FF2B5EF4-FFF2-40B4-BE49-F238E27FC236}">
                <a16:creationId xmlns:a16="http://schemas.microsoft.com/office/drawing/2014/main" id="{88763490-9764-4A68-8BBD-4202BA3FF962}"/>
              </a:ext>
            </a:extLst>
          </p:cNvPr>
          <p:cNvSpPr>
            <a:spLocks xmlns:a="http://schemas.openxmlformats.org/drawingml/2006/main" noGrp="1"/>
          </p:cNvSpPr>
          <p:nvPr/>
        </p:nvSpPr>
        <p:spPr>
          <a:xfrm xmlns:a="http://schemas.openxmlformats.org/drawingml/2006/main">
            <a:off x="10858500" y="2095500"/>
            <a:ext cx="952500" cy="1543050"/>
          </a:xfrm>
          <a:prstGeom xmlns:a="http://schemas.openxmlformats.org/drawingml/2006/main" prst="rect">
            <a:avLst/>
          </a:prstGeom>
          <a:solidFill xmlns:a="http://schemas.openxmlformats.org/drawingml/2006/main">
            <a:srgbClr val="DDF6E8"/>
          </a:solidFill>
          <a:ln xmlns:a="http://schemas.openxmlformats.org/drawingml/2006/main" w="0">
            <a:noFill/>
            <a:prstDash val="solid"/>
          </a:ln>
        </p:spPr>
      </p:sp>
      <p:sp>
        <p:nvSpPr>
          <p:cNvPr id="27" name="erp-label">
            <a:extLst xmlns:a="http://schemas.openxmlformats.org/drawingml/2006/main">
              <a:ext uri="{FF2B5EF4-FFF2-40B4-BE49-F238E27FC236}">
                <a16:creationId xmlns:a16="http://schemas.microsoft.com/office/drawing/2014/main" id="{FB8E2644-712D-4153-923A-C01FC7C4C0FE}"/>
              </a:ext>
            </a:extLst>
          </p:cNvPr>
          <p:cNvSpPr>
            <a:spLocks xmlns:a="http://schemas.openxmlformats.org/drawingml/2006/main" noGrp="1"/>
          </p:cNvSpPr>
          <p:nvPr/>
        </p:nvSpPr>
        <p:spPr>
          <a:xfrm xmlns:a="http://schemas.openxmlformats.org/drawingml/2006/main">
            <a:off x="11029950" y="22669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000000"/>
                </a:solidFill>
                <a:latin typeface="Arial"/>
                <a:ea typeface="Arial"/>
                <a:cs typeface="Arial"/>
              </a:defRPr>
            </a:pPr>
            <a:r>
              <a:rPr sz="1725" b="1">
                <a:solidFill>
                  <a:srgbClr val="000000"/>
                </a:solidFill>
                <a:latin typeface="Arial"/>
                <a:ea typeface="Arial"/>
                <a:cs typeface="Arial"/>
              </a:rPr>
              <a:t>ERP</a:t>
            </a:r>
          </a:p>
        </p:txBody>
      </p:sp>
      <p:sp>
        <p:nvSpPr>
          <p:cNvPr id="28" name="erp-sub">
            <a:extLst xmlns:a="http://schemas.openxmlformats.org/drawingml/2006/main">
              <a:ext uri="{FF2B5EF4-FFF2-40B4-BE49-F238E27FC236}">
                <a16:creationId xmlns:a16="http://schemas.microsoft.com/office/drawing/2014/main" id="{0C976C9A-64A3-4E6A-8048-46E84298B20B}"/>
              </a:ext>
            </a:extLst>
          </p:cNvPr>
          <p:cNvSpPr>
            <a:spLocks xmlns:a="http://schemas.openxmlformats.org/drawingml/2006/main" noGrp="1"/>
          </p:cNvSpPr>
          <p:nvPr/>
        </p:nvSpPr>
        <p:spPr>
          <a:xfrm xmlns:a="http://schemas.openxmlformats.org/drawingml/2006/main">
            <a:off x="11029950" y="2647950"/>
            <a:ext cx="6096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HTTP</a:t>
            </a:r>
          </a:p>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Mock API</a:t>
            </a:r>
          </a:p>
        </p:txBody>
      </p:sp>
      <p:sp>
        <p:nvSpPr>
          <p:cNvPr id="29" name="audit-rail">
            <a:extLst xmlns:a="http://schemas.openxmlformats.org/drawingml/2006/main">
              <a:ext uri="{FF2B5EF4-FFF2-40B4-BE49-F238E27FC236}">
                <a16:creationId xmlns:a16="http://schemas.microsoft.com/office/drawing/2014/main" id="{78819959-219A-46FF-81C7-E6D72E41F6BF}"/>
              </a:ext>
            </a:extLst>
          </p:cNvPr>
          <p:cNvSpPr>
            <a:spLocks xmlns:a="http://schemas.openxmlformats.org/drawingml/2006/main" noGrp="1"/>
          </p:cNvSpPr>
          <p:nvPr/>
        </p:nvSpPr>
        <p:spPr>
          <a:xfrm xmlns:a="http://schemas.openxmlformats.org/drawingml/2006/main">
            <a:off x="400050" y="5257800"/>
            <a:ext cx="11410950" cy="781050"/>
          </a:xfrm>
          <a:prstGeom xmlns:a="http://schemas.openxmlformats.org/drawingml/2006/main" prst="rect">
            <a:avLst/>
          </a:prstGeom>
          <a:solidFill xmlns:a="http://schemas.openxmlformats.org/drawingml/2006/main">
            <a:srgbClr val="E9EDF4"/>
          </a:solidFill>
          <a:ln xmlns:a="http://schemas.openxmlformats.org/drawingml/2006/main" w="9525">
            <a:solidFill>
              <a:srgbClr val="B8BCC4"/>
            </a:solidFill>
            <a:prstDash val="solid"/>
          </a:ln>
        </p:spPr>
      </p:sp>
      <p:sp>
        <p:nvSpPr>
          <p:cNvPr id="30" name="audit-label">
            <a:extLst xmlns:a="http://schemas.openxmlformats.org/drawingml/2006/main">
              <a:ext uri="{FF2B5EF4-FFF2-40B4-BE49-F238E27FC236}">
                <a16:creationId xmlns:a16="http://schemas.microsoft.com/office/drawing/2014/main" id="{A619314D-29EA-4FD7-B5A4-B917FABA306A}"/>
              </a:ext>
            </a:extLst>
          </p:cNvPr>
          <p:cNvSpPr>
            <a:spLocks xmlns:a="http://schemas.openxmlformats.org/drawingml/2006/main" noGrp="1"/>
          </p:cNvSpPr>
          <p:nvPr/>
        </p:nvSpPr>
        <p:spPr>
          <a:xfrm xmlns:a="http://schemas.openxmlformats.org/drawingml/2006/main">
            <a:off x="638175" y="5476875"/>
            <a:ext cx="10934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Arial"/>
                <a:ea typeface="Arial"/>
                <a:cs typeface="Arial"/>
              </a:defRPr>
            </a:pPr>
            <a:r>
              <a:rPr sz="1425" b="1">
                <a:solidFill>
                  <a:srgbClr val="000000"/>
                </a:solidFill>
                <a:latin typeface="Arial"/>
                <a:ea typeface="Arial"/>
                <a:cs typeface="Arial"/>
              </a:rPr>
              <a:t>POSTGRESQL + PGVECTOR · AGENT DECISIONS · TOOL EVIDENCE · HASH-CHAINED AUDIT</a:t>
            </a:r>
          </a:p>
        </p:txBody>
      </p:sp>
    </p:spTree>
    <p:extLst>
      <p:ext uri="{BB962C8B-B14F-4D97-AF65-F5344CB8AC3E}">
        <p14:creationId xmlns:p14="http://schemas.microsoft.com/office/powerpoint/2010/main" val="19361474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eyebrow-4">
            <a:extLst xmlns:a="http://schemas.openxmlformats.org/drawingml/2006/main">
              <a:ext uri="{FF2B5EF4-FFF2-40B4-BE49-F238E27FC236}">
                <a16:creationId xmlns:a16="http://schemas.microsoft.com/office/drawing/2014/main" id="{6705A3CC-4F72-4E07-895B-09D30C4C620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4">
            <a:extLst xmlns:a="http://schemas.openxmlformats.org/drawingml/2006/main">
              <a:ext uri="{FF2B5EF4-FFF2-40B4-BE49-F238E27FC236}">
                <a16:creationId xmlns:a16="http://schemas.microsoft.com/office/drawing/2014/main" id="{B5839DAA-4A09-424B-9AE0-69F4E013A153}"/>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767"/>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Both agents follow the same governed observe-reason-act pattern</a:t>
            </a:r>
          </a:p>
        </p:txBody>
      </p:sp>
      <p:sp>
        <p:nvSpPr>
          <p:cNvPr id="3" name="rule-42-145">
            <a:extLst xmlns:a="http://schemas.openxmlformats.org/drawingml/2006/main">
              <a:ext uri="{FF2B5EF4-FFF2-40B4-BE49-F238E27FC236}">
                <a16:creationId xmlns:a16="http://schemas.microsoft.com/office/drawing/2014/main" id="{8D420686-1EA9-4101-A64E-CA9A878AA1A1}"/>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4">
            <a:extLst xmlns:a="http://schemas.openxmlformats.org/drawingml/2006/main">
              <a:ext uri="{FF2B5EF4-FFF2-40B4-BE49-F238E27FC236}">
                <a16:creationId xmlns:a16="http://schemas.microsoft.com/office/drawing/2014/main" id="{C187545D-E3A8-4603-BBB4-1DC876D1EAD3}"/>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04</a:t>
            </a:r>
          </a:p>
        </p:txBody>
      </p:sp>
      <p:sp>
        <p:nvSpPr>
          <p:cNvPr id="5" name="timeline">
            <a:extLst xmlns:a="http://schemas.openxmlformats.org/drawingml/2006/main">
              <a:ext uri="{FF2B5EF4-FFF2-40B4-BE49-F238E27FC236}">
                <a16:creationId xmlns:a16="http://schemas.microsoft.com/office/drawing/2014/main" id="{2E411F50-8D03-4B53-8AC6-98B8CB9D52CA}"/>
              </a:ext>
            </a:extLst>
          </p:cNvPr>
          <p:cNvSpPr>
            <a:spLocks xmlns:a="http://schemas.openxmlformats.org/drawingml/2006/main" noGrp="1"/>
          </p:cNvSpPr>
          <p:nvPr/>
        </p:nvSpPr>
        <p:spPr>
          <a:xfrm xmlns:a="http://schemas.openxmlformats.org/drawingml/2006/main">
            <a:off x="552450" y="3238500"/>
            <a:ext cx="11049000" cy="1905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dot-0">
            <a:extLst xmlns:a="http://schemas.openxmlformats.org/drawingml/2006/main">
              <a:ext uri="{FF2B5EF4-FFF2-40B4-BE49-F238E27FC236}">
                <a16:creationId xmlns:a16="http://schemas.microsoft.com/office/drawing/2014/main" id="{5C60C7C5-683E-4D30-A3AE-2086B16FFA8E}"/>
              </a:ext>
            </a:extLst>
          </p:cNvPr>
          <p:cNvSpPr>
            <a:spLocks xmlns:a="http://schemas.openxmlformats.org/drawingml/2006/main" noGrp="1"/>
          </p:cNvSpPr>
          <p:nvPr/>
        </p:nvSpPr>
        <p:spPr>
          <a:xfrm xmlns:a="http://schemas.openxmlformats.org/drawingml/2006/main">
            <a:off x="5524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7" name="stage-n-0">
            <a:extLst xmlns:a="http://schemas.openxmlformats.org/drawingml/2006/main">
              <a:ext uri="{FF2B5EF4-FFF2-40B4-BE49-F238E27FC236}">
                <a16:creationId xmlns:a16="http://schemas.microsoft.com/office/drawing/2014/main" id="{8609C68F-6AD9-4483-978D-29BB1414A6A6}"/>
              </a:ext>
            </a:extLst>
          </p:cNvPr>
          <p:cNvSpPr>
            <a:spLocks xmlns:a="http://schemas.openxmlformats.org/drawingml/2006/main" noGrp="1"/>
          </p:cNvSpPr>
          <p:nvPr/>
        </p:nvSpPr>
        <p:spPr>
          <a:xfrm xmlns:a="http://schemas.openxmlformats.org/drawingml/2006/main">
            <a:off x="5524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01</a:t>
            </a:r>
          </a:p>
        </p:txBody>
      </p:sp>
      <p:sp>
        <p:nvSpPr>
          <p:cNvPr id="8" name="stage-h-0">
            <a:extLst xmlns:a="http://schemas.openxmlformats.org/drawingml/2006/main">
              <a:ext uri="{FF2B5EF4-FFF2-40B4-BE49-F238E27FC236}">
                <a16:creationId xmlns:a16="http://schemas.microsoft.com/office/drawing/2014/main" id="{C047EBB5-4842-4DED-B06B-F5C78E90D4AF}"/>
              </a:ext>
            </a:extLst>
          </p:cNvPr>
          <p:cNvSpPr>
            <a:spLocks xmlns:a="http://schemas.openxmlformats.org/drawingml/2006/main" noGrp="1"/>
          </p:cNvSpPr>
          <p:nvPr/>
        </p:nvSpPr>
        <p:spPr>
          <a:xfrm xmlns:a="http://schemas.openxmlformats.org/drawingml/2006/main">
            <a:off x="5524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Register</a:t>
            </a:r>
          </a:p>
        </p:txBody>
      </p:sp>
      <p:sp>
        <p:nvSpPr>
          <p:cNvPr id="9" name="stage-b-0">
            <a:extLst xmlns:a="http://schemas.openxmlformats.org/drawingml/2006/main">
              <a:ext uri="{FF2B5EF4-FFF2-40B4-BE49-F238E27FC236}">
                <a16:creationId xmlns:a16="http://schemas.microsoft.com/office/drawing/2014/main" id="{5737A8F6-E018-4DDA-9380-31D3E551123E}"/>
              </a:ext>
            </a:extLst>
          </p:cNvPr>
          <p:cNvSpPr>
            <a:spLocks xmlns:a="http://schemas.openxmlformats.org/drawingml/2006/main" noGrp="1"/>
          </p:cNvSpPr>
          <p:nvPr/>
        </p:nvSpPr>
        <p:spPr>
          <a:xfrm xmlns:a="http://schemas.openxmlformats.org/drawingml/2006/main">
            <a:off x="5524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Hash and retain the source envelope.</a:t>
            </a:r>
          </a:p>
        </p:txBody>
      </p:sp>
      <p:sp>
        <p:nvSpPr>
          <p:cNvPr id="10" name="dot-1">
            <a:extLst xmlns:a="http://schemas.openxmlformats.org/drawingml/2006/main">
              <a:ext uri="{FF2B5EF4-FFF2-40B4-BE49-F238E27FC236}">
                <a16:creationId xmlns:a16="http://schemas.microsoft.com/office/drawing/2014/main" id="{BD40EB63-AE44-42F1-8E84-029AE8FCB301}"/>
              </a:ext>
            </a:extLst>
          </p:cNvPr>
          <p:cNvSpPr>
            <a:spLocks xmlns:a="http://schemas.openxmlformats.org/drawingml/2006/main" noGrp="1"/>
          </p:cNvSpPr>
          <p:nvPr/>
        </p:nvSpPr>
        <p:spPr>
          <a:xfrm xmlns:a="http://schemas.openxmlformats.org/drawingml/2006/main">
            <a:off x="25717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1" name="stage-n-1">
            <a:extLst xmlns:a="http://schemas.openxmlformats.org/drawingml/2006/main">
              <a:ext uri="{FF2B5EF4-FFF2-40B4-BE49-F238E27FC236}">
                <a16:creationId xmlns:a16="http://schemas.microsoft.com/office/drawing/2014/main" id="{5A88E7EE-243D-48EC-A3F5-155AB855FCA7}"/>
              </a:ext>
            </a:extLst>
          </p:cNvPr>
          <p:cNvSpPr>
            <a:spLocks xmlns:a="http://schemas.openxmlformats.org/drawingml/2006/main" noGrp="1"/>
          </p:cNvSpPr>
          <p:nvPr/>
        </p:nvSpPr>
        <p:spPr>
          <a:xfrm xmlns:a="http://schemas.openxmlformats.org/drawingml/2006/main">
            <a:off x="25717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02</a:t>
            </a:r>
          </a:p>
        </p:txBody>
      </p:sp>
      <p:sp>
        <p:nvSpPr>
          <p:cNvPr id="12" name="stage-h-1">
            <a:extLst xmlns:a="http://schemas.openxmlformats.org/drawingml/2006/main">
              <a:ext uri="{FF2B5EF4-FFF2-40B4-BE49-F238E27FC236}">
                <a16:creationId xmlns:a16="http://schemas.microsoft.com/office/drawing/2014/main" id="{302B8FD6-DB92-4E0E-84EA-91F3F945610B}"/>
              </a:ext>
            </a:extLst>
          </p:cNvPr>
          <p:cNvSpPr>
            <a:spLocks xmlns:a="http://schemas.openxmlformats.org/drawingml/2006/main" noGrp="1"/>
          </p:cNvSpPr>
          <p:nvPr/>
        </p:nvSpPr>
        <p:spPr>
          <a:xfrm xmlns:a="http://schemas.openxmlformats.org/drawingml/2006/main">
            <a:off x="25717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Process</a:t>
            </a:r>
          </a:p>
        </p:txBody>
      </p:sp>
      <p:sp>
        <p:nvSpPr>
          <p:cNvPr id="13" name="stage-b-1">
            <a:extLst xmlns:a="http://schemas.openxmlformats.org/drawingml/2006/main">
              <a:ext uri="{FF2B5EF4-FFF2-40B4-BE49-F238E27FC236}">
                <a16:creationId xmlns:a16="http://schemas.microsoft.com/office/drawing/2014/main" id="{D12F4198-2564-46B6-959D-843D20DA012F}"/>
              </a:ext>
            </a:extLst>
          </p:cNvPr>
          <p:cNvSpPr>
            <a:spLocks xmlns:a="http://schemas.openxmlformats.org/drawingml/2006/main" noGrp="1"/>
          </p:cNvSpPr>
          <p:nvPr/>
        </p:nvSpPr>
        <p:spPr>
          <a:xfrm xmlns:a="http://schemas.openxmlformats.org/drawingml/2006/main">
            <a:off x="25717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Convert once; retain evidence and candidates.</a:t>
            </a:r>
          </a:p>
        </p:txBody>
      </p:sp>
      <p:sp>
        <p:nvSpPr>
          <p:cNvPr id="14" name="dot-2">
            <a:extLst xmlns:a="http://schemas.openxmlformats.org/drawingml/2006/main">
              <a:ext uri="{FF2B5EF4-FFF2-40B4-BE49-F238E27FC236}">
                <a16:creationId xmlns:a16="http://schemas.microsoft.com/office/drawing/2014/main" id="{B3B3229A-5049-4DA8-BA29-52E1A0973E76}"/>
              </a:ext>
            </a:extLst>
          </p:cNvPr>
          <p:cNvSpPr>
            <a:spLocks xmlns:a="http://schemas.openxmlformats.org/drawingml/2006/main" noGrp="1"/>
          </p:cNvSpPr>
          <p:nvPr/>
        </p:nvSpPr>
        <p:spPr>
          <a:xfrm xmlns:a="http://schemas.openxmlformats.org/drawingml/2006/main">
            <a:off x="45910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5" name="stage-n-2">
            <a:extLst xmlns:a="http://schemas.openxmlformats.org/drawingml/2006/main">
              <a:ext uri="{FF2B5EF4-FFF2-40B4-BE49-F238E27FC236}">
                <a16:creationId xmlns:a16="http://schemas.microsoft.com/office/drawing/2014/main" id="{60F87BDC-C7C5-4452-95F3-B9F0C2326E8B}"/>
              </a:ext>
            </a:extLst>
          </p:cNvPr>
          <p:cNvSpPr>
            <a:spLocks xmlns:a="http://schemas.openxmlformats.org/drawingml/2006/main" noGrp="1"/>
          </p:cNvSpPr>
          <p:nvPr/>
        </p:nvSpPr>
        <p:spPr>
          <a:xfrm xmlns:a="http://schemas.openxmlformats.org/drawingml/2006/main">
            <a:off x="45910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03</a:t>
            </a:r>
          </a:p>
        </p:txBody>
      </p:sp>
      <p:sp>
        <p:nvSpPr>
          <p:cNvPr id="16" name="stage-h-2">
            <a:extLst xmlns:a="http://schemas.openxmlformats.org/drawingml/2006/main">
              <a:ext uri="{FF2B5EF4-FFF2-40B4-BE49-F238E27FC236}">
                <a16:creationId xmlns:a16="http://schemas.microsoft.com/office/drawing/2014/main" id="{098A093C-084F-4206-9E76-14DB4E2BE96A}"/>
              </a:ext>
            </a:extLst>
          </p:cNvPr>
          <p:cNvSpPr>
            <a:spLocks xmlns:a="http://schemas.openxmlformats.org/drawingml/2006/main" noGrp="1"/>
          </p:cNvSpPr>
          <p:nvPr/>
        </p:nvSpPr>
        <p:spPr>
          <a:xfrm xmlns:a="http://schemas.openxmlformats.org/drawingml/2006/main">
            <a:off x="45910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Supervise</a:t>
            </a:r>
          </a:p>
        </p:txBody>
      </p:sp>
      <p:sp>
        <p:nvSpPr>
          <p:cNvPr id="17" name="stage-b-2">
            <a:extLst xmlns:a="http://schemas.openxmlformats.org/drawingml/2006/main">
              <a:ext uri="{FF2B5EF4-FFF2-40B4-BE49-F238E27FC236}">
                <a16:creationId xmlns:a16="http://schemas.microsoft.com/office/drawing/2014/main" id="{D5EAB6BB-77CB-415E-8F22-E2E08DF98CA5}"/>
              </a:ext>
            </a:extLst>
          </p:cNvPr>
          <p:cNvSpPr>
            <a:spLocks xmlns:a="http://schemas.openxmlformats.org/drawingml/2006/main" noGrp="1"/>
          </p:cNvSpPr>
          <p:nvPr/>
        </p:nvSpPr>
        <p:spPr>
          <a:xfrm xmlns:a="http://schemas.openxmlformats.org/drawingml/2006/main">
            <a:off x="45910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Qwen dispatches AP, AR, or review.</a:t>
            </a:r>
          </a:p>
        </p:txBody>
      </p:sp>
      <p:sp>
        <p:nvSpPr>
          <p:cNvPr id="18" name="dot-3">
            <a:extLst xmlns:a="http://schemas.openxmlformats.org/drawingml/2006/main">
              <a:ext uri="{FF2B5EF4-FFF2-40B4-BE49-F238E27FC236}">
                <a16:creationId xmlns:a16="http://schemas.microsoft.com/office/drawing/2014/main" id="{14ABF46B-47FE-4A1C-BFAD-DF3668B14DB3}"/>
              </a:ext>
            </a:extLst>
          </p:cNvPr>
          <p:cNvSpPr>
            <a:spLocks xmlns:a="http://schemas.openxmlformats.org/drawingml/2006/main" noGrp="1"/>
          </p:cNvSpPr>
          <p:nvPr/>
        </p:nvSpPr>
        <p:spPr>
          <a:xfrm xmlns:a="http://schemas.openxmlformats.org/drawingml/2006/main">
            <a:off x="66103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9" name="stage-n-3">
            <a:extLst xmlns:a="http://schemas.openxmlformats.org/drawingml/2006/main">
              <a:ext uri="{FF2B5EF4-FFF2-40B4-BE49-F238E27FC236}">
                <a16:creationId xmlns:a16="http://schemas.microsoft.com/office/drawing/2014/main" id="{1D64C4BC-BF33-4271-AB9A-8C18CF7F7D54}"/>
              </a:ext>
            </a:extLst>
          </p:cNvPr>
          <p:cNvSpPr>
            <a:spLocks xmlns:a="http://schemas.openxmlformats.org/drawingml/2006/main" noGrp="1"/>
          </p:cNvSpPr>
          <p:nvPr/>
        </p:nvSpPr>
        <p:spPr>
          <a:xfrm xmlns:a="http://schemas.openxmlformats.org/drawingml/2006/main">
            <a:off x="66103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04</a:t>
            </a:r>
          </a:p>
        </p:txBody>
      </p:sp>
      <p:sp>
        <p:nvSpPr>
          <p:cNvPr id="20" name="stage-h-3">
            <a:extLst xmlns:a="http://schemas.openxmlformats.org/drawingml/2006/main">
              <a:ext uri="{FF2B5EF4-FFF2-40B4-BE49-F238E27FC236}">
                <a16:creationId xmlns:a16="http://schemas.microsoft.com/office/drawing/2014/main" id="{06805134-7ACD-4412-83AE-F65DDAE1572D}"/>
              </a:ext>
            </a:extLst>
          </p:cNvPr>
          <p:cNvSpPr>
            <a:spLocks xmlns:a="http://schemas.openxmlformats.org/drawingml/2006/main" noGrp="1"/>
          </p:cNvSpPr>
          <p:nvPr/>
        </p:nvSpPr>
        <p:spPr>
          <a:xfrm xmlns:a="http://schemas.openxmlformats.org/drawingml/2006/main">
            <a:off x="66103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Retrieve</a:t>
            </a:r>
          </a:p>
        </p:txBody>
      </p:sp>
      <p:sp>
        <p:nvSpPr>
          <p:cNvPr id="21" name="stage-b-3">
            <a:extLst xmlns:a="http://schemas.openxmlformats.org/drawingml/2006/main">
              <a:ext uri="{FF2B5EF4-FFF2-40B4-BE49-F238E27FC236}">
                <a16:creationId xmlns:a16="http://schemas.microsoft.com/office/drawing/2014/main" id="{C6220084-6A5D-4DA3-897F-5A499843F1E8}"/>
              </a:ext>
            </a:extLst>
          </p:cNvPr>
          <p:cNvSpPr>
            <a:spLocks xmlns:a="http://schemas.openxmlformats.org/drawingml/2006/main" noGrp="1"/>
          </p:cNvSpPr>
          <p:nvPr/>
        </p:nvSpPr>
        <p:spPr>
          <a:xfrm xmlns:a="http://schemas.openxmlformats.org/drawingml/2006/main">
            <a:off x="66103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Agent invokes semantic policy RAG.</a:t>
            </a:r>
          </a:p>
        </p:txBody>
      </p:sp>
      <p:sp>
        <p:nvSpPr>
          <p:cNvPr id="22" name="dot-4">
            <a:extLst xmlns:a="http://schemas.openxmlformats.org/drawingml/2006/main">
              <a:ext uri="{FF2B5EF4-FFF2-40B4-BE49-F238E27FC236}">
                <a16:creationId xmlns:a16="http://schemas.microsoft.com/office/drawing/2014/main" id="{C1C248DB-181E-4757-97D7-3A04A81A806A}"/>
              </a:ext>
            </a:extLst>
          </p:cNvPr>
          <p:cNvSpPr>
            <a:spLocks xmlns:a="http://schemas.openxmlformats.org/drawingml/2006/main" noGrp="1"/>
          </p:cNvSpPr>
          <p:nvPr/>
        </p:nvSpPr>
        <p:spPr>
          <a:xfrm xmlns:a="http://schemas.openxmlformats.org/drawingml/2006/main">
            <a:off x="8629650" y="3162300"/>
            <a:ext cx="152400" cy="152400"/>
          </a:xfrm>
          <a:prstGeom xmlns:a="http://schemas.openxmlformats.org/drawingml/2006/main" prst="roundRect">
            <a:avLst>
              <a:gd name="adj" fmla="val 50000"/>
            </a:avLst>
          </a:prstGeom>
          <a:solidFill xmlns:a="http://schemas.openxmlformats.org/drawingml/2006/main">
            <a:srgbClr val="F3B43F"/>
          </a:solidFill>
          <a:ln xmlns:a="http://schemas.openxmlformats.org/drawingml/2006/main" w="0">
            <a:noFill/>
            <a:prstDash val="solid"/>
          </a:ln>
        </p:spPr>
      </p:sp>
      <p:sp>
        <p:nvSpPr>
          <p:cNvPr id="23" name="stage-n-4">
            <a:extLst xmlns:a="http://schemas.openxmlformats.org/drawingml/2006/main">
              <a:ext uri="{FF2B5EF4-FFF2-40B4-BE49-F238E27FC236}">
                <a16:creationId xmlns:a16="http://schemas.microsoft.com/office/drawing/2014/main" id="{1FFDA339-E8DA-41B8-83B6-DE81CB6B9D30}"/>
              </a:ext>
            </a:extLst>
          </p:cNvPr>
          <p:cNvSpPr>
            <a:spLocks xmlns:a="http://schemas.openxmlformats.org/drawingml/2006/main" noGrp="1"/>
          </p:cNvSpPr>
          <p:nvPr/>
        </p:nvSpPr>
        <p:spPr>
          <a:xfrm xmlns:a="http://schemas.openxmlformats.org/drawingml/2006/main">
            <a:off x="86296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05</a:t>
            </a:r>
          </a:p>
        </p:txBody>
      </p:sp>
      <p:sp>
        <p:nvSpPr>
          <p:cNvPr id="24" name="stage-h-4">
            <a:extLst xmlns:a="http://schemas.openxmlformats.org/drawingml/2006/main">
              <a:ext uri="{FF2B5EF4-FFF2-40B4-BE49-F238E27FC236}">
                <a16:creationId xmlns:a16="http://schemas.microsoft.com/office/drawing/2014/main" id="{B0E6A156-511D-402A-A5AD-EE22C94C4A20}"/>
              </a:ext>
            </a:extLst>
          </p:cNvPr>
          <p:cNvSpPr>
            <a:spLocks xmlns:a="http://schemas.openxmlformats.org/drawingml/2006/main" noGrp="1"/>
          </p:cNvSpPr>
          <p:nvPr/>
        </p:nvSpPr>
        <p:spPr>
          <a:xfrm xmlns:a="http://schemas.openxmlformats.org/drawingml/2006/main">
            <a:off x="86296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Observe</a:t>
            </a:r>
          </a:p>
        </p:txBody>
      </p:sp>
      <p:sp>
        <p:nvSpPr>
          <p:cNvPr id="25" name="stage-b-4">
            <a:extLst xmlns:a="http://schemas.openxmlformats.org/drawingml/2006/main">
              <a:ext uri="{FF2B5EF4-FFF2-40B4-BE49-F238E27FC236}">
                <a16:creationId xmlns:a16="http://schemas.microsoft.com/office/drawing/2014/main" id="{8D89968F-8CB3-4CCA-8C61-CBE67ADFB312}"/>
              </a:ext>
            </a:extLst>
          </p:cNvPr>
          <p:cNvSpPr>
            <a:spLocks xmlns:a="http://schemas.openxmlformats.org/drawingml/2006/main" noGrp="1"/>
          </p:cNvSpPr>
          <p:nvPr/>
        </p:nvSpPr>
        <p:spPr>
          <a:xfrm xmlns:a="http://schemas.openxmlformats.org/drawingml/2006/main">
            <a:off x="86296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Run ERP facts through domain controls.</a:t>
            </a:r>
          </a:p>
        </p:txBody>
      </p:sp>
      <p:sp>
        <p:nvSpPr>
          <p:cNvPr id="26" name="dot-5">
            <a:extLst xmlns:a="http://schemas.openxmlformats.org/drawingml/2006/main">
              <a:ext uri="{FF2B5EF4-FFF2-40B4-BE49-F238E27FC236}">
                <a16:creationId xmlns:a16="http://schemas.microsoft.com/office/drawing/2014/main" id="{F521A7E5-6FE1-4BFA-AB63-04123F762AC5}"/>
              </a:ext>
            </a:extLst>
          </p:cNvPr>
          <p:cNvSpPr>
            <a:spLocks xmlns:a="http://schemas.openxmlformats.org/drawingml/2006/main" noGrp="1"/>
          </p:cNvSpPr>
          <p:nvPr/>
        </p:nvSpPr>
        <p:spPr>
          <a:xfrm xmlns:a="http://schemas.openxmlformats.org/drawingml/2006/main">
            <a:off x="10648950" y="3162300"/>
            <a:ext cx="152400" cy="15240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27" name="stage-n-5">
            <a:extLst xmlns:a="http://schemas.openxmlformats.org/drawingml/2006/main">
              <a:ext uri="{FF2B5EF4-FFF2-40B4-BE49-F238E27FC236}">
                <a16:creationId xmlns:a16="http://schemas.microsoft.com/office/drawing/2014/main" id="{4F44D89D-DC26-467A-8AA0-A2B1379EE20C}"/>
              </a:ext>
            </a:extLst>
          </p:cNvPr>
          <p:cNvSpPr>
            <a:spLocks xmlns:a="http://schemas.openxmlformats.org/drawingml/2006/main" noGrp="1"/>
          </p:cNvSpPr>
          <p:nvPr/>
        </p:nvSpPr>
        <p:spPr>
          <a:xfrm xmlns:a="http://schemas.openxmlformats.org/drawingml/2006/main">
            <a:off x="10648950" y="26289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06</a:t>
            </a:r>
          </a:p>
        </p:txBody>
      </p:sp>
      <p:sp>
        <p:nvSpPr>
          <p:cNvPr id="28" name="stage-h-5">
            <a:extLst xmlns:a="http://schemas.openxmlformats.org/drawingml/2006/main">
              <a:ext uri="{FF2B5EF4-FFF2-40B4-BE49-F238E27FC236}">
                <a16:creationId xmlns:a16="http://schemas.microsoft.com/office/drawing/2014/main" id="{6A2CBBEA-3315-44DF-A4B5-FF652B164372}"/>
              </a:ext>
            </a:extLst>
          </p:cNvPr>
          <p:cNvSpPr>
            <a:spLocks xmlns:a="http://schemas.openxmlformats.org/drawingml/2006/main" noGrp="1"/>
          </p:cNvSpPr>
          <p:nvPr/>
        </p:nvSpPr>
        <p:spPr>
          <a:xfrm xmlns:a="http://schemas.openxmlformats.org/drawingml/2006/main">
            <a:off x="10648950" y="367665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Act</a:t>
            </a:r>
          </a:p>
        </p:txBody>
      </p:sp>
      <p:sp>
        <p:nvSpPr>
          <p:cNvPr id="29" name="stage-b-5">
            <a:extLst xmlns:a="http://schemas.openxmlformats.org/drawingml/2006/main">
              <a:ext uri="{FF2B5EF4-FFF2-40B4-BE49-F238E27FC236}">
                <a16:creationId xmlns:a16="http://schemas.microsoft.com/office/drawing/2014/main" id="{FB39A034-DD1C-4DAC-B751-8B7670183D8A}"/>
              </a:ext>
            </a:extLst>
          </p:cNvPr>
          <p:cNvSpPr>
            <a:spLocks xmlns:a="http://schemas.openxmlformats.org/drawingml/2006/main" noGrp="1"/>
          </p:cNvSpPr>
          <p:nvPr/>
        </p:nvSpPr>
        <p:spPr>
          <a:xfrm xmlns:a="http://schemas.openxmlformats.org/drawingml/2006/main">
            <a:off x="10648950" y="4143375"/>
            <a:ext cx="15430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5E6773"/>
                </a:solidFill>
                <a:latin typeface="Arial"/>
                <a:ea typeface="Arial"/>
                <a:cs typeface="Arial"/>
              </a:defRPr>
            </a:pPr>
            <a:r>
              <a:rPr sz="1200" b="0">
                <a:solidFill>
                  <a:srgbClr val="5E6773"/>
                </a:solidFill>
                <a:latin typeface="Arial"/>
                <a:ea typeface="Arial"/>
                <a:cs typeface="Arial"/>
              </a:rPr>
              <a:t>Agent chooses post, apply, or escalate.</a:t>
            </a:r>
          </a:p>
        </p:txBody>
      </p:sp>
      <p:sp>
        <p:nvSpPr>
          <p:cNvPr id="30" name="workflow-rule">
            <a:extLst xmlns:a="http://schemas.openxmlformats.org/drawingml/2006/main">
              <a:ext uri="{FF2B5EF4-FFF2-40B4-BE49-F238E27FC236}">
                <a16:creationId xmlns:a16="http://schemas.microsoft.com/office/drawing/2014/main" id="{75F281C4-0D55-44FE-94B3-944255846025}"/>
              </a:ext>
            </a:extLst>
          </p:cNvPr>
          <p:cNvSpPr>
            <a:spLocks xmlns:a="http://schemas.openxmlformats.org/drawingml/2006/main" noGrp="1"/>
          </p:cNvSpPr>
          <p:nvPr/>
        </p:nvSpPr>
        <p:spPr>
          <a:xfrm xmlns:a="http://schemas.openxmlformats.org/drawingml/2006/main">
            <a:off x="400050" y="5619750"/>
            <a:ext cx="1104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0000"/>
                </a:solidFill>
                <a:latin typeface="Arial"/>
                <a:ea typeface="Arial"/>
                <a:cs typeface="Arial"/>
              </a:defRPr>
            </a:pPr>
            <a:r>
              <a:rPr sz="1650" b="1">
                <a:solidFill>
                  <a:srgbClr val="000000"/>
                </a:solidFill>
                <a:latin typeface="Arial"/>
                <a:ea typeface="Arial"/>
                <a:cs typeface="Arial"/>
              </a:rPr>
              <a:t>Every model action is schema-valid, allow-listed, audited, and blocked by deterministic guards.</a:t>
            </a:r>
          </a:p>
        </p:txBody>
      </p:sp>
    </p:spTree>
    <p:extLst>
      <p:ext uri="{BB962C8B-B14F-4D97-AF65-F5344CB8AC3E}">
        <p14:creationId xmlns:p14="http://schemas.microsoft.com/office/powerpoint/2010/main" val="7503810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5">
            <a:extLst xmlns:a="http://schemas.openxmlformats.org/drawingml/2006/main">
              <a:ext uri="{FF2B5EF4-FFF2-40B4-BE49-F238E27FC236}">
                <a16:creationId xmlns:a16="http://schemas.microsoft.com/office/drawing/2014/main" id="{C42D89E7-A9CD-418D-9154-937C8E5DEE59}"/>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5">
            <a:extLst xmlns:a="http://schemas.openxmlformats.org/drawingml/2006/main">
              <a:ext uri="{FF2B5EF4-FFF2-40B4-BE49-F238E27FC236}">
                <a16:creationId xmlns:a16="http://schemas.microsoft.com/office/drawing/2014/main" id="{27BE9CB2-623A-45F6-8A4E-D2B79115E115}"/>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25"/>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The match gate is deterministic, configurable, and boundary-tested</a:t>
            </a:r>
          </a:p>
        </p:txBody>
      </p:sp>
      <p:sp>
        <p:nvSpPr>
          <p:cNvPr id="3" name="rule-42-145">
            <a:extLst xmlns:a="http://schemas.openxmlformats.org/drawingml/2006/main">
              <a:ext uri="{FF2B5EF4-FFF2-40B4-BE49-F238E27FC236}">
                <a16:creationId xmlns:a16="http://schemas.microsoft.com/office/drawing/2014/main" id="{19EBA88D-1BD7-4423-9929-9E7AEBDE4733}"/>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5">
            <a:extLst xmlns:a="http://schemas.openxmlformats.org/drawingml/2006/main">
              <a:ext uri="{FF2B5EF4-FFF2-40B4-BE49-F238E27FC236}">
                <a16:creationId xmlns:a16="http://schemas.microsoft.com/office/drawing/2014/main" id="{2D25D956-E948-496C-94C3-9731A145D986}"/>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05</a:t>
            </a:r>
          </a:p>
        </p:txBody>
      </p:sp>
      <p:sp>
        <p:nvSpPr>
          <p:cNvPr id="5" name="twoway-k">
            <a:extLst xmlns:a="http://schemas.openxmlformats.org/drawingml/2006/main">
              <a:ext uri="{FF2B5EF4-FFF2-40B4-BE49-F238E27FC236}">
                <a16:creationId xmlns:a16="http://schemas.microsoft.com/office/drawing/2014/main" id="{B6F8A3FC-FEC7-4E7D-BC98-C9C0F7EF982A}"/>
              </a:ext>
            </a:extLst>
          </p:cNvPr>
          <p:cNvSpPr>
            <a:spLocks xmlns:a="http://schemas.openxmlformats.org/drawingml/2006/main" noGrp="1"/>
          </p:cNvSpPr>
          <p:nvPr/>
        </p:nvSpPr>
        <p:spPr>
          <a:xfrm xmlns:a="http://schemas.openxmlformats.org/drawingml/2006/main">
            <a:off x="400050" y="179070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2-WAY</a:t>
            </a:r>
          </a:p>
        </p:txBody>
      </p:sp>
      <p:sp>
        <p:nvSpPr>
          <p:cNvPr id="6" name="twoway-h">
            <a:extLst xmlns:a="http://schemas.openxmlformats.org/drawingml/2006/main">
              <a:ext uri="{FF2B5EF4-FFF2-40B4-BE49-F238E27FC236}">
                <a16:creationId xmlns:a16="http://schemas.microsoft.com/office/drawing/2014/main" id="{3A354FBA-80AB-4D71-9A2F-198CC40A5B1C}"/>
              </a:ext>
            </a:extLst>
          </p:cNvPr>
          <p:cNvSpPr>
            <a:spLocks xmlns:a="http://schemas.openxmlformats.org/drawingml/2006/main" noGrp="1"/>
          </p:cNvSpPr>
          <p:nvPr/>
        </p:nvSpPr>
        <p:spPr>
          <a:xfrm xmlns:a="http://schemas.openxmlformats.org/drawingml/2006/main">
            <a:off x="400050" y="219075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1">
                <a:solidFill>
                  <a:srgbClr val="000000"/>
                </a:solidFill>
                <a:latin typeface="Arial"/>
                <a:ea typeface="Arial"/>
                <a:cs typeface="Arial"/>
              </a:defRPr>
            </a:pPr>
            <a:r>
              <a:rPr sz="2325" b="1">
                <a:solidFill>
                  <a:srgbClr val="000000"/>
                </a:solidFill>
                <a:latin typeface="Arial"/>
                <a:ea typeface="Arial"/>
                <a:cs typeface="Arial"/>
              </a:rPr>
              <a:t>Invoice ↔ PO</a:t>
            </a:r>
          </a:p>
        </p:txBody>
      </p:sp>
      <p:sp>
        <p:nvSpPr>
          <p:cNvPr id="7" name="twoway-b">
            <a:extLst xmlns:a="http://schemas.openxmlformats.org/drawingml/2006/main">
              <a:ext uri="{FF2B5EF4-FFF2-40B4-BE49-F238E27FC236}">
                <a16:creationId xmlns:a16="http://schemas.microsoft.com/office/drawing/2014/main" id="{B516248B-3828-498E-96A2-8E3FED16AE73}"/>
              </a:ext>
            </a:extLst>
          </p:cNvPr>
          <p:cNvSpPr>
            <a:spLocks xmlns:a="http://schemas.openxmlformats.org/drawingml/2006/main" noGrp="1"/>
          </p:cNvSpPr>
          <p:nvPr/>
        </p:nvSpPr>
        <p:spPr>
          <a:xfrm xmlns:a="http://schemas.openxmlformats.org/drawingml/2006/main">
            <a:off x="400050" y="2914650"/>
            <a:ext cx="47625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Vendor · currency · line mapping · unit price · partial quantity · arithmetic · tax / freight · duplicate</a:t>
            </a:r>
          </a:p>
        </p:txBody>
      </p:sp>
      <p:sp>
        <p:nvSpPr>
          <p:cNvPr id="8" name="rule-630-180">
            <a:extLst xmlns:a="http://schemas.openxmlformats.org/drawingml/2006/main">
              <a:ext uri="{FF2B5EF4-FFF2-40B4-BE49-F238E27FC236}">
                <a16:creationId xmlns:a16="http://schemas.microsoft.com/office/drawing/2014/main" id="{719CA362-E64E-4B9C-9622-809860412F88}"/>
              </a:ext>
            </a:extLst>
          </p:cNvPr>
          <p:cNvSpPr>
            <a:spLocks xmlns:a="http://schemas.openxmlformats.org/drawingml/2006/main" noGrp="1"/>
          </p:cNvSpPr>
          <p:nvPr/>
        </p:nvSpPr>
        <p:spPr>
          <a:xfrm xmlns:a="http://schemas.openxmlformats.org/drawingml/2006/main">
            <a:off x="6000750" y="1714500"/>
            <a:ext cx="19050" cy="400050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threeway-k">
            <a:extLst xmlns:a="http://schemas.openxmlformats.org/drawingml/2006/main">
              <a:ext uri="{FF2B5EF4-FFF2-40B4-BE49-F238E27FC236}">
                <a16:creationId xmlns:a16="http://schemas.microsoft.com/office/drawing/2014/main" id="{31627BE4-BBC5-4C90-AE78-81EA622148C5}"/>
              </a:ext>
            </a:extLst>
          </p:cNvPr>
          <p:cNvSpPr>
            <a:spLocks xmlns:a="http://schemas.openxmlformats.org/drawingml/2006/main" noGrp="1"/>
          </p:cNvSpPr>
          <p:nvPr/>
        </p:nvSpPr>
        <p:spPr>
          <a:xfrm xmlns:a="http://schemas.openxmlformats.org/drawingml/2006/main">
            <a:off x="6572250" y="1790700"/>
            <a:ext cx="152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F7D58"/>
                </a:solidFill>
                <a:latin typeface="Arial"/>
                <a:ea typeface="Arial"/>
                <a:cs typeface="Arial"/>
              </a:defRPr>
            </a:pPr>
            <a:r>
              <a:rPr sz="1350" b="1">
                <a:solidFill>
                  <a:srgbClr val="2F7D58"/>
                </a:solidFill>
                <a:latin typeface="Arial"/>
                <a:ea typeface="Arial"/>
                <a:cs typeface="Arial"/>
              </a:rPr>
              <a:t>3-WAY</a:t>
            </a:r>
          </a:p>
        </p:txBody>
      </p:sp>
      <p:sp>
        <p:nvSpPr>
          <p:cNvPr id="10" name="threeway-h">
            <a:extLst xmlns:a="http://schemas.openxmlformats.org/drawingml/2006/main">
              <a:ext uri="{FF2B5EF4-FFF2-40B4-BE49-F238E27FC236}">
                <a16:creationId xmlns:a16="http://schemas.microsoft.com/office/drawing/2014/main" id="{8FDB7DBB-0ADC-4A56-AA8E-EC69B7536FEC}"/>
              </a:ext>
            </a:extLst>
          </p:cNvPr>
          <p:cNvSpPr>
            <a:spLocks xmlns:a="http://schemas.openxmlformats.org/drawingml/2006/main" noGrp="1"/>
          </p:cNvSpPr>
          <p:nvPr/>
        </p:nvSpPr>
        <p:spPr>
          <a:xfrm xmlns:a="http://schemas.openxmlformats.org/drawingml/2006/main">
            <a:off x="6572250" y="2190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1">
                <a:solidFill>
                  <a:srgbClr val="000000"/>
                </a:solidFill>
                <a:latin typeface="Arial"/>
                <a:ea typeface="Arial"/>
                <a:cs typeface="Arial"/>
              </a:defRPr>
            </a:pPr>
            <a:r>
              <a:rPr sz="2325" b="1">
                <a:solidFill>
                  <a:srgbClr val="000000"/>
                </a:solidFill>
                <a:latin typeface="Arial"/>
                <a:ea typeface="Arial"/>
                <a:cs typeface="Arial"/>
              </a:rPr>
              <a:t>Invoice ↔ PO ↔ receipt</a:t>
            </a:r>
          </a:p>
        </p:txBody>
      </p:sp>
      <p:sp>
        <p:nvSpPr>
          <p:cNvPr id="11" name="threeway-b">
            <a:extLst xmlns:a="http://schemas.openxmlformats.org/drawingml/2006/main">
              <a:ext uri="{FF2B5EF4-FFF2-40B4-BE49-F238E27FC236}">
                <a16:creationId xmlns:a16="http://schemas.microsoft.com/office/drawing/2014/main" id="{62A44F04-6074-4E8A-8BF7-F2F7640A6F7B}"/>
              </a:ext>
            </a:extLst>
          </p:cNvPr>
          <p:cNvSpPr>
            <a:spLocks xmlns:a="http://schemas.openxmlformats.org/drawingml/2006/main" noGrp="1"/>
          </p:cNvSpPr>
          <p:nvPr/>
        </p:nvSpPr>
        <p:spPr>
          <a:xfrm xmlns:a="http://schemas.openxmlformats.org/drawingml/2006/main">
            <a:off x="6572250" y="2914650"/>
            <a:ext cx="47625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Every 2-way control, plus received quantity must cover invoiced quantity.</a:t>
            </a:r>
          </a:p>
        </p:txBody>
      </p:sp>
      <p:sp>
        <p:nvSpPr>
          <p:cNvPr id="12" name="tol-panel">
            <a:extLst xmlns:a="http://schemas.openxmlformats.org/drawingml/2006/main">
              <a:ext uri="{FF2B5EF4-FFF2-40B4-BE49-F238E27FC236}">
                <a16:creationId xmlns:a16="http://schemas.microsoft.com/office/drawing/2014/main" id="{D39397B2-02C8-411D-908E-81806B1C7858}"/>
              </a:ext>
            </a:extLst>
          </p:cNvPr>
          <p:cNvSpPr>
            <a:spLocks xmlns:a="http://schemas.openxmlformats.org/drawingml/2006/main" noGrp="1"/>
          </p:cNvSpPr>
          <p:nvPr/>
        </p:nvSpPr>
        <p:spPr>
          <a:xfrm xmlns:a="http://schemas.openxmlformats.org/drawingml/2006/main">
            <a:off x="400050" y="4476750"/>
            <a:ext cx="11125200" cy="1162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3" name="tol-values">
            <a:extLst xmlns:a="http://schemas.openxmlformats.org/drawingml/2006/main">
              <a:ext uri="{FF2B5EF4-FFF2-40B4-BE49-F238E27FC236}">
                <a16:creationId xmlns:a16="http://schemas.microsoft.com/office/drawing/2014/main" id="{982F2C25-2263-4B1E-B659-94EED6FD539B}"/>
              </a:ext>
            </a:extLst>
          </p:cNvPr>
          <p:cNvSpPr>
            <a:spLocks xmlns:a="http://schemas.openxmlformats.org/drawingml/2006/main" noGrp="1"/>
          </p:cNvSpPr>
          <p:nvPr/>
        </p:nvSpPr>
        <p:spPr>
          <a:xfrm xmlns:a="http://schemas.openxmlformats.org/drawingml/2006/main">
            <a:off x="666750" y="4686300"/>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2.00%</a:t>
            </a:r>
          </a:p>
        </p:txBody>
      </p:sp>
      <p:sp>
        <p:nvSpPr>
          <p:cNvPr id="14" name="tol-price">
            <a:extLst xmlns:a="http://schemas.openxmlformats.org/drawingml/2006/main">
              <a:ext uri="{FF2B5EF4-FFF2-40B4-BE49-F238E27FC236}">
                <a16:creationId xmlns:a16="http://schemas.microsoft.com/office/drawing/2014/main" id="{B00290DD-31A8-4979-A31A-733FD14E9259}"/>
              </a:ext>
            </a:extLst>
          </p:cNvPr>
          <p:cNvSpPr>
            <a:spLocks xmlns:a="http://schemas.openxmlformats.org/drawingml/2006/main" noGrp="1"/>
          </p:cNvSpPr>
          <p:nvPr/>
        </p:nvSpPr>
        <p:spPr>
          <a:xfrm xmlns:a="http://schemas.openxmlformats.org/drawingml/2006/main">
            <a:off x="666750" y="52197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price tolerance</a:t>
            </a:r>
          </a:p>
        </p:txBody>
      </p:sp>
      <p:sp>
        <p:nvSpPr>
          <p:cNvPr id="15" name="tol-q-value">
            <a:extLst xmlns:a="http://schemas.openxmlformats.org/drawingml/2006/main">
              <a:ext uri="{FF2B5EF4-FFF2-40B4-BE49-F238E27FC236}">
                <a16:creationId xmlns:a16="http://schemas.microsoft.com/office/drawing/2014/main" id="{2D2F72E1-3B4A-4079-AE63-0C876B098FEE}"/>
              </a:ext>
            </a:extLst>
          </p:cNvPr>
          <p:cNvSpPr>
            <a:spLocks xmlns:a="http://schemas.openxmlformats.org/drawingml/2006/main" noGrp="1"/>
          </p:cNvSpPr>
          <p:nvPr/>
        </p:nvSpPr>
        <p:spPr>
          <a:xfrm xmlns:a="http://schemas.openxmlformats.org/drawingml/2006/main">
            <a:off x="3905250" y="4686300"/>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0.00%</a:t>
            </a:r>
          </a:p>
        </p:txBody>
      </p:sp>
      <p:sp>
        <p:nvSpPr>
          <p:cNvPr id="16" name="tol-q">
            <a:extLst xmlns:a="http://schemas.openxmlformats.org/drawingml/2006/main">
              <a:ext uri="{FF2B5EF4-FFF2-40B4-BE49-F238E27FC236}">
                <a16:creationId xmlns:a16="http://schemas.microsoft.com/office/drawing/2014/main" id="{B3C17762-AD07-4693-AFBA-A006C170E6E1}"/>
              </a:ext>
            </a:extLst>
          </p:cNvPr>
          <p:cNvSpPr>
            <a:spLocks xmlns:a="http://schemas.openxmlformats.org/drawingml/2006/main" noGrp="1"/>
          </p:cNvSpPr>
          <p:nvPr/>
        </p:nvSpPr>
        <p:spPr>
          <a:xfrm xmlns:a="http://schemas.openxmlformats.org/drawingml/2006/main">
            <a:off x="3905250" y="52197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quantity tolerance</a:t>
            </a:r>
          </a:p>
        </p:txBody>
      </p:sp>
      <p:sp>
        <p:nvSpPr>
          <p:cNvPr id="17" name="tol-t-value">
            <a:extLst xmlns:a="http://schemas.openxmlformats.org/drawingml/2006/main">
              <a:ext uri="{FF2B5EF4-FFF2-40B4-BE49-F238E27FC236}">
                <a16:creationId xmlns:a16="http://schemas.microsoft.com/office/drawing/2014/main" id="{FD69A628-7383-4734-BBF3-D3EE5F8725CB}"/>
              </a:ext>
            </a:extLst>
          </p:cNvPr>
          <p:cNvSpPr>
            <a:spLocks xmlns:a="http://schemas.openxmlformats.org/drawingml/2006/main" noGrp="1"/>
          </p:cNvSpPr>
          <p:nvPr/>
        </p:nvSpPr>
        <p:spPr>
          <a:xfrm xmlns:a="http://schemas.openxmlformats.org/drawingml/2006/main">
            <a:off x="7143750" y="4686300"/>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2.00%</a:t>
            </a:r>
          </a:p>
        </p:txBody>
      </p:sp>
      <p:sp>
        <p:nvSpPr>
          <p:cNvPr id="18" name="tol-t">
            <a:extLst xmlns:a="http://schemas.openxmlformats.org/drawingml/2006/main">
              <a:ext uri="{FF2B5EF4-FFF2-40B4-BE49-F238E27FC236}">
                <a16:creationId xmlns:a16="http://schemas.microsoft.com/office/drawing/2014/main" id="{508EBAA5-F803-4458-A396-E0738F5EC3D3}"/>
              </a:ext>
            </a:extLst>
          </p:cNvPr>
          <p:cNvSpPr>
            <a:spLocks xmlns:a="http://schemas.openxmlformats.org/drawingml/2006/main" noGrp="1"/>
          </p:cNvSpPr>
          <p:nvPr/>
        </p:nvSpPr>
        <p:spPr>
          <a:xfrm xmlns:a="http://schemas.openxmlformats.org/drawingml/2006/main">
            <a:off x="7143750" y="52197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total tolerance</a:t>
            </a:r>
          </a:p>
        </p:txBody>
      </p:sp>
      <p:sp>
        <p:nvSpPr>
          <p:cNvPr id="19" name="boundary">
            <a:extLst xmlns:a="http://schemas.openxmlformats.org/drawingml/2006/main">
              <a:ext uri="{FF2B5EF4-FFF2-40B4-BE49-F238E27FC236}">
                <a16:creationId xmlns:a16="http://schemas.microsoft.com/office/drawing/2014/main" id="{759CFC78-89D9-46E7-A5F0-5A06A6E35DA2}"/>
              </a:ext>
            </a:extLst>
          </p:cNvPr>
          <p:cNvSpPr>
            <a:spLocks xmlns:a="http://schemas.openxmlformats.org/drawingml/2006/main" noGrp="1"/>
          </p:cNvSpPr>
          <p:nvPr/>
        </p:nvSpPr>
        <p:spPr>
          <a:xfrm xmlns:a="http://schemas.openxmlformats.org/drawingml/2006/main">
            <a:off x="9334500" y="4762500"/>
            <a:ext cx="1905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Boundary is accepted; 2.01% is blocked.</a:t>
            </a:r>
          </a:p>
        </p:txBody>
      </p:sp>
    </p:spTree>
    <p:extLst>
      <p:ext uri="{BB962C8B-B14F-4D97-AF65-F5344CB8AC3E}">
        <p14:creationId xmlns:p14="http://schemas.microsoft.com/office/powerpoint/2010/main" val="21083136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6">
            <a:extLst xmlns:a="http://schemas.openxmlformats.org/drawingml/2006/main">
              <a:ext uri="{FF2B5EF4-FFF2-40B4-BE49-F238E27FC236}">
                <a16:creationId xmlns:a16="http://schemas.microsoft.com/office/drawing/2014/main" id="{8DC70536-056D-4E58-97FE-5E7E5CAC4D1E}"/>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6">
            <a:extLst xmlns:a="http://schemas.openxmlformats.org/drawingml/2006/main">
              <a:ext uri="{FF2B5EF4-FFF2-40B4-BE49-F238E27FC236}">
                <a16:creationId xmlns:a16="http://schemas.microsoft.com/office/drawing/2014/main" id="{CBE017E1-06E0-419F-B507-DFBC259CFFC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One exception desk preserves AP and AR decision context</a:t>
            </a:r>
          </a:p>
        </p:txBody>
      </p:sp>
      <p:sp>
        <p:nvSpPr>
          <p:cNvPr id="3" name="rule-42-145">
            <a:extLst xmlns:a="http://schemas.openxmlformats.org/drawingml/2006/main">
              <a:ext uri="{FF2B5EF4-FFF2-40B4-BE49-F238E27FC236}">
                <a16:creationId xmlns:a16="http://schemas.microsoft.com/office/drawing/2014/main" id="{D6A9A098-2CBE-4B49-9A2A-2867B3C15C89}"/>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6">
            <a:extLst xmlns:a="http://schemas.openxmlformats.org/drawingml/2006/main">
              <a:ext uri="{FF2B5EF4-FFF2-40B4-BE49-F238E27FC236}">
                <a16:creationId xmlns:a16="http://schemas.microsoft.com/office/drawing/2014/main" id="{CDD0C110-A1EB-4F8F-B94A-38D03B0C3031}"/>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06</a:t>
            </a:r>
          </a:p>
        </p:txBody>
      </p:sp>
      <p:sp>
        <p:nvSpPr>
          <p:cNvPr id="5" name="exception-title">
            <a:extLst xmlns:a="http://schemas.openxmlformats.org/drawingml/2006/main">
              <a:ext uri="{FF2B5EF4-FFF2-40B4-BE49-F238E27FC236}">
                <a16:creationId xmlns:a16="http://schemas.microsoft.com/office/drawing/2014/main" id="{86E466AA-4979-4B72-A0E7-98C4EC26BF10}"/>
              </a:ext>
            </a:extLst>
          </p:cNvPr>
          <p:cNvSpPr>
            <a:spLocks xmlns:a="http://schemas.openxmlformats.org/drawingml/2006/main" noGrp="1"/>
          </p:cNvSpPr>
          <p:nvPr/>
        </p:nvSpPr>
        <p:spPr>
          <a:xfrm xmlns:a="http://schemas.openxmlformats.org/drawingml/2006/main">
            <a:off x="400050" y="185737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000000"/>
                </a:solidFill>
                <a:latin typeface="Arial"/>
                <a:ea typeface="Arial"/>
                <a:cs typeface="Arial"/>
              </a:defRPr>
            </a:pPr>
            <a:r>
              <a:rPr sz="1950" b="1">
                <a:solidFill>
                  <a:srgbClr val="000000"/>
                </a:solidFill>
                <a:latin typeface="Arial"/>
                <a:ea typeface="Arial"/>
                <a:cs typeface="Arial"/>
              </a:rPr>
              <a:t>Domain-created exception</a:t>
            </a:r>
          </a:p>
        </p:txBody>
      </p:sp>
      <p:sp>
        <p:nvSpPr>
          <p:cNvPr id="6" name="rule-42-268">
            <a:extLst xmlns:a="http://schemas.openxmlformats.org/drawingml/2006/main">
              <a:ext uri="{FF2B5EF4-FFF2-40B4-BE49-F238E27FC236}">
                <a16:creationId xmlns:a16="http://schemas.microsoft.com/office/drawing/2014/main" id="{62C6744F-CBA1-499E-ABB0-B13C0B57F065}"/>
              </a:ext>
            </a:extLst>
          </p:cNvPr>
          <p:cNvSpPr>
            <a:spLocks xmlns:a="http://schemas.openxmlformats.org/drawingml/2006/main" noGrp="1"/>
          </p:cNvSpPr>
          <p:nvPr/>
        </p:nvSpPr>
        <p:spPr>
          <a:xfrm xmlns:a="http://schemas.openxmlformats.org/drawingml/2006/main">
            <a:off x="400050" y="2552700"/>
            <a:ext cx="4953000" cy="38100"/>
          </a:xfrm>
          <a:prstGeom xmlns:a="http://schemas.openxmlformats.org/drawingml/2006/main" prst="rect">
            <a:avLst/>
          </a:prstGeom>
          <a:solidFill xmlns:a="http://schemas.openxmlformats.org/drawingml/2006/main">
            <a:srgbClr val="B64A45"/>
          </a:solidFill>
          <a:ln xmlns:a="http://schemas.openxmlformats.org/drawingml/2006/main" w="0">
            <a:noFill/>
            <a:prstDash val="solid"/>
          </a:ln>
        </p:spPr>
      </p:sp>
      <p:sp>
        <p:nvSpPr>
          <p:cNvPr id="7" name="ex-0">
            <a:extLst xmlns:a="http://schemas.openxmlformats.org/drawingml/2006/main">
              <a:ext uri="{FF2B5EF4-FFF2-40B4-BE49-F238E27FC236}">
                <a16:creationId xmlns:a16="http://schemas.microsoft.com/office/drawing/2014/main" id="{ADC5C06B-1546-4903-8DA7-6E4FCC21966A}"/>
              </a:ext>
            </a:extLst>
          </p:cNvPr>
          <p:cNvSpPr>
            <a:spLocks xmlns:a="http://schemas.openxmlformats.org/drawingml/2006/main" noGrp="1"/>
          </p:cNvSpPr>
          <p:nvPr/>
        </p:nvSpPr>
        <p:spPr>
          <a:xfrm xmlns:a="http://schemas.openxmlformats.org/drawingml/2006/main">
            <a:off x="400050" y="2686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DUPLICATE_INVOICE</a:t>
            </a:r>
          </a:p>
        </p:txBody>
      </p:sp>
      <p:sp>
        <p:nvSpPr>
          <p:cNvPr id="8" name="rule-42-334">
            <a:extLst xmlns:a="http://schemas.openxmlformats.org/drawingml/2006/main">
              <a:ext uri="{FF2B5EF4-FFF2-40B4-BE49-F238E27FC236}">
                <a16:creationId xmlns:a16="http://schemas.microsoft.com/office/drawing/2014/main" id="{E2BAAD7D-CDDE-4AEB-838C-828701068CD8}"/>
              </a:ext>
            </a:extLst>
          </p:cNvPr>
          <p:cNvSpPr>
            <a:spLocks xmlns:a="http://schemas.openxmlformats.org/drawingml/2006/main" noGrp="1"/>
          </p:cNvSpPr>
          <p:nvPr/>
        </p:nvSpPr>
        <p:spPr>
          <a:xfrm xmlns:a="http://schemas.openxmlformats.org/drawingml/2006/main">
            <a:off x="400050" y="3181350"/>
            <a:ext cx="49530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ex-1">
            <a:extLst xmlns:a="http://schemas.openxmlformats.org/drawingml/2006/main">
              <a:ext uri="{FF2B5EF4-FFF2-40B4-BE49-F238E27FC236}">
                <a16:creationId xmlns:a16="http://schemas.microsoft.com/office/drawing/2014/main" id="{F18C2A43-5837-48AC-BED9-A36DEC753806}"/>
              </a:ext>
            </a:extLst>
          </p:cNvPr>
          <p:cNvSpPr>
            <a:spLocks xmlns:a="http://schemas.openxmlformats.org/drawingml/2006/main" noGrp="1"/>
          </p:cNvSpPr>
          <p:nvPr/>
        </p:nvSpPr>
        <p:spPr>
          <a:xfrm xmlns:a="http://schemas.openxmlformats.org/drawingml/2006/main">
            <a:off x="400050" y="331470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000000"/>
                </a:solidFill>
                <a:latin typeface="Arial"/>
                <a:ea typeface="Arial"/>
                <a:cs typeface="Arial"/>
              </a:defRPr>
            </a:pPr>
            <a:r>
              <a:rPr sz="1350" b="0">
                <a:solidFill>
                  <a:srgbClr val="000000"/>
                </a:solidFill>
                <a:latin typeface="Arial"/>
                <a:ea typeface="Arial"/>
                <a:cs typeface="Arial"/>
              </a:rPr>
              <a:t>MISSING_PO</a:t>
            </a:r>
          </a:p>
        </p:txBody>
      </p:sp>
      <p:sp>
        <p:nvSpPr>
          <p:cNvPr id="10" name="rule-42-400">
            <a:extLst xmlns:a="http://schemas.openxmlformats.org/drawingml/2006/main">
              <a:ext uri="{FF2B5EF4-FFF2-40B4-BE49-F238E27FC236}">
                <a16:creationId xmlns:a16="http://schemas.microsoft.com/office/drawing/2014/main" id="{32E98DA3-5066-4C3A-9F2C-C725386AC970}"/>
              </a:ext>
            </a:extLst>
          </p:cNvPr>
          <p:cNvSpPr>
            <a:spLocks xmlns:a="http://schemas.openxmlformats.org/drawingml/2006/main" noGrp="1"/>
          </p:cNvSpPr>
          <p:nvPr/>
        </p:nvSpPr>
        <p:spPr>
          <a:xfrm xmlns:a="http://schemas.openxmlformats.org/drawingml/2006/main">
            <a:off x="400050" y="3810000"/>
            <a:ext cx="49530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1" name="ex-2">
            <a:extLst xmlns:a="http://schemas.openxmlformats.org/drawingml/2006/main">
              <a:ext uri="{FF2B5EF4-FFF2-40B4-BE49-F238E27FC236}">
                <a16:creationId xmlns:a16="http://schemas.microsoft.com/office/drawing/2014/main" id="{27C46C2C-F22A-4030-99CE-EFA748214876}"/>
              </a:ext>
            </a:extLst>
          </p:cNvPr>
          <p:cNvSpPr>
            <a:spLocks xmlns:a="http://schemas.openxmlformats.org/drawingml/2006/main" noGrp="1"/>
          </p:cNvSpPr>
          <p:nvPr/>
        </p:nvSpPr>
        <p:spPr>
          <a:xfrm xmlns:a="http://schemas.openxmlformats.org/drawingml/2006/main">
            <a:off x="400050" y="39433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000000"/>
                </a:solidFill>
                <a:latin typeface="Arial"/>
                <a:ea typeface="Arial"/>
                <a:cs typeface="Arial"/>
              </a:defRPr>
            </a:pPr>
            <a:r>
              <a:rPr sz="1350" b="0">
                <a:solidFill>
                  <a:srgbClr val="000000"/>
                </a:solidFill>
                <a:latin typeface="Arial"/>
                <a:ea typeface="Arial"/>
                <a:cs typeface="Arial"/>
              </a:rPr>
              <a:t>AP_PRICE / QTY / ARITHMETIC</a:t>
            </a:r>
          </a:p>
        </p:txBody>
      </p:sp>
      <p:sp>
        <p:nvSpPr>
          <p:cNvPr id="12" name="rule-42-466">
            <a:extLst xmlns:a="http://schemas.openxmlformats.org/drawingml/2006/main">
              <a:ext uri="{FF2B5EF4-FFF2-40B4-BE49-F238E27FC236}">
                <a16:creationId xmlns:a16="http://schemas.microsoft.com/office/drawing/2014/main" id="{87F2CEDB-C3A3-45D3-9D9E-7C7CCC41DFF0}"/>
              </a:ext>
            </a:extLst>
          </p:cNvPr>
          <p:cNvSpPr>
            <a:spLocks xmlns:a="http://schemas.openxmlformats.org/drawingml/2006/main" noGrp="1"/>
          </p:cNvSpPr>
          <p:nvPr/>
        </p:nvSpPr>
        <p:spPr>
          <a:xfrm xmlns:a="http://schemas.openxmlformats.org/drawingml/2006/main">
            <a:off x="400050" y="4438650"/>
            <a:ext cx="49530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ex-3">
            <a:extLst xmlns:a="http://schemas.openxmlformats.org/drawingml/2006/main">
              <a:ext uri="{FF2B5EF4-FFF2-40B4-BE49-F238E27FC236}">
                <a16:creationId xmlns:a16="http://schemas.microsoft.com/office/drawing/2014/main" id="{1024D4F2-FC35-480D-B676-AEDE24049B9D}"/>
              </a:ext>
            </a:extLst>
          </p:cNvPr>
          <p:cNvSpPr>
            <a:spLocks xmlns:a="http://schemas.openxmlformats.org/drawingml/2006/main" noGrp="1"/>
          </p:cNvSpPr>
          <p:nvPr/>
        </p:nvSpPr>
        <p:spPr>
          <a:xfrm xmlns:a="http://schemas.openxmlformats.org/drawingml/2006/main">
            <a:off x="400050" y="457200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000000"/>
                </a:solidFill>
                <a:latin typeface="Arial"/>
                <a:ea typeface="Arial"/>
                <a:cs typeface="Arial"/>
              </a:defRPr>
            </a:pPr>
            <a:r>
              <a:rPr sz="1350" b="0">
                <a:solidFill>
                  <a:srgbClr val="000000"/>
                </a:solidFill>
                <a:latin typeface="Arial"/>
                <a:ea typeface="Arial"/>
                <a:cs typeface="Arial"/>
              </a:rPr>
              <a:t>AR_CURRENCY / AMOUNT / OPEN_ITEM</a:t>
            </a:r>
          </a:p>
        </p:txBody>
      </p:sp>
      <p:sp>
        <p:nvSpPr>
          <p:cNvPr id="14" name="human-title">
            <a:extLst xmlns:a="http://schemas.openxmlformats.org/drawingml/2006/main">
              <a:ext uri="{FF2B5EF4-FFF2-40B4-BE49-F238E27FC236}">
                <a16:creationId xmlns:a16="http://schemas.microsoft.com/office/drawing/2014/main" id="{84214F8A-C4A8-4C25-929C-A7426E5688D3}"/>
              </a:ext>
            </a:extLst>
          </p:cNvPr>
          <p:cNvSpPr>
            <a:spLocks xmlns:a="http://schemas.openxmlformats.org/drawingml/2006/main" noGrp="1"/>
          </p:cNvSpPr>
          <p:nvPr/>
        </p:nvSpPr>
        <p:spPr>
          <a:xfrm xmlns:a="http://schemas.openxmlformats.org/drawingml/2006/main">
            <a:off x="6572250" y="185737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000000"/>
                </a:solidFill>
                <a:latin typeface="Arial"/>
                <a:ea typeface="Arial"/>
                <a:cs typeface="Arial"/>
              </a:defRPr>
            </a:pPr>
            <a:r>
              <a:rPr sz="1950" b="1">
                <a:solidFill>
                  <a:srgbClr val="000000"/>
                </a:solidFill>
                <a:latin typeface="Arial"/>
                <a:ea typeface="Arial"/>
                <a:cs typeface="Arial"/>
              </a:rPr>
              <a:t>Named human decision</a:t>
            </a:r>
          </a:p>
        </p:txBody>
      </p:sp>
      <p:sp>
        <p:nvSpPr>
          <p:cNvPr id="15" name="human-panel">
            <a:extLst xmlns:a="http://schemas.openxmlformats.org/drawingml/2006/main">
              <a:ext uri="{FF2B5EF4-FFF2-40B4-BE49-F238E27FC236}">
                <a16:creationId xmlns:a16="http://schemas.microsoft.com/office/drawing/2014/main" id="{C87A6877-583F-4854-8E53-8EB276A4A671}"/>
              </a:ext>
            </a:extLst>
          </p:cNvPr>
          <p:cNvSpPr>
            <a:spLocks xmlns:a="http://schemas.openxmlformats.org/drawingml/2006/main" noGrp="1"/>
          </p:cNvSpPr>
          <p:nvPr/>
        </p:nvSpPr>
        <p:spPr>
          <a:xfrm xmlns:a="http://schemas.openxmlformats.org/drawingml/2006/main">
            <a:off x="6572250" y="2514600"/>
            <a:ext cx="4953000" cy="25717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6" name="human-action">
            <a:extLst xmlns:a="http://schemas.openxmlformats.org/drawingml/2006/main">
              <a:ext uri="{FF2B5EF4-FFF2-40B4-BE49-F238E27FC236}">
                <a16:creationId xmlns:a16="http://schemas.microsoft.com/office/drawing/2014/main" id="{B0B9799B-8823-4B95-B9C0-D2BA7F45F35E}"/>
              </a:ext>
            </a:extLst>
          </p:cNvPr>
          <p:cNvSpPr>
            <a:spLocks xmlns:a="http://schemas.openxmlformats.org/drawingml/2006/main" noGrp="1"/>
          </p:cNvSpPr>
          <p:nvPr/>
        </p:nvSpPr>
        <p:spPr>
          <a:xfrm xmlns:a="http://schemas.openxmlformats.org/drawingml/2006/main">
            <a:off x="6838950" y="2781300"/>
            <a:ext cx="438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Domain-safe actions</a:t>
            </a:r>
          </a:p>
        </p:txBody>
      </p:sp>
      <p:sp>
        <p:nvSpPr>
          <p:cNvPr id="17" name="human-desc">
            <a:extLst xmlns:a="http://schemas.openxmlformats.org/drawingml/2006/main">
              <a:ext uri="{FF2B5EF4-FFF2-40B4-BE49-F238E27FC236}">
                <a16:creationId xmlns:a16="http://schemas.microsoft.com/office/drawing/2014/main" id="{E45C355E-DC33-45CE-BCEC-212402C4D441}"/>
              </a:ext>
            </a:extLst>
          </p:cNvPr>
          <p:cNvSpPr>
            <a:spLocks xmlns:a="http://schemas.openxmlformats.org/drawingml/2006/main" noGrp="1"/>
          </p:cNvSpPr>
          <p:nvPr/>
        </p:nvSpPr>
        <p:spPr>
          <a:xfrm xmlns:a="http://schemas.openxmlformats.org/drawingml/2006/main">
            <a:off x="6838950" y="3409950"/>
            <a:ext cx="4286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AP follows approve/reject policy. AR allows correction and re-match, rejection, or recorded manual resolution.</a:t>
            </a:r>
          </a:p>
        </p:txBody>
      </p:sp>
      <p:sp>
        <p:nvSpPr>
          <p:cNvPr id="18" name="human-proof">
            <a:extLst xmlns:a="http://schemas.openxmlformats.org/drawingml/2006/main">
              <a:ext uri="{FF2B5EF4-FFF2-40B4-BE49-F238E27FC236}">
                <a16:creationId xmlns:a16="http://schemas.microsoft.com/office/drawing/2014/main" id="{07AA2C3A-5C23-4AEF-B7C8-BF8F7E43E129}"/>
              </a:ext>
            </a:extLst>
          </p:cNvPr>
          <p:cNvSpPr>
            <a:spLocks xmlns:a="http://schemas.openxmlformats.org/drawingml/2006/main" noGrp="1"/>
          </p:cNvSpPr>
          <p:nvPr/>
        </p:nvSpPr>
        <p:spPr>
          <a:xfrm xmlns:a="http://schemas.openxmlformats.org/drawingml/2006/main">
            <a:off x="6838950" y="4552950"/>
            <a:ext cx="428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Invalid AR matches cannot be approved into cash</a:t>
            </a:r>
          </a:p>
        </p:txBody>
      </p:sp>
      <p:sp>
        <p:nvSpPr>
          <p:cNvPr id="19" name="exception-bottom">
            <a:extLst xmlns:a="http://schemas.openxmlformats.org/drawingml/2006/main">
              <a:ext uri="{FF2B5EF4-FFF2-40B4-BE49-F238E27FC236}">
                <a16:creationId xmlns:a16="http://schemas.microsoft.com/office/drawing/2014/main" id="{04F14F91-3D7E-440F-AB43-11543E7C1F69}"/>
              </a:ext>
            </a:extLst>
          </p:cNvPr>
          <p:cNvSpPr>
            <a:spLocks xmlns:a="http://schemas.openxmlformats.org/drawingml/2006/main" noGrp="1"/>
          </p:cNvSpPr>
          <p:nvPr/>
        </p:nvSpPr>
        <p:spPr>
          <a:xfrm xmlns:a="http://schemas.openxmlformats.org/drawingml/2006/main">
            <a:off x="400050" y="5619750"/>
            <a:ext cx="1112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Arial"/>
                <a:ea typeface="Arial"/>
                <a:cs typeface="Arial"/>
              </a:defRPr>
            </a:pPr>
            <a:r>
              <a:rPr sz="1575" b="1">
                <a:solidFill>
                  <a:srgbClr val="000000"/>
                </a:solidFill>
                <a:latin typeface="Arial"/>
                <a:ea typeface="Arial"/>
                <a:cs typeface="Arial"/>
              </a:rPr>
              <a:t>Every action retains the original variance, named actor, comment, and resulting state.</a:t>
            </a:r>
          </a:p>
        </p:txBody>
      </p:sp>
    </p:spTree>
    <p:extLst>
      <p:ext uri="{BB962C8B-B14F-4D97-AF65-F5344CB8AC3E}">
        <p14:creationId xmlns:p14="http://schemas.microsoft.com/office/powerpoint/2010/main" val="2346047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7">
            <a:extLst xmlns:a="http://schemas.openxmlformats.org/drawingml/2006/main">
              <a:ext uri="{FF2B5EF4-FFF2-40B4-BE49-F238E27FC236}">
                <a16:creationId xmlns:a16="http://schemas.microsoft.com/office/drawing/2014/main" id="{4EBEE1B5-A4E7-48F9-9104-627AB73F96B8}"/>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7">
            <a:extLst xmlns:a="http://schemas.openxmlformats.org/drawingml/2006/main">
              <a:ext uri="{FF2B5EF4-FFF2-40B4-BE49-F238E27FC236}">
                <a16:creationId xmlns:a16="http://schemas.microsoft.com/office/drawing/2014/main" id="{10F0817B-D0AA-4B2B-BA41-C431E90C137F}"/>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AR mirrors AP through a controlled agent subgraph</a:t>
            </a:r>
          </a:p>
        </p:txBody>
      </p:sp>
      <p:sp>
        <p:nvSpPr>
          <p:cNvPr id="3" name="rule-42-145">
            <a:extLst xmlns:a="http://schemas.openxmlformats.org/drawingml/2006/main">
              <a:ext uri="{FF2B5EF4-FFF2-40B4-BE49-F238E27FC236}">
                <a16:creationId xmlns:a16="http://schemas.microsoft.com/office/drawing/2014/main" id="{19C07495-D8CC-4DFC-BE00-D06DBAF54EC8}"/>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7">
            <a:extLst xmlns:a="http://schemas.openxmlformats.org/drawingml/2006/main">
              <a:ext uri="{FF2B5EF4-FFF2-40B4-BE49-F238E27FC236}">
                <a16:creationId xmlns:a16="http://schemas.microsoft.com/office/drawing/2014/main" id="{380405C1-DB10-4B35-8D15-1CC4A960D78B}"/>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07</a:t>
            </a:r>
          </a:p>
        </p:txBody>
      </p:sp>
      <p:sp>
        <p:nvSpPr>
          <p:cNvPr id="5" name="ap-label">
            <a:extLst xmlns:a="http://schemas.openxmlformats.org/drawingml/2006/main">
              <a:ext uri="{FF2B5EF4-FFF2-40B4-BE49-F238E27FC236}">
                <a16:creationId xmlns:a16="http://schemas.microsoft.com/office/drawing/2014/main" id="{16BB3D93-6281-41C9-8007-CF66C5972828}"/>
              </a:ext>
            </a:extLst>
          </p:cNvPr>
          <p:cNvSpPr>
            <a:spLocks xmlns:a="http://schemas.openxmlformats.org/drawingml/2006/main" noGrp="1"/>
          </p:cNvSpPr>
          <p:nvPr/>
        </p:nvSpPr>
        <p:spPr>
          <a:xfrm xmlns:a="http://schemas.openxmlformats.org/drawingml/2006/main">
            <a:off x="400050" y="1714500"/>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5E6773"/>
                </a:solidFill>
                <a:latin typeface="Arial"/>
                <a:ea typeface="Arial"/>
                <a:cs typeface="Arial"/>
              </a:defRPr>
            </a:pPr>
            <a:r>
              <a:rPr sz="1200" b="1">
                <a:solidFill>
                  <a:srgbClr val="5E6773"/>
                </a:solidFill>
                <a:latin typeface="Arial"/>
                <a:ea typeface="Arial"/>
                <a:cs typeface="Arial"/>
              </a:rPr>
              <a:t>ACCOUNTS PAYABLE</a:t>
            </a:r>
          </a:p>
        </p:txBody>
      </p:sp>
      <p:sp>
        <p:nvSpPr>
          <p:cNvPr id="6" name="ap-flow">
            <a:extLst xmlns:a="http://schemas.openxmlformats.org/drawingml/2006/main">
              <a:ext uri="{FF2B5EF4-FFF2-40B4-BE49-F238E27FC236}">
                <a16:creationId xmlns:a16="http://schemas.microsoft.com/office/drawing/2014/main" id="{CA02BC1F-923A-4CC9-8404-AAC21EF04D28}"/>
              </a:ext>
            </a:extLst>
          </p:cNvPr>
          <p:cNvSpPr>
            <a:spLocks xmlns:a="http://schemas.openxmlformats.org/drawingml/2006/main" noGrp="1"/>
          </p:cNvSpPr>
          <p:nvPr/>
        </p:nvSpPr>
        <p:spPr>
          <a:xfrm xmlns:a="http://schemas.openxmlformats.org/drawingml/2006/main">
            <a:off x="400050" y="2190750"/>
            <a:ext cx="4476750" cy="2667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txBody>
          <a:bodyPr xmlns:a="http://schemas.openxmlformats.org/drawingml/2006/main" wrap="square" lIns="228600" tIns="228600" rIns="228600" bIns="228600" anchor="ctr">
            <a:normAutofit fontScale="100000"/>
          </a:bodyPr>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Invoice evidence</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AP agent + policy + PO / GR</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Payment Journal</a:t>
            </a:r>
          </a:p>
        </p:txBody>
      </p:sp>
      <p:sp>
        <p:nvSpPr>
          <p:cNvPr id="7" name="ar-label">
            <a:extLst xmlns:a="http://schemas.openxmlformats.org/drawingml/2006/main">
              <a:ext uri="{FF2B5EF4-FFF2-40B4-BE49-F238E27FC236}">
                <a16:creationId xmlns:a16="http://schemas.microsoft.com/office/drawing/2014/main" id="{50527C3C-876F-4589-895F-1783C73F1CE0}"/>
              </a:ext>
            </a:extLst>
          </p:cNvPr>
          <p:cNvSpPr>
            <a:spLocks xmlns:a="http://schemas.openxmlformats.org/drawingml/2006/main" noGrp="1"/>
          </p:cNvSpPr>
          <p:nvPr/>
        </p:nvSpPr>
        <p:spPr>
          <a:xfrm xmlns:a="http://schemas.openxmlformats.org/drawingml/2006/main">
            <a:off x="6667500" y="1714500"/>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ACCOUNTS RECEIVABLE</a:t>
            </a:r>
          </a:p>
        </p:txBody>
      </p:sp>
      <p:sp>
        <p:nvSpPr>
          <p:cNvPr id="8" name="ar-flow">
            <a:extLst xmlns:a="http://schemas.openxmlformats.org/drawingml/2006/main">
              <a:ext uri="{FF2B5EF4-FFF2-40B4-BE49-F238E27FC236}">
                <a16:creationId xmlns:a16="http://schemas.microsoft.com/office/drawing/2014/main" id="{F81B90A3-E5AC-453E-98AB-4B2726715724}"/>
              </a:ext>
            </a:extLst>
          </p:cNvPr>
          <p:cNvSpPr>
            <a:spLocks xmlns:a="http://schemas.openxmlformats.org/drawingml/2006/main" noGrp="1"/>
          </p:cNvSpPr>
          <p:nvPr/>
        </p:nvSpPr>
        <p:spPr>
          <a:xfrm xmlns:a="http://schemas.openxmlformats.org/drawingml/2006/main">
            <a:off x="6667500" y="2190750"/>
            <a:ext cx="4476750" cy="266700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txBody>
          <a:bodyPr xmlns:a="http://schemas.openxmlformats.org/drawingml/2006/main" wrap="square" lIns="228600" tIns="228600" rIns="228600" bIns="228600" anchor="ctr">
            <a:normAutofit fontScale="100000"/>
          </a:bodyPr>
          <a:lstStyle xmlns:a="http://schemas.openxmlformats.org/drawingml/2006/main"/>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Remittance evidence</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AR agent + policy + open items</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a:t>
            </a:r>
          </a:p>
          <a:p xmlns:a="http://schemas.openxmlformats.org/drawingml/2006/main">
            <a:pPr algn="ctr">
              <a:buNone/>
              <a:defRPr sz="2250" b="1">
                <a:solidFill>
                  <a:srgbClr val="000000"/>
                </a:solidFill>
                <a:latin typeface="Arial"/>
                <a:ea typeface="Arial"/>
                <a:cs typeface="Arial"/>
              </a:defRPr>
            </a:pPr>
            <a:r>
              <a:rPr sz="2250" b="1">
                <a:solidFill>
                  <a:srgbClr val="000000"/>
                </a:solidFill>
                <a:latin typeface="Arial"/>
                <a:ea typeface="Arial"/>
                <a:cs typeface="Arial"/>
              </a:rPr>
              <a:t>Cash application</a:t>
            </a:r>
          </a:p>
        </p:txBody>
      </p:sp>
      <p:sp>
        <p:nvSpPr>
          <p:cNvPr id="9" name="shared-pattern">
            <a:extLst xmlns:a="http://schemas.openxmlformats.org/drawingml/2006/main">
              <a:ext uri="{FF2B5EF4-FFF2-40B4-BE49-F238E27FC236}">
                <a16:creationId xmlns:a16="http://schemas.microsoft.com/office/drawing/2014/main" id="{B2D47B5F-A6BB-4DD3-8308-667670C71812}"/>
              </a:ext>
            </a:extLst>
          </p:cNvPr>
          <p:cNvSpPr>
            <a:spLocks xmlns:a="http://schemas.openxmlformats.org/drawingml/2006/main" noGrp="1"/>
          </p:cNvSpPr>
          <p:nvPr/>
        </p:nvSpPr>
        <p:spPr>
          <a:xfrm xmlns:a="http://schemas.openxmlformats.org/drawingml/2006/main">
            <a:off x="400050" y="5476875"/>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575" b="1">
                <a:solidFill>
                  <a:srgbClr val="000000"/>
                </a:solidFill>
                <a:latin typeface="Arial"/>
                <a:ea typeface="Arial"/>
                <a:cs typeface="Arial"/>
              </a:defRPr>
            </a:pPr>
            <a:r>
              <a:rPr sz="1575" b="1">
                <a:solidFill>
                  <a:srgbClr val="000000"/>
                </a:solidFill>
                <a:latin typeface="Arial"/>
                <a:ea typeface="Arial"/>
                <a:cs typeface="Arial"/>
              </a:rPr>
              <a:t>Shared: process → supervise → retrieve → observe → decide → act · Separate: domain rules and safe tools</a:t>
            </a:r>
          </a:p>
        </p:txBody>
      </p:sp>
    </p:spTree>
    <p:extLst>
      <p:ext uri="{BB962C8B-B14F-4D97-AF65-F5344CB8AC3E}">
        <p14:creationId xmlns:p14="http://schemas.microsoft.com/office/powerpoint/2010/main" val="143085575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eyebrow-8">
            <a:extLst xmlns:a="http://schemas.openxmlformats.org/drawingml/2006/main">
              <a:ext uri="{FF2B5EF4-FFF2-40B4-BE49-F238E27FC236}">
                <a16:creationId xmlns:a16="http://schemas.microsoft.com/office/drawing/2014/main" id="{9C544C11-8F90-4DCF-8D1A-72F436F0046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8">
            <a:extLst xmlns:a="http://schemas.openxmlformats.org/drawingml/2006/main">
              <a:ext uri="{FF2B5EF4-FFF2-40B4-BE49-F238E27FC236}">
                <a16:creationId xmlns:a16="http://schemas.microsoft.com/office/drawing/2014/main" id="{ADBA0428-E495-4AC6-9DC2-E2D194B175DE}"/>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22"/>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Mandatory APIs stay intact while unified APIs expose orchestration</a:t>
            </a:r>
          </a:p>
        </p:txBody>
      </p:sp>
      <p:sp>
        <p:nvSpPr>
          <p:cNvPr id="3" name="rule-42-145">
            <a:extLst xmlns:a="http://schemas.openxmlformats.org/drawingml/2006/main">
              <a:ext uri="{FF2B5EF4-FFF2-40B4-BE49-F238E27FC236}">
                <a16:creationId xmlns:a16="http://schemas.microsoft.com/office/drawing/2014/main" id="{00A1C043-DCE5-4450-854D-1578A1FA0903}"/>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8">
            <a:extLst xmlns:a="http://schemas.openxmlformats.org/drawingml/2006/main">
              <a:ext uri="{FF2B5EF4-FFF2-40B4-BE49-F238E27FC236}">
                <a16:creationId xmlns:a16="http://schemas.microsoft.com/office/drawing/2014/main" id="{956F251E-A11D-4F12-87DC-2E5E90198827}"/>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08</a:t>
            </a:r>
          </a:p>
        </p:txBody>
      </p:sp>
      <p:sp>
        <p:nvSpPr>
          <p:cNvPr id="5" name="api-head-method">
            <a:extLst xmlns:a="http://schemas.openxmlformats.org/drawingml/2006/main">
              <a:ext uri="{FF2B5EF4-FFF2-40B4-BE49-F238E27FC236}">
                <a16:creationId xmlns:a16="http://schemas.microsoft.com/office/drawing/2014/main" id="{3526F5DD-6376-4471-B486-0C8F22C04C98}"/>
              </a:ext>
            </a:extLst>
          </p:cNvPr>
          <p:cNvSpPr>
            <a:spLocks xmlns:a="http://schemas.openxmlformats.org/drawingml/2006/main" noGrp="1"/>
          </p:cNvSpPr>
          <p:nvPr/>
        </p:nvSpPr>
        <p:spPr>
          <a:xfrm xmlns:a="http://schemas.openxmlformats.org/drawingml/2006/main">
            <a:off x="400050" y="171450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METHOD</a:t>
            </a:r>
          </a:p>
        </p:txBody>
      </p:sp>
      <p:sp>
        <p:nvSpPr>
          <p:cNvPr id="6" name="api-head-path">
            <a:extLst xmlns:a="http://schemas.openxmlformats.org/drawingml/2006/main">
              <a:ext uri="{FF2B5EF4-FFF2-40B4-BE49-F238E27FC236}">
                <a16:creationId xmlns:a16="http://schemas.microsoft.com/office/drawing/2014/main" id="{20B5E8CC-929F-4A45-861D-625157A42E2F}"/>
              </a:ext>
            </a:extLst>
          </p:cNvPr>
          <p:cNvSpPr>
            <a:spLocks xmlns:a="http://schemas.openxmlformats.org/drawingml/2006/main" noGrp="1"/>
          </p:cNvSpPr>
          <p:nvPr/>
        </p:nvSpPr>
        <p:spPr>
          <a:xfrm xmlns:a="http://schemas.openxmlformats.org/drawingml/2006/main">
            <a:off x="1952625" y="171450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PATH</a:t>
            </a:r>
          </a:p>
        </p:txBody>
      </p:sp>
      <p:sp>
        <p:nvSpPr>
          <p:cNvPr id="7" name="api-head-proof">
            <a:extLst xmlns:a="http://schemas.openxmlformats.org/drawingml/2006/main">
              <a:ext uri="{FF2B5EF4-FFF2-40B4-BE49-F238E27FC236}">
                <a16:creationId xmlns:a16="http://schemas.microsoft.com/office/drawing/2014/main" id="{96AE445B-F58D-46FF-8218-FAFB431A86E6}"/>
              </a:ext>
            </a:extLst>
          </p:cNvPr>
          <p:cNvSpPr>
            <a:spLocks xmlns:a="http://schemas.openxmlformats.org/drawingml/2006/main" noGrp="1"/>
          </p:cNvSpPr>
          <p:nvPr/>
        </p:nvSpPr>
        <p:spPr>
          <a:xfrm xmlns:a="http://schemas.openxmlformats.org/drawingml/2006/main">
            <a:off x="7524750" y="17145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CONTROL EVIDENCE</a:t>
            </a:r>
          </a:p>
        </p:txBody>
      </p:sp>
      <p:sp>
        <p:nvSpPr>
          <p:cNvPr id="8" name="rule-42-215">
            <a:extLst xmlns:a="http://schemas.openxmlformats.org/drawingml/2006/main">
              <a:ext uri="{FF2B5EF4-FFF2-40B4-BE49-F238E27FC236}">
                <a16:creationId xmlns:a16="http://schemas.microsoft.com/office/drawing/2014/main" id="{5198056A-E39C-46F0-895B-4976174E93EB}"/>
              </a:ext>
            </a:extLst>
          </p:cNvPr>
          <p:cNvSpPr>
            <a:spLocks xmlns:a="http://schemas.openxmlformats.org/drawingml/2006/main" noGrp="1"/>
          </p:cNvSpPr>
          <p:nvPr/>
        </p:nvSpPr>
        <p:spPr>
          <a:xfrm xmlns:a="http://schemas.openxmlformats.org/drawingml/2006/main">
            <a:off x="400050" y="2047875"/>
            <a:ext cx="11125200" cy="1905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9" name="m-0">
            <a:extLst xmlns:a="http://schemas.openxmlformats.org/drawingml/2006/main">
              <a:ext uri="{FF2B5EF4-FFF2-40B4-BE49-F238E27FC236}">
                <a16:creationId xmlns:a16="http://schemas.microsoft.com/office/drawing/2014/main" id="{57E7FCC6-25B4-4102-8A41-C705891148F9}"/>
              </a:ext>
            </a:extLst>
          </p:cNvPr>
          <p:cNvSpPr>
            <a:spLocks xmlns:a="http://schemas.openxmlformats.org/drawingml/2006/main" noGrp="1"/>
          </p:cNvSpPr>
          <p:nvPr/>
        </p:nvSpPr>
        <p:spPr>
          <a:xfrm xmlns:a="http://schemas.openxmlformats.org/drawingml/2006/main">
            <a:off x="400050" y="22383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a:t>
            </a:r>
          </a:p>
        </p:txBody>
      </p:sp>
      <p:sp>
        <p:nvSpPr>
          <p:cNvPr id="10" name="p-0">
            <a:extLst xmlns:a="http://schemas.openxmlformats.org/drawingml/2006/main">
              <a:ext uri="{FF2B5EF4-FFF2-40B4-BE49-F238E27FC236}">
                <a16:creationId xmlns:a16="http://schemas.microsoft.com/office/drawing/2014/main" id="{E921BE49-E3F6-4FA2-9D0A-95C53ECEFDB5}"/>
              </a:ext>
            </a:extLst>
          </p:cNvPr>
          <p:cNvSpPr>
            <a:spLocks xmlns:a="http://schemas.openxmlformats.org/drawingml/2006/main" noGrp="1"/>
          </p:cNvSpPr>
          <p:nvPr/>
        </p:nvSpPr>
        <p:spPr>
          <a:xfrm xmlns:a="http://schemas.openxmlformats.org/drawingml/2006/main">
            <a:off x="1952625" y="223837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/api/v1/ingest-invoice</a:t>
            </a:r>
          </a:p>
        </p:txBody>
      </p:sp>
      <p:sp>
        <p:nvSpPr>
          <p:cNvPr id="11" name="e-0">
            <a:extLst xmlns:a="http://schemas.openxmlformats.org/drawingml/2006/main">
              <a:ext uri="{FF2B5EF4-FFF2-40B4-BE49-F238E27FC236}">
                <a16:creationId xmlns:a16="http://schemas.microsoft.com/office/drawing/2014/main" id="{2B699806-0FEC-4CE7-8219-4D9925E485F5}"/>
              </a:ext>
            </a:extLst>
          </p:cNvPr>
          <p:cNvSpPr>
            <a:spLocks xmlns:a="http://schemas.openxmlformats.org/drawingml/2006/main" noGrp="1"/>
          </p:cNvSpPr>
          <p:nvPr/>
        </p:nvSpPr>
        <p:spPr>
          <a:xfrm xmlns:a="http://schemas.openxmlformats.org/drawingml/2006/main">
            <a:off x="7524750" y="2238375"/>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source hash + supervisor decision</a:t>
            </a:r>
          </a:p>
        </p:txBody>
      </p:sp>
      <p:sp>
        <p:nvSpPr>
          <p:cNvPr id="12" name="rule-42-283">
            <a:extLst xmlns:a="http://schemas.openxmlformats.org/drawingml/2006/main">
              <a:ext uri="{FF2B5EF4-FFF2-40B4-BE49-F238E27FC236}">
                <a16:creationId xmlns:a16="http://schemas.microsoft.com/office/drawing/2014/main" id="{5B59A888-93EE-419D-96CF-C952C967D114}"/>
              </a:ext>
            </a:extLst>
          </p:cNvPr>
          <p:cNvSpPr>
            <a:spLocks xmlns:a="http://schemas.openxmlformats.org/drawingml/2006/main" noGrp="1"/>
          </p:cNvSpPr>
          <p:nvPr/>
        </p:nvSpPr>
        <p:spPr>
          <a:xfrm xmlns:a="http://schemas.openxmlformats.org/drawingml/2006/main">
            <a:off x="400050" y="2695575"/>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m-1">
            <a:extLst xmlns:a="http://schemas.openxmlformats.org/drawingml/2006/main">
              <a:ext uri="{FF2B5EF4-FFF2-40B4-BE49-F238E27FC236}">
                <a16:creationId xmlns:a16="http://schemas.microsoft.com/office/drawing/2014/main" id="{4E597357-EA6E-4BA1-A550-2C75F30D473C}"/>
              </a:ext>
            </a:extLst>
          </p:cNvPr>
          <p:cNvSpPr>
            <a:spLocks xmlns:a="http://schemas.openxmlformats.org/drawingml/2006/main" noGrp="1"/>
          </p:cNvSpPr>
          <p:nvPr/>
        </p:nvSpPr>
        <p:spPr>
          <a:xfrm xmlns:a="http://schemas.openxmlformats.org/drawingml/2006/main">
            <a:off x="400050" y="28765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a:t>
            </a:r>
          </a:p>
        </p:txBody>
      </p:sp>
      <p:sp>
        <p:nvSpPr>
          <p:cNvPr id="14" name="p-1">
            <a:extLst xmlns:a="http://schemas.openxmlformats.org/drawingml/2006/main">
              <a:ext uri="{FF2B5EF4-FFF2-40B4-BE49-F238E27FC236}">
                <a16:creationId xmlns:a16="http://schemas.microsoft.com/office/drawing/2014/main" id="{317341FA-1B1F-4294-9918-A67010276FF0}"/>
              </a:ext>
            </a:extLst>
          </p:cNvPr>
          <p:cNvSpPr>
            <a:spLocks xmlns:a="http://schemas.openxmlformats.org/drawingml/2006/main" noGrp="1"/>
          </p:cNvSpPr>
          <p:nvPr/>
        </p:nvSpPr>
        <p:spPr>
          <a:xfrm xmlns:a="http://schemas.openxmlformats.org/drawingml/2006/main">
            <a:off x="1952625" y="2876550"/>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/api/v1/match-po</a:t>
            </a:r>
          </a:p>
        </p:txBody>
      </p:sp>
      <p:sp>
        <p:nvSpPr>
          <p:cNvPr id="15" name="e-1">
            <a:extLst xmlns:a="http://schemas.openxmlformats.org/drawingml/2006/main">
              <a:ext uri="{FF2B5EF4-FFF2-40B4-BE49-F238E27FC236}">
                <a16:creationId xmlns:a16="http://schemas.microsoft.com/office/drawing/2014/main" id="{C96B0903-E5BC-4634-B746-C619006F8AE9}"/>
              </a:ext>
            </a:extLst>
          </p:cNvPr>
          <p:cNvSpPr>
            <a:spLocks xmlns:a="http://schemas.openxmlformats.org/drawingml/2006/main" noGrp="1"/>
          </p:cNvSpPr>
          <p:nvPr/>
        </p:nvSpPr>
        <p:spPr>
          <a:xfrm xmlns:a="http://schemas.openxmlformats.org/drawingml/2006/main">
            <a:off x="7524750" y="28765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agent choices + control variances</a:t>
            </a:r>
          </a:p>
        </p:txBody>
      </p:sp>
      <p:sp>
        <p:nvSpPr>
          <p:cNvPr id="16" name="rule-42-350">
            <a:extLst xmlns:a="http://schemas.openxmlformats.org/drawingml/2006/main">
              <a:ext uri="{FF2B5EF4-FFF2-40B4-BE49-F238E27FC236}">
                <a16:creationId xmlns:a16="http://schemas.microsoft.com/office/drawing/2014/main" id="{DAAFE960-43C1-400F-9ADB-708B9718CA46}"/>
              </a:ext>
            </a:extLst>
          </p:cNvPr>
          <p:cNvSpPr>
            <a:spLocks xmlns:a="http://schemas.openxmlformats.org/drawingml/2006/main" noGrp="1"/>
          </p:cNvSpPr>
          <p:nvPr/>
        </p:nvSpPr>
        <p:spPr>
          <a:xfrm xmlns:a="http://schemas.openxmlformats.org/drawingml/2006/main">
            <a:off x="400050" y="3333750"/>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7" name="m-2">
            <a:extLst xmlns:a="http://schemas.openxmlformats.org/drawingml/2006/main">
              <a:ext uri="{FF2B5EF4-FFF2-40B4-BE49-F238E27FC236}">
                <a16:creationId xmlns:a16="http://schemas.microsoft.com/office/drawing/2014/main" id="{D57FB3F2-83EB-4982-9705-B7729F42340B}"/>
              </a:ext>
            </a:extLst>
          </p:cNvPr>
          <p:cNvSpPr>
            <a:spLocks xmlns:a="http://schemas.openxmlformats.org/drawingml/2006/main" noGrp="1"/>
          </p:cNvSpPr>
          <p:nvPr/>
        </p:nvSpPr>
        <p:spPr>
          <a:xfrm xmlns:a="http://schemas.openxmlformats.org/drawingml/2006/main">
            <a:off x="400050" y="35147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a:t>
            </a:r>
          </a:p>
        </p:txBody>
      </p:sp>
      <p:sp>
        <p:nvSpPr>
          <p:cNvPr id="18" name="p-2">
            <a:extLst xmlns:a="http://schemas.openxmlformats.org/drawingml/2006/main">
              <a:ext uri="{FF2B5EF4-FFF2-40B4-BE49-F238E27FC236}">
                <a16:creationId xmlns:a16="http://schemas.microsoft.com/office/drawing/2014/main" id="{DC843F40-3CC7-4995-81A2-664DBF01800A}"/>
              </a:ext>
            </a:extLst>
          </p:cNvPr>
          <p:cNvSpPr>
            <a:spLocks xmlns:a="http://schemas.openxmlformats.org/drawingml/2006/main" noGrp="1"/>
          </p:cNvSpPr>
          <p:nvPr/>
        </p:nvSpPr>
        <p:spPr>
          <a:xfrm xmlns:a="http://schemas.openxmlformats.org/drawingml/2006/main">
            <a:off x="1952625" y="351472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/api/v1/post-payment-journal</a:t>
            </a:r>
          </a:p>
        </p:txBody>
      </p:sp>
      <p:sp>
        <p:nvSpPr>
          <p:cNvPr id="19" name="e-2">
            <a:extLst xmlns:a="http://schemas.openxmlformats.org/drawingml/2006/main">
              <a:ext uri="{FF2B5EF4-FFF2-40B4-BE49-F238E27FC236}">
                <a16:creationId xmlns:a16="http://schemas.microsoft.com/office/drawing/2014/main" id="{83D0626C-4E3D-4C7D-8661-37D2E7B95767}"/>
              </a:ext>
            </a:extLst>
          </p:cNvPr>
          <p:cNvSpPr>
            <a:spLocks xmlns:a="http://schemas.openxmlformats.org/drawingml/2006/main" noGrp="1"/>
          </p:cNvSpPr>
          <p:nvPr/>
        </p:nvSpPr>
        <p:spPr>
          <a:xfrm xmlns:a="http://schemas.openxmlformats.org/drawingml/2006/main">
            <a:off x="7524750" y="3514725"/>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idempotent journal result</a:t>
            </a:r>
          </a:p>
        </p:txBody>
      </p:sp>
      <p:sp>
        <p:nvSpPr>
          <p:cNvPr id="20" name="rule-42-417">
            <a:extLst xmlns:a="http://schemas.openxmlformats.org/drawingml/2006/main">
              <a:ext uri="{FF2B5EF4-FFF2-40B4-BE49-F238E27FC236}">
                <a16:creationId xmlns:a16="http://schemas.microsoft.com/office/drawing/2014/main" id="{97684BF2-1F48-4AFB-A7B8-00D27C5CE0C7}"/>
              </a:ext>
            </a:extLst>
          </p:cNvPr>
          <p:cNvSpPr>
            <a:spLocks xmlns:a="http://schemas.openxmlformats.org/drawingml/2006/main" noGrp="1"/>
          </p:cNvSpPr>
          <p:nvPr/>
        </p:nvSpPr>
        <p:spPr>
          <a:xfrm xmlns:a="http://schemas.openxmlformats.org/drawingml/2006/main">
            <a:off x="400050" y="3971925"/>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1" name="m-3">
            <a:extLst xmlns:a="http://schemas.openxmlformats.org/drawingml/2006/main">
              <a:ext uri="{FF2B5EF4-FFF2-40B4-BE49-F238E27FC236}">
                <a16:creationId xmlns:a16="http://schemas.microsoft.com/office/drawing/2014/main" id="{A7082E86-1184-444F-8267-034ADB4FACFA}"/>
              </a:ext>
            </a:extLst>
          </p:cNvPr>
          <p:cNvSpPr>
            <a:spLocks xmlns:a="http://schemas.openxmlformats.org/drawingml/2006/main" noGrp="1"/>
          </p:cNvSpPr>
          <p:nvPr/>
        </p:nvSpPr>
        <p:spPr>
          <a:xfrm xmlns:a="http://schemas.openxmlformats.org/drawingml/2006/main">
            <a:off x="400050" y="41529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F7D58"/>
                </a:solidFill>
                <a:latin typeface="Arial"/>
                <a:ea typeface="Arial"/>
                <a:cs typeface="Arial"/>
              </a:defRPr>
            </a:pPr>
            <a:r>
              <a:rPr sz="1350" b="1">
                <a:solidFill>
                  <a:srgbClr val="2F7D58"/>
                </a:solidFill>
                <a:latin typeface="Arial"/>
                <a:ea typeface="Arial"/>
                <a:cs typeface="Arial"/>
              </a:rPr>
              <a:t>GET</a:t>
            </a:r>
          </a:p>
        </p:txBody>
      </p:sp>
      <p:sp>
        <p:nvSpPr>
          <p:cNvPr id="22" name="p-3">
            <a:extLst xmlns:a="http://schemas.openxmlformats.org/drawingml/2006/main">
              <a:ext uri="{FF2B5EF4-FFF2-40B4-BE49-F238E27FC236}">
                <a16:creationId xmlns:a16="http://schemas.microsoft.com/office/drawing/2014/main" id="{EE674026-6D2A-4DBD-8281-727464EA77BD}"/>
              </a:ext>
            </a:extLst>
          </p:cNvPr>
          <p:cNvSpPr>
            <a:spLocks xmlns:a="http://schemas.openxmlformats.org/drawingml/2006/main" noGrp="1"/>
          </p:cNvSpPr>
          <p:nvPr/>
        </p:nvSpPr>
        <p:spPr>
          <a:xfrm xmlns:a="http://schemas.openxmlformats.org/drawingml/2006/main">
            <a:off x="1952625" y="4152900"/>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/api/v1/audit-log</a:t>
            </a:r>
          </a:p>
        </p:txBody>
      </p:sp>
      <p:sp>
        <p:nvSpPr>
          <p:cNvPr id="23" name="e-3">
            <a:extLst xmlns:a="http://schemas.openxmlformats.org/drawingml/2006/main">
              <a:ext uri="{FF2B5EF4-FFF2-40B4-BE49-F238E27FC236}">
                <a16:creationId xmlns:a16="http://schemas.microsoft.com/office/drawing/2014/main" id="{0052990B-1444-4BD3-AF62-8AF713C3DAEF}"/>
              </a:ext>
            </a:extLst>
          </p:cNvPr>
          <p:cNvSpPr>
            <a:spLocks xmlns:a="http://schemas.openxmlformats.org/drawingml/2006/main" noGrp="1"/>
          </p:cNvSpPr>
          <p:nvPr/>
        </p:nvSpPr>
        <p:spPr>
          <a:xfrm xmlns:a="http://schemas.openxmlformats.org/drawingml/2006/main">
            <a:off x="7524750" y="415290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chain status + decision events</a:t>
            </a:r>
          </a:p>
        </p:txBody>
      </p:sp>
      <p:sp>
        <p:nvSpPr>
          <p:cNvPr id="24" name="rule-42-484">
            <a:extLst xmlns:a="http://schemas.openxmlformats.org/drawingml/2006/main">
              <a:ext uri="{FF2B5EF4-FFF2-40B4-BE49-F238E27FC236}">
                <a16:creationId xmlns:a16="http://schemas.microsoft.com/office/drawing/2014/main" id="{ADB443C3-FE43-4E1C-AEE3-2E69752FC521}"/>
              </a:ext>
            </a:extLst>
          </p:cNvPr>
          <p:cNvSpPr>
            <a:spLocks xmlns:a="http://schemas.openxmlformats.org/drawingml/2006/main" noGrp="1"/>
          </p:cNvSpPr>
          <p:nvPr/>
        </p:nvSpPr>
        <p:spPr>
          <a:xfrm xmlns:a="http://schemas.openxmlformats.org/drawingml/2006/main">
            <a:off x="400050" y="4610100"/>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5" name="m-4">
            <a:extLst xmlns:a="http://schemas.openxmlformats.org/drawingml/2006/main">
              <a:ext uri="{FF2B5EF4-FFF2-40B4-BE49-F238E27FC236}">
                <a16:creationId xmlns:a16="http://schemas.microsoft.com/office/drawing/2014/main" id="{8DBC13CC-D006-43BB-ACB1-19033A7A8215}"/>
              </a:ext>
            </a:extLst>
          </p:cNvPr>
          <p:cNvSpPr>
            <a:spLocks xmlns:a="http://schemas.openxmlformats.org/drawingml/2006/main" noGrp="1"/>
          </p:cNvSpPr>
          <p:nvPr/>
        </p:nvSpPr>
        <p:spPr>
          <a:xfrm xmlns:a="http://schemas.openxmlformats.org/drawingml/2006/main">
            <a:off x="400050" y="47910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F7D58"/>
                </a:solidFill>
                <a:latin typeface="Arial"/>
                <a:ea typeface="Arial"/>
                <a:cs typeface="Arial"/>
              </a:defRPr>
            </a:pPr>
            <a:r>
              <a:rPr sz="1350" b="1">
                <a:solidFill>
                  <a:srgbClr val="2F7D58"/>
                </a:solidFill>
                <a:latin typeface="Arial"/>
                <a:ea typeface="Arial"/>
                <a:cs typeface="Arial"/>
              </a:rPr>
              <a:t>GET</a:t>
            </a:r>
          </a:p>
        </p:txBody>
      </p:sp>
      <p:sp>
        <p:nvSpPr>
          <p:cNvPr id="26" name="p-4">
            <a:extLst xmlns:a="http://schemas.openxmlformats.org/drawingml/2006/main">
              <a:ext uri="{FF2B5EF4-FFF2-40B4-BE49-F238E27FC236}">
                <a16:creationId xmlns:a16="http://schemas.microsoft.com/office/drawing/2014/main" id="{5A6C48F0-50A1-4C6C-8E50-D053626CAFDC}"/>
              </a:ext>
            </a:extLst>
          </p:cNvPr>
          <p:cNvSpPr>
            <a:spLocks xmlns:a="http://schemas.openxmlformats.org/drawingml/2006/main" noGrp="1"/>
          </p:cNvSpPr>
          <p:nvPr/>
        </p:nvSpPr>
        <p:spPr>
          <a:xfrm xmlns:a="http://schemas.openxmlformats.org/drawingml/2006/main">
            <a:off x="1952625" y="479107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000000"/>
                </a:solidFill>
                <a:latin typeface="Arial"/>
                <a:ea typeface="Arial"/>
                <a:cs typeface="Arial"/>
              </a:defRPr>
            </a:pPr>
            <a:r>
              <a:rPr sz="1350" b="1">
                <a:solidFill>
                  <a:srgbClr val="000000"/>
                </a:solidFill>
                <a:latin typeface="Arial"/>
                <a:ea typeface="Arial"/>
                <a:cs typeface="Arial"/>
              </a:rPr>
              <a:t>/api/v1/health</a:t>
            </a:r>
          </a:p>
        </p:txBody>
      </p:sp>
      <p:sp>
        <p:nvSpPr>
          <p:cNvPr id="27" name="e-4">
            <a:extLst xmlns:a="http://schemas.openxmlformats.org/drawingml/2006/main">
              <a:ext uri="{FF2B5EF4-FFF2-40B4-BE49-F238E27FC236}">
                <a16:creationId xmlns:a16="http://schemas.microsoft.com/office/drawing/2014/main" id="{88AF42B0-603A-4155-A9B5-C10D5C15CE47}"/>
              </a:ext>
            </a:extLst>
          </p:cNvPr>
          <p:cNvSpPr>
            <a:spLocks xmlns:a="http://schemas.openxmlformats.org/drawingml/2006/main" noGrp="1"/>
          </p:cNvSpPr>
          <p:nvPr/>
        </p:nvSpPr>
        <p:spPr>
          <a:xfrm xmlns:a="http://schemas.openxmlformats.org/drawingml/2006/main">
            <a:off x="7524750" y="4791075"/>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a:solidFill>
                  <a:srgbClr val="5E6773"/>
                </a:solidFill>
                <a:latin typeface="Arial"/>
                <a:ea typeface="Arial"/>
                <a:cs typeface="Arial"/>
              </a:defRPr>
            </a:pPr>
            <a:r>
              <a:rPr sz="1275" b="0">
                <a:solidFill>
                  <a:srgbClr val="5E6773"/>
                </a:solidFill>
                <a:latin typeface="Arial"/>
                <a:ea typeface="Arial"/>
                <a:cs typeface="Arial"/>
              </a:rPr>
              <a:t>required models + Phoenix + ledger</a:t>
            </a:r>
          </a:p>
        </p:txBody>
      </p:sp>
      <p:sp>
        <p:nvSpPr>
          <p:cNvPr id="28" name="rule-42-551">
            <a:extLst xmlns:a="http://schemas.openxmlformats.org/drawingml/2006/main">
              <a:ext uri="{FF2B5EF4-FFF2-40B4-BE49-F238E27FC236}">
                <a16:creationId xmlns:a16="http://schemas.microsoft.com/office/drawing/2014/main" id="{64F76331-AEE4-4F56-B333-314E3C8056CC}"/>
              </a:ext>
            </a:extLst>
          </p:cNvPr>
          <p:cNvSpPr>
            <a:spLocks xmlns:a="http://schemas.openxmlformats.org/drawingml/2006/main" noGrp="1"/>
          </p:cNvSpPr>
          <p:nvPr/>
        </p:nvSpPr>
        <p:spPr>
          <a:xfrm xmlns:a="http://schemas.openxmlformats.org/drawingml/2006/main">
            <a:off x="400050" y="5248275"/>
            <a:ext cx="111252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9" name="api-extra">
            <a:extLst xmlns:a="http://schemas.openxmlformats.org/drawingml/2006/main">
              <a:ext uri="{FF2B5EF4-FFF2-40B4-BE49-F238E27FC236}">
                <a16:creationId xmlns:a16="http://schemas.microsoft.com/office/drawing/2014/main" id="{320EA9D4-54AB-4939-BD0C-B9F0E59A5955}"/>
              </a:ext>
            </a:extLst>
          </p:cNvPr>
          <p:cNvSpPr>
            <a:spLocks xmlns:a="http://schemas.openxmlformats.org/drawingml/2006/main" noGrp="1"/>
          </p:cNvSpPr>
          <p:nvPr/>
        </p:nvSpPr>
        <p:spPr>
          <a:xfrm xmlns:a="http://schemas.openxmlformats.org/drawingml/2006/main">
            <a:off x="400050" y="571500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Arial"/>
                <a:ea typeface="Arial"/>
                <a:cs typeface="Arial"/>
              </a:defRPr>
            </a:pPr>
            <a:r>
              <a:rPr sz="1425" b="1">
                <a:solidFill>
                  <a:srgbClr val="000000"/>
                </a:solidFill>
                <a:latin typeface="Arial"/>
                <a:ea typeface="Arial"/>
                <a:cs typeface="Arial"/>
              </a:rPr>
              <a:t>Added: supervisor dispatch · persisted agent decisions · unified exceptions · audited AP/AR tool actions.</a:t>
            </a:r>
          </a:p>
        </p:txBody>
      </p:sp>
    </p:spTree>
    <p:extLst>
      <p:ext uri="{BB962C8B-B14F-4D97-AF65-F5344CB8AC3E}">
        <p14:creationId xmlns:p14="http://schemas.microsoft.com/office/powerpoint/2010/main" val="19772109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9">
            <a:extLst xmlns:a="http://schemas.openxmlformats.org/drawingml/2006/main">
              <a:ext uri="{FF2B5EF4-FFF2-40B4-BE49-F238E27FC236}">
                <a16:creationId xmlns:a16="http://schemas.microsoft.com/office/drawing/2014/main" id="{573C0D6E-C5DC-4E06-BA9C-4670B219B99C}"/>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9">
            <a:extLst xmlns:a="http://schemas.openxmlformats.org/drawingml/2006/main">
              <a:ext uri="{FF2B5EF4-FFF2-40B4-BE49-F238E27FC236}">
                <a16:creationId xmlns:a16="http://schemas.microsoft.com/office/drawing/2014/main" id="{22F0E8DB-5FCD-4811-BEF1-A0035B935495}"/>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683"/>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Every mandatory technology has a concrete role in the prototype</a:t>
            </a:r>
          </a:p>
        </p:txBody>
      </p:sp>
      <p:sp>
        <p:nvSpPr>
          <p:cNvPr id="3" name="rule-42-145">
            <a:extLst xmlns:a="http://schemas.openxmlformats.org/drawingml/2006/main">
              <a:ext uri="{FF2B5EF4-FFF2-40B4-BE49-F238E27FC236}">
                <a16:creationId xmlns:a16="http://schemas.microsoft.com/office/drawing/2014/main" id="{3389B6AB-230E-4CEF-B143-985A403868FC}"/>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9">
            <a:extLst xmlns:a="http://schemas.openxmlformats.org/drawingml/2006/main">
              <a:ext uri="{FF2B5EF4-FFF2-40B4-BE49-F238E27FC236}">
                <a16:creationId xmlns:a16="http://schemas.microsoft.com/office/drawing/2014/main" id="{BDA240A8-B6C8-454C-8B46-C37656483C78}"/>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09</a:t>
            </a:r>
          </a:p>
        </p:txBody>
      </p:sp>
      <p:sp>
        <p:nvSpPr>
          <p:cNvPr id="5" name="stack-0">
            <a:extLst xmlns:a="http://schemas.openxmlformats.org/drawingml/2006/main">
              <a:ext uri="{FF2B5EF4-FFF2-40B4-BE49-F238E27FC236}">
                <a16:creationId xmlns:a16="http://schemas.microsoft.com/office/drawing/2014/main" id="{05D64300-6AC1-4050-B852-71C4A4DF645C}"/>
              </a:ext>
            </a:extLst>
          </p:cNvPr>
          <p:cNvSpPr>
            <a:spLocks xmlns:a="http://schemas.openxmlformats.org/drawingml/2006/main" noGrp="1"/>
          </p:cNvSpPr>
          <p:nvPr/>
        </p:nvSpPr>
        <p:spPr>
          <a:xfrm xmlns:a="http://schemas.openxmlformats.org/drawingml/2006/main">
            <a:off x="40005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tack-k-0">
            <a:extLst xmlns:a="http://schemas.openxmlformats.org/drawingml/2006/main">
              <a:ext uri="{FF2B5EF4-FFF2-40B4-BE49-F238E27FC236}">
                <a16:creationId xmlns:a16="http://schemas.microsoft.com/office/drawing/2014/main" id="{8300C5E9-4CDD-4CD8-BE94-9EFEC5F9C4E4}"/>
              </a:ext>
            </a:extLst>
          </p:cNvPr>
          <p:cNvSpPr>
            <a:spLocks xmlns:a="http://schemas.openxmlformats.org/drawingml/2006/main" noGrp="1"/>
          </p:cNvSpPr>
          <p:nvPr/>
        </p:nvSpPr>
        <p:spPr>
          <a:xfrm xmlns:a="http://schemas.openxmlformats.org/drawingml/2006/main">
            <a:off x="57150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INGEST + DOCUMENTS</a:t>
            </a:r>
          </a:p>
        </p:txBody>
      </p:sp>
      <p:sp>
        <p:nvSpPr>
          <p:cNvPr id="7" name="stack-v-0">
            <a:extLst xmlns:a="http://schemas.openxmlformats.org/drawingml/2006/main">
              <a:ext uri="{FF2B5EF4-FFF2-40B4-BE49-F238E27FC236}">
                <a16:creationId xmlns:a16="http://schemas.microsoft.com/office/drawing/2014/main" id="{BD5BA171-76DC-4A8D-A780-60265E69AD1F}"/>
              </a:ext>
            </a:extLst>
          </p:cNvPr>
          <p:cNvSpPr>
            <a:spLocks xmlns:a="http://schemas.openxmlformats.org/drawingml/2006/main" noGrp="1"/>
          </p:cNvSpPr>
          <p:nvPr/>
        </p:nvSpPr>
        <p:spPr>
          <a:xfrm xmlns:a="http://schemas.openxmlformats.org/drawingml/2006/main">
            <a:off x="57150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Microsoft Graph</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Docling</a:t>
            </a:r>
          </a:p>
        </p:txBody>
      </p:sp>
      <p:sp>
        <p:nvSpPr>
          <p:cNvPr id="8" name="stack-1">
            <a:extLst xmlns:a="http://schemas.openxmlformats.org/drawingml/2006/main">
              <a:ext uri="{FF2B5EF4-FFF2-40B4-BE49-F238E27FC236}">
                <a16:creationId xmlns:a16="http://schemas.microsoft.com/office/drawing/2014/main" id="{3A15C19B-8E1B-4C0A-932B-41DED9013FFF}"/>
              </a:ext>
            </a:extLst>
          </p:cNvPr>
          <p:cNvSpPr>
            <a:spLocks xmlns:a="http://schemas.openxmlformats.org/drawingml/2006/main" noGrp="1"/>
          </p:cNvSpPr>
          <p:nvPr/>
        </p:nvSpPr>
        <p:spPr>
          <a:xfrm xmlns:a="http://schemas.openxmlformats.org/drawingml/2006/main">
            <a:off x="266700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stack-k-1">
            <a:extLst xmlns:a="http://schemas.openxmlformats.org/drawingml/2006/main">
              <a:ext uri="{FF2B5EF4-FFF2-40B4-BE49-F238E27FC236}">
                <a16:creationId xmlns:a16="http://schemas.microsoft.com/office/drawing/2014/main" id="{4D1A99D0-F663-4E50-96BD-4FFB5DD93936}"/>
              </a:ext>
            </a:extLst>
          </p:cNvPr>
          <p:cNvSpPr>
            <a:spLocks xmlns:a="http://schemas.openxmlformats.org/drawingml/2006/main" noGrp="1"/>
          </p:cNvSpPr>
          <p:nvPr/>
        </p:nvSpPr>
        <p:spPr>
          <a:xfrm xmlns:a="http://schemas.openxmlformats.org/drawingml/2006/main">
            <a:off x="283845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AGENT + RAG</a:t>
            </a:r>
          </a:p>
        </p:txBody>
      </p:sp>
      <p:sp>
        <p:nvSpPr>
          <p:cNvPr id="10" name="stack-v-1">
            <a:extLst xmlns:a="http://schemas.openxmlformats.org/drawingml/2006/main">
              <a:ext uri="{FF2B5EF4-FFF2-40B4-BE49-F238E27FC236}">
                <a16:creationId xmlns:a16="http://schemas.microsoft.com/office/drawing/2014/main" id="{E5BFF12C-991B-418E-9F1C-F02558696270}"/>
              </a:ext>
            </a:extLst>
          </p:cNvPr>
          <p:cNvSpPr>
            <a:spLocks xmlns:a="http://schemas.openxmlformats.org/drawingml/2006/main" noGrp="1"/>
          </p:cNvSpPr>
          <p:nvPr/>
        </p:nvSpPr>
        <p:spPr>
          <a:xfrm xmlns:a="http://schemas.openxmlformats.org/drawingml/2006/main">
            <a:off x="283845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LangGraph</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LlamaIndex</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Semantic RAG</a:t>
            </a:r>
          </a:p>
        </p:txBody>
      </p:sp>
      <p:sp>
        <p:nvSpPr>
          <p:cNvPr id="11" name="stack-2">
            <a:extLst xmlns:a="http://schemas.openxmlformats.org/drawingml/2006/main">
              <a:ext uri="{FF2B5EF4-FFF2-40B4-BE49-F238E27FC236}">
                <a16:creationId xmlns:a16="http://schemas.microsoft.com/office/drawing/2014/main" id="{6C31BA98-6BC0-4EDA-8FFA-38CE0B754045}"/>
              </a:ext>
            </a:extLst>
          </p:cNvPr>
          <p:cNvSpPr>
            <a:spLocks xmlns:a="http://schemas.openxmlformats.org/drawingml/2006/main" noGrp="1"/>
          </p:cNvSpPr>
          <p:nvPr/>
        </p:nvSpPr>
        <p:spPr>
          <a:xfrm xmlns:a="http://schemas.openxmlformats.org/drawingml/2006/main">
            <a:off x="4933950" y="1952625"/>
            <a:ext cx="2000250" cy="31432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2" name="stack-k-2">
            <a:extLst xmlns:a="http://schemas.openxmlformats.org/drawingml/2006/main">
              <a:ext uri="{FF2B5EF4-FFF2-40B4-BE49-F238E27FC236}">
                <a16:creationId xmlns:a16="http://schemas.microsoft.com/office/drawing/2014/main" id="{AB39D1A1-712F-46D9-A6C5-600BAF6F1ED7}"/>
              </a:ext>
            </a:extLst>
          </p:cNvPr>
          <p:cNvSpPr>
            <a:spLocks xmlns:a="http://schemas.openxmlformats.org/drawingml/2006/main" noGrp="1"/>
          </p:cNvSpPr>
          <p:nvPr/>
        </p:nvSpPr>
        <p:spPr>
          <a:xfrm xmlns:a="http://schemas.openxmlformats.org/drawingml/2006/main">
            <a:off x="510540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3D8DFF"/>
                </a:solidFill>
                <a:latin typeface="Arial"/>
                <a:ea typeface="Arial"/>
                <a:cs typeface="Arial"/>
              </a:defRPr>
            </a:pPr>
            <a:r>
              <a:rPr sz="1125" b="1">
                <a:solidFill>
                  <a:srgbClr val="3D8DFF"/>
                </a:solidFill>
                <a:latin typeface="Arial"/>
                <a:ea typeface="Arial"/>
                <a:cs typeface="Arial"/>
              </a:rPr>
              <a:t>MODEL + DATA</a:t>
            </a:r>
          </a:p>
        </p:txBody>
      </p:sp>
      <p:sp>
        <p:nvSpPr>
          <p:cNvPr id="13" name="stack-v-2">
            <a:extLst xmlns:a="http://schemas.openxmlformats.org/drawingml/2006/main">
              <a:ext uri="{FF2B5EF4-FFF2-40B4-BE49-F238E27FC236}">
                <a16:creationId xmlns:a16="http://schemas.microsoft.com/office/drawing/2014/main" id="{D3D5BB39-6C52-41B3-85AF-FE8F13A807CE}"/>
              </a:ext>
            </a:extLst>
          </p:cNvPr>
          <p:cNvSpPr>
            <a:spLocks xmlns:a="http://schemas.openxmlformats.org/drawingml/2006/main" noGrp="1"/>
          </p:cNvSpPr>
          <p:nvPr/>
        </p:nvSpPr>
        <p:spPr>
          <a:xfrm xmlns:a="http://schemas.openxmlformats.org/drawingml/2006/main">
            <a:off x="510540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Qwen 3.5 via Ollama</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PostgreSQL + pgvector</a:t>
            </a:r>
          </a:p>
        </p:txBody>
      </p:sp>
      <p:sp>
        <p:nvSpPr>
          <p:cNvPr id="14" name="stack-3">
            <a:extLst xmlns:a="http://schemas.openxmlformats.org/drawingml/2006/main">
              <a:ext uri="{FF2B5EF4-FFF2-40B4-BE49-F238E27FC236}">
                <a16:creationId xmlns:a16="http://schemas.microsoft.com/office/drawing/2014/main" id="{984CBB88-BB50-4223-A82A-73DE81C289C1}"/>
              </a:ext>
            </a:extLst>
          </p:cNvPr>
          <p:cNvSpPr>
            <a:spLocks xmlns:a="http://schemas.openxmlformats.org/drawingml/2006/main" noGrp="1"/>
          </p:cNvSpPr>
          <p:nvPr/>
        </p:nvSpPr>
        <p:spPr>
          <a:xfrm xmlns:a="http://schemas.openxmlformats.org/drawingml/2006/main">
            <a:off x="720090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5" name="stack-k-3">
            <a:extLst xmlns:a="http://schemas.openxmlformats.org/drawingml/2006/main">
              <a:ext uri="{FF2B5EF4-FFF2-40B4-BE49-F238E27FC236}">
                <a16:creationId xmlns:a16="http://schemas.microsoft.com/office/drawing/2014/main" id="{638720B0-E73D-4DDF-ABFD-6AFB94E933F2}"/>
              </a:ext>
            </a:extLst>
          </p:cNvPr>
          <p:cNvSpPr>
            <a:spLocks xmlns:a="http://schemas.openxmlformats.org/drawingml/2006/main" noGrp="1"/>
          </p:cNvSpPr>
          <p:nvPr/>
        </p:nvSpPr>
        <p:spPr>
          <a:xfrm xmlns:a="http://schemas.openxmlformats.org/drawingml/2006/main">
            <a:off x="737235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ERP + OBSERVE</a:t>
            </a:r>
          </a:p>
        </p:txBody>
      </p:sp>
      <p:sp>
        <p:nvSpPr>
          <p:cNvPr id="16" name="stack-v-3">
            <a:extLst xmlns:a="http://schemas.openxmlformats.org/drawingml/2006/main">
              <a:ext uri="{FF2B5EF4-FFF2-40B4-BE49-F238E27FC236}">
                <a16:creationId xmlns:a16="http://schemas.microsoft.com/office/drawing/2014/main" id="{BD5E950A-C882-49E3-B9E2-776CA0F7AF08}"/>
              </a:ext>
            </a:extLst>
          </p:cNvPr>
          <p:cNvSpPr>
            <a:spLocks xmlns:a="http://schemas.openxmlformats.org/drawingml/2006/main" noGrp="1"/>
          </p:cNvSpPr>
          <p:nvPr/>
        </p:nvSpPr>
        <p:spPr>
          <a:xfrm xmlns:a="http://schemas.openxmlformats.org/drawingml/2006/main">
            <a:off x="737235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Mock ERP HTTP API</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Arize Phoenix traces</a:t>
            </a:r>
          </a:p>
        </p:txBody>
      </p:sp>
      <p:sp>
        <p:nvSpPr>
          <p:cNvPr id="17" name="stack-4">
            <a:extLst xmlns:a="http://schemas.openxmlformats.org/drawingml/2006/main">
              <a:ext uri="{FF2B5EF4-FFF2-40B4-BE49-F238E27FC236}">
                <a16:creationId xmlns:a16="http://schemas.microsoft.com/office/drawing/2014/main" id="{30F8627B-7B05-4A43-B58D-9C0624E256D8}"/>
              </a:ext>
            </a:extLst>
          </p:cNvPr>
          <p:cNvSpPr>
            <a:spLocks xmlns:a="http://schemas.openxmlformats.org/drawingml/2006/main" noGrp="1"/>
          </p:cNvSpPr>
          <p:nvPr/>
        </p:nvSpPr>
        <p:spPr>
          <a:xfrm xmlns:a="http://schemas.openxmlformats.org/drawingml/2006/main">
            <a:off x="9467850" y="1952625"/>
            <a:ext cx="20002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8" name="stack-k-4">
            <a:extLst xmlns:a="http://schemas.openxmlformats.org/drawingml/2006/main">
              <a:ext uri="{FF2B5EF4-FFF2-40B4-BE49-F238E27FC236}">
                <a16:creationId xmlns:a16="http://schemas.microsoft.com/office/drawing/2014/main" id="{E0D556A3-9E4B-41F9-8626-3FBB630E883F}"/>
              </a:ext>
            </a:extLst>
          </p:cNvPr>
          <p:cNvSpPr>
            <a:spLocks xmlns:a="http://schemas.openxmlformats.org/drawingml/2006/main" noGrp="1"/>
          </p:cNvSpPr>
          <p:nvPr/>
        </p:nvSpPr>
        <p:spPr>
          <a:xfrm xmlns:a="http://schemas.openxmlformats.org/drawingml/2006/main">
            <a:off x="9639300" y="2190750"/>
            <a:ext cx="16573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a:solidFill>
                  <a:srgbClr val="5E6773"/>
                </a:solidFill>
                <a:latin typeface="Arial"/>
                <a:ea typeface="Arial"/>
                <a:cs typeface="Arial"/>
              </a:defRPr>
            </a:pPr>
            <a:r>
              <a:rPr sz="1125" b="1">
                <a:solidFill>
                  <a:srgbClr val="5E6773"/>
                </a:solidFill>
                <a:latin typeface="Arial"/>
                <a:ea typeface="Arial"/>
                <a:cs typeface="Arial"/>
              </a:rPr>
              <a:t>EVALUATE + SHIP</a:t>
            </a:r>
          </a:p>
        </p:txBody>
      </p:sp>
      <p:sp>
        <p:nvSpPr>
          <p:cNvPr id="19" name="stack-v-4">
            <a:extLst xmlns:a="http://schemas.openxmlformats.org/drawingml/2006/main">
              <a:ext uri="{FF2B5EF4-FFF2-40B4-BE49-F238E27FC236}">
                <a16:creationId xmlns:a16="http://schemas.microsoft.com/office/drawing/2014/main" id="{CFA55E46-264F-4DAE-AE6F-FED7318D2159}"/>
              </a:ext>
            </a:extLst>
          </p:cNvPr>
          <p:cNvSpPr>
            <a:spLocks xmlns:a="http://schemas.openxmlformats.org/drawingml/2006/main" noGrp="1"/>
          </p:cNvSpPr>
          <p:nvPr/>
        </p:nvSpPr>
        <p:spPr>
          <a:xfrm xmlns:a="http://schemas.openxmlformats.org/drawingml/2006/main">
            <a:off x="9639300" y="3143250"/>
            <a:ext cx="16573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746"/>
          </a:bodyPr>
          <a:lstStyle xmlns:a="http://schemas.openxmlformats.org/drawingml/2006/main"/>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RAGAS retrieval metrics</a:t>
            </a:r>
          </a:p>
          <a:p xmlns:a="http://schemas.openxmlformats.org/drawingml/2006/main">
            <a:pPr algn="ctr">
              <a:buNone/>
              <a:defRPr sz="1725" b="1">
                <a:solidFill>
                  <a:srgbClr val="000000"/>
                </a:solidFill>
                <a:latin typeface="Arial"/>
                <a:ea typeface="Arial"/>
                <a:cs typeface="Arial"/>
              </a:defRPr>
            </a:pPr>
            <a:r>
              <a:rPr sz="1725" b="1">
                <a:solidFill>
                  <a:srgbClr val="000000"/>
                </a:solidFill>
                <a:latin typeface="Arial"/>
                <a:ea typeface="Arial"/>
                <a:cs typeface="Arial"/>
              </a:rPr>
              <a:t>Docker Compose</a:t>
            </a:r>
          </a:p>
        </p:txBody>
      </p:sp>
      <p:sp>
        <p:nvSpPr>
          <p:cNvPr id="20" name="stack-note">
            <a:extLst xmlns:a="http://schemas.openxmlformats.org/drawingml/2006/main">
              <a:ext uri="{FF2B5EF4-FFF2-40B4-BE49-F238E27FC236}">
                <a16:creationId xmlns:a16="http://schemas.microsoft.com/office/drawing/2014/main" id="{CD9A0CD7-DB15-4353-9864-0FA4B2E50A86}"/>
              </a:ext>
            </a:extLst>
          </p:cNvPr>
          <p:cNvSpPr>
            <a:spLocks xmlns:a="http://schemas.openxmlformats.org/drawingml/2006/main" noGrp="1"/>
          </p:cNvSpPr>
          <p:nvPr/>
        </p:nvSpPr>
        <p:spPr>
          <a:xfrm xmlns:a="http://schemas.openxmlformats.org/drawingml/2006/main">
            <a:off x="400050" y="5553075"/>
            <a:ext cx="1104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000000"/>
                </a:solidFill>
                <a:latin typeface="Arial"/>
                <a:ea typeface="Arial"/>
                <a:cs typeface="Arial"/>
              </a:defRPr>
            </a:pPr>
            <a:r>
              <a:rPr sz="1575" b="1">
                <a:solidFill>
                  <a:srgbClr val="000000"/>
                </a:solidFill>
                <a:latin typeface="Arial"/>
                <a:ea typeface="Arial"/>
                <a:cs typeface="Arial"/>
              </a:rPr>
              <a:t>Ollama, both models, and Phoenix are mandatory; missing AI returns 503 and blocks execution.</a:t>
            </a:r>
          </a:p>
        </p:txBody>
      </p:sp>
    </p:spTree>
    <p:extLst>
      <p:ext uri="{BB962C8B-B14F-4D97-AF65-F5344CB8AC3E}">
        <p14:creationId xmlns:p14="http://schemas.microsoft.com/office/powerpoint/2010/main" val="12912187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eyebrow-10">
            <a:extLst xmlns:a="http://schemas.openxmlformats.org/drawingml/2006/main">
              <a:ext uri="{FF2B5EF4-FFF2-40B4-BE49-F238E27FC236}">
                <a16:creationId xmlns:a16="http://schemas.microsoft.com/office/drawing/2014/main" id="{C000CA17-8EFA-4E4C-B224-03D15FF618F4}"/>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10">
            <a:extLst xmlns:a="http://schemas.openxmlformats.org/drawingml/2006/main">
              <a:ext uri="{FF2B5EF4-FFF2-40B4-BE49-F238E27FC236}">
                <a16:creationId xmlns:a16="http://schemas.microsoft.com/office/drawing/2014/main" id="{17CA57DF-7C4C-4FA9-9531-84AB2B3F5966}"/>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851"/>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Live-agent benchmarks prove controlled behavior—not generalization</a:t>
            </a:r>
          </a:p>
        </p:txBody>
      </p:sp>
      <p:sp>
        <p:nvSpPr>
          <p:cNvPr id="3" name="rule-42-145">
            <a:extLst xmlns:a="http://schemas.openxmlformats.org/drawingml/2006/main">
              <a:ext uri="{FF2B5EF4-FFF2-40B4-BE49-F238E27FC236}">
                <a16:creationId xmlns:a16="http://schemas.microsoft.com/office/drawing/2014/main" id="{A0EAB6F1-AA1A-4DC7-B2AC-C822D176121F}"/>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10">
            <a:extLst xmlns:a="http://schemas.openxmlformats.org/drawingml/2006/main">
              <a:ext uri="{FF2B5EF4-FFF2-40B4-BE49-F238E27FC236}">
                <a16:creationId xmlns:a16="http://schemas.microsoft.com/office/drawing/2014/main" id="{58537768-CBA4-42CE-AFB4-654211A8BCBC}"/>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10</a:t>
            </a:r>
          </a:p>
        </p:txBody>
      </p:sp>
      <p:sp>
        <p:nvSpPr>
          <p:cNvPr id="5" name="metrics-lead">
            <a:extLst xmlns:a="http://schemas.openxmlformats.org/drawingml/2006/main">
              <a:ext uri="{FF2B5EF4-FFF2-40B4-BE49-F238E27FC236}">
                <a16:creationId xmlns:a16="http://schemas.microsoft.com/office/drawing/2014/main" id="{1ACDDDF9-7E59-4B04-BF61-F115AAF2C065}"/>
              </a:ext>
            </a:extLst>
          </p:cNvPr>
          <p:cNvSpPr>
            <a:spLocks xmlns:a="http://schemas.openxmlformats.org/drawingml/2006/main" noGrp="1"/>
          </p:cNvSpPr>
          <p:nvPr/>
        </p:nvSpPr>
        <p:spPr>
          <a:xfrm xmlns:a="http://schemas.openxmlformats.org/drawingml/2006/main">
            <a:off x="400050" y="16192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a:solidFill>
                  <a:srgbClr val="5E6773"/>
                </a:solidFill>
                <a:latin typeface="Arial"/>
                <a:ea typeface="Arial"/>
                <a:cs typeface="Arial"/>
              </a:defRPr>
            </a:pPr>
            <a:r>
              <a:rPr sz="1575" b="0">
                <a:solidFill>
                  <a:srgbClr val="5E6773"/>
                </a:solidFill>
                <a:latin typeface="Arial"/>
                <a:ea typeface="Arial"/>
                <a:cs typeface="Arial"/>
              </a:rPr>
              <a:t>16 live-agent documents · AP extraction 88.6% · AR extraction 97.2% · decisions 100%.</a:t>
            </a:r>
          </a:p>
        </p:txBody>
      </p:sp>
      <p:sp>
        <p:nvSpPr>
          <p:cNvPr id="6" name="metric-0">
            <a:extLst xmlns:a="http://schemas.openxmlformats.org/drawingml/2006/main">
              <a:ext uri="{FF2B5EF4-FFF2-40B4-BE49-F238E27FC236}">
                <a16:creationId xmlns:a16="http://schemas.microsoft.com/office/drawing/2014/main" id="{F795AA9B-2B6C-4297-9BF5-34B0A2C70F86}"/>
              </a:ext>
            </a:extLst>
          </p:cNvPr>
          <p:cNvSpPr>
            <a:spLocks xmlns:a="http://schemas.openxmlformats.org/drawingml/2006/main" noGrp="1"/>
          </p:cNvSpPr>
          <p:nvPr/>
        </p:nvSpPr>
        <p:spPr>
          <a:xfrm xmlns:a="http://schemas.openxmlformats.org/drawingml/2006/main">
            <a:off x="400050" y="2619375"/>
            <a:ext cx="3571875" cy="24765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metric-v-0">
            <a:extLst xmlns:a="http://schemas.openxmlformats.org/drawingml/2006/main">
              <a:ext uri="{FF2B5EF4-FFF2-40B4-BE49-F238E27FC236}">
                <a16:creationId xmlns:a16="http://schemas.microsoft.com/office/drawing/2014/main" id="{F5D1B8B8-EDB1-4819-A17D-70FF87261B96}"/>
              </a:ext>
            </a:extLst>
          </p:cNvPr>
          <p:cNvSpPr>
            <a:spLocks xmlns:a="http://schemas.openxmlformats.org/drawingml/2006/main" noGrp="1"/>
          </p:cNvSpPr>
          <p:nvPr/>
        </p:nvSpPr>
        <p:spPr>
          <a:xfrm xmlns:a="http://schemas.openxmlformats.org/drawingml/2006/main">
            <a:off x="685800" y="3048000"/>
            <a:ext cx="300037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100%</a:t>
            </a:r>
          </a:p>
        </p:txBody>
      </p:sp>
      <p:sp>
        <p:nvSpPr>
          <p:cNvPr id="8" name="metric-l-0">
            <a:extLst xmlns:a="http://schemas.openxmlformats.org/drawingml/2006/main">
              <a:ext uri="{FF2B5EF4-FFF2-40B4-BE49-F238E27FC236}">
                <a16:creationId xmlns:a16="http://schemas.microsoft.com/office/drawing/2014/main" id="{73E8EE75-5FAF-4F85-8915-5F6C125894DC}"/>
              </a:ext>
            </a:extLst>
          </p:cNvPr>
          <p:cNvSpPr>
            <a:spLocks xmlns:a="http://schemas.openxmlformats.org/drawingml/2006/main" noGrp="1"/>
          </p:cNvSpPr>
          <p:nvPr/>
        </p:nvSpPr>
        <p:spPr>
          <a:xfrm xmlns:a="http://schemas.openxmlformats.org/drawingml/2006/main">
            <a:off x="685800" y="4048125"/>
            <a:ext cx="30003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AP + AR match decisions</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16 / 16 documents</a:t>
            </a:r>
          </a:p>
        </p:txBody>
      </p:sp>
      <p:sp>
        <p:nvSpPr>
          <p:cNvPr id="9" name="metric-1">
            <a:extLst xmlns:a="http://schemas.openxmlformats.org/drawingml/2006/main">
              <a:ext uri="{FF2B5EF4-FFF2-40B4-BE49-F238E27FC236}">
                <a16:creationId xmlns:a16="http://schemas.microsoft.com/office/drawing/2014/main" id="{9A4F02B2-23E8-4ADC-8FC4-9FCBAEB3CBFC}"/>
              </a:ext>
            </a:extLst>
          </p:cNvPr>
          <p:cNvSpPr>
            <a:spLocks xmlns:a="http://schemas.openxmlformats.org/drawingml/2006/main" noGrp="1"/>
          </p:cNvSpPr>
          <p:nvPr/>
        </p:nvSpPr>
        <p:spPr>
          <a:xfrm xmlns:a="http://schemas.openxmlformats.org/drawingml/2006/main">
            <a:off x="4314825" y="2619375"/>
            <a:ext cx="3571875" cy="24765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metric-v-1">
            <a:extLst xmlns:a="http://schemas.openxmlformats.org/drawingml/2006/main">
              <a:ext uri="{FF2B5EF4-FFF2-40B4-BE49-F238E27FC236}">
                <a16:creationId xmlns:a16="http://schemas.microsoft.com/office/drawing/2014/main" id="{BDE8D63F-5DC3-493D-977F-811275B45403}"/>
              </a:ext>
            </a:extLst>
          </p:cNvPr>
          <p:cNvSpPr>
            <a:spLocks xmlns:a="http://schemas.openxmlformats.org/drawingml/2006/main" noGrp="1"/>
          </p:cNvSpPr>
          <p:nvPr/>
        </p:nvSpPr>
        <p:spPr>
          <a:xfrm xmlns:a="http://schemas.openxmlformats.org/drawingml/2006/main">
            <a:off x="4600575" y="3048000"/>
            <a:ext cx="300037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97.2%</a:t>
            </a:r>
          </a:p>
        </p:txBody>
      </p:sp>
      <p:sp>
        <p:nvSpPr>
          <p:cNvPr id="11" name="metric-l-1">
            <a:extLst xmlns:a="http://schemas.openxmlformats.org/drawingml/2006/main">
              <a:ext uri="{FF2B5EF4-FFF2-40B4-BE49-F238E27FC236}">
                <a16:creationId xmlns:a16="http://schemas.microsoft.com/office/drawing/2014/main" id="{6DA2BCE0-55C5-4A2E-9638-F298CEBD79AC}"/>
              </a:ext>
            </a:extLst>
          </p:cNvPr>
          <p:cNvSpPr>
            <a:spLocks xmlns:a="http://schemas.openxmlformats.org/drawingml/2006/main" noGrp="1"/>
          </p:cNvSpPr>
          <p:nvPr/>
        </p:nvSpPr>
        <p:spPr>
          <a:xfrm xmlns:a="http://schemas.openxmlformats.org/drawingml/2006/main">
            <a:off x="4600575" y="4048125"/>
            <a:ext cx="30003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AR field extraction</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35 / 36 labels</a:t>
            </a:r>
          </a:p>
        </p:txBody>
      </p:sp>
      <p:sp>
        <p:nvSpPr>
          <p:cNvPr id="12" name="metric-2">
            <a:extLst xmlns:a="http://schemas.openxmlformats.org/drawingml/2006/main">
              <a:ext uri="{FF2B5EF4-FFF2-40B4-BE49-F238E27FC236}">
                <a16:creationId xmlns:a16="http://schemas.microsoft.com/office/drawing/2014/main" id="{4020BA33-3FDA-400B-B46F-3EAE5E9F2DFB}"/>
              </a:ext>
            </a:extLst>
          </p:cNvPr>
          <p:cNvSpPr>
            <a:spLocks xmlns:a="http://schemas.openxmlformats.org/drawingml/2006/main" noGrp="1"/>
          </p:cNvSpPr>
          <p:nvPr/>
        </p:nvSpPr>
        <p:spPr>
          <a:xfrm xmlns:a="http://schemas.openxmlformats.org/drawingml/2006/main">
            <a:off x="8229600" y="2619375"/>
            <a:ext cx="3571875" cy="2476500"/>
          </a:xfrm>
          <a:prstGeom xmlns:a="http://schemas.openxmlformats.org/drawingml/2006/main" prst="rect">
            <a:avLst/>
          </a:prstGeom>
          <a:solidFill xmlns:a="http://schemas.openxmlformats.org/drawingml/2006/main">
            <a:srgbClr val="FFF2CF"/>
          </a:solidFill>
          <a:ln xmlns:a="http://schemas.openxmlformats.org/drawingml/2006/main" w="0">
            <a:noFill/>
            <a:prstDash val="solid"/>
          </a:ln>
        </p:spPr>
      </p:sp>
      <p:sp>
        <p:nvSpPr>
          <p:cNvPr id="13" name="metric-v-2">
            <a:extLst xmlns:a="http://schemas.openxmlformats.org/drawingml/2006/main">
              <a:ext uri="{FF2B5EF4-FFF2-40B4-BE49-F238E27FC236}">
                <a16:creationId xmlns:a16="http://schemas.microsoft.com/office/drawing/2014/main" id="{1D9C6753-F2F2-4323-9604-438CD4553FB6}"/>
              </a:ext>
            </a:extLst>
          </p:cNvPr>
          <p:cNvSpPr>
            <a:spLocks xmlns:a="http://schemas.openxmlformats.org/drawingml/2006/main" noGrp="1"/>
          </p:cNvSpPr>
          <p:nvPr/>
        </p:nvSpPr>
        <p:spPr>
          <a:xfrm xmlns:a="http://schemas.openxmlformats.org/drawingml/2006/main">
            <a:off x="8515350" y="3048000"/>
            <a:ext cx="300037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0%</a:t>
            </a:r>
          </a:p>
        </p:txBody>
      </p:sp>
      <p:sp>
        <p:nvSpPr>
          <p:cNvPr id="14" name="metric-l-2">
            <a:extLst xmlns:a="http://schemas.openxmlformats.org/drawingml/2006/main">
              <a:ext uri="{FF2B5EF4-FFF2-40B4-BE49-F238E27FC236}">
                <a16:creationId xmlns:a16="http://schemas.microsoft.com/office/drawing/2014/main" id="{CD33AE0A-5429-415C-85A0-DF78BB39D440}"/>
              </a:ext>
            </a:extLst>
          </p:cNvPr>
          <p:cNvSpPr>
            <a:spLocks xmlns:a="http://schemas.openxmlformats.org/drawingml/2006/main" noGrp="1"/>
          </p:cNvSpPr>
          <p:nvPr/>
        </p:nvSpPr>
        <p:spPr>
          <a:xfrm xmlns:a="http://schemas.openxmlformats.org/drawingml/2006/main">
            <a:off x="8515350" y="4048125"/>
            <a:ext cx="30003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false journal / cash action</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0 / 16 documents</a:t>
            </a:r>
          </a:p>
        </p:txBody>
      </p:sp>
      <p:sp>
        <p:nvSpPr>
          <p:cNvPr id="15" name="metrics-caveat">
            <a:extLst xmlns:a="http://schemas.openxmlformats.org/drawingml/2006/main">
              <a:ext uri="{FF2B5EF4-FFF2-40B4-BE49-F238E27FC236}">
                <a16:creationId xmlns:a16="http://schemas.microsoft.com/office/drawing/2014/main" id="{884B0ECE-FDB8-4D85-B3F1-E94D2D6788A3}"/>
              </a:ext>
            </a:extLst>
          </p:cNvPr>
          <p:cNvSpPr>
            <a:spLocks xmlns:a="http://schemas.openxmlformats.org/drawingml/2006/main" noGrp="1"/>
          </p:cNvSpPr>
          <p:nvPr/>
        </p:nvSpPr>
        <p:spPr>
          <a:xfrm xmlns:a="http://schemas.openxmlformats.org/drawingml/2006/main">
            <a:off x="400050" y="5572125"/>
            <a:ext cx="1123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1">
                <a:solidFill>
                  <a:srgbClr val="000000"/>
                </a:solidFill>
                <a:latin typeface="Arial"/>
                <a:ea typeface="Arial"/>
                <a:cs typeface="Arial"/>
              </a:defRPr>
            </a:pPr>
            <a:r>
              <a:rPr sz="1425" b="1">
                <a:solidFill>
                  <a:srgbClr val="000000"/>
                </a:solidFill>
                <a:latin typeface="Arial"/>
                <a:ea typeface="Arial"/>
                <a:cs typeface="Arial"/>
              </a:rPr>
              <a:t>RAGAS: 88.9% precision + recall · conservative escalation: 0 / 9 eligible · 66 tests pass.</a:t>
            </a:r>
          </a:p>
        </p:txBody>
      </p:sp>
    </p:spTree>
    <p:extLst>
      <p:ext uri="{BB962C8B-B14F-4D97-AF65-F5344CB8AC3E}">
        <p14:creationId xmlns:p14="http://schemas.microsoft.com/office/powerpoint/2010/main" val="16696755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11">
            <a:extLst xmlns:a="http://schemas.openxmlformats.org/drawingml/2006/main">
              <a:ext uri="{FF2B5EF4-FFF2-40B4-BE49-F238E27FC236}">
                <a16:creationId xmlns:a16="http://schemas.microsoft.com/office/drawing/2014/main" id="{69420006-0C07-4BB9-B06C-8BF1EC1ABAB1}"/>
              </a:ext>
            </a:extLst>
          </p:cNvPr>
          <p:cNvSpPr>
            <a:spLocks xmlns:a="http://schemas.openxmlformats.org/drawingml/2006/main" noGrp="1"/>
          </p:cNvSpPr>
          <p:nvPr/>
        </p:nvSpPr>
        <p:spPr>
          <a:xfrm xmlns:a="http://schemas.openxmlformats.org/drawingml/2006/main">
            <a:off x="400050" y="25717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5E6773"/>
                </a:solidFill>
                <a:latin typeface="Arial"/>
                <a:ea typeface="Arial"/>
                <a:cs typeface="Arial"/>
              </a:defRPr>
            </a:pPr>
            <a:r>
              <a:rPr sz="1050" b="1">
                <a:solidFill>
                  <a:srgbClr val="5E6773"/>
                </a:solidFill>
                <a:latin typeface="Arial"/>
                <a:ea typeface="Arial"/>
                <a:cs typeface="Arial"/>
              </a:rPr>
              <a:t>LEDGERPILOT</a:t>
            </a:r>
          </a:p>
        </p:txBody>
      </p:sp>
      <p:sp>
        <p:nvSpPr>
          <p:cNvPr id="2" name="title-11">
            <a:extLst xmlns:a="http://schemas.openxmlformats.org/drawingml/2006/main">
              <a:ext uri="{FF2B5EF4-FFF2-40B4-BE49-F238E27FC236}">
                <a16:creationId xmlns:a16="http://schemas.microsoft.com/office/drawing/2014/main" id="{01C2065C-DCA8-4101-BECB-9AD40E165FA7}"/>
              </a:ext>
            </a:extLst>
          </p:cNvPr>
          <p:cNvSpPr>
            <a:spLocks xmlns:a="http://schemas.openxmlformats.org/drawingml/2006/main" noGrp="1"/>
          </p:cNvSpPr>
          <p:nvPr/>
        </p:nvSpPr>
        <p:spPr>
          <a:xfrm xmlns:a="http://schemas.openxmlformats.org/drawingml/2006/main">
            <a:off x="400050" y="56197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526"/>
          </a:bodyPr>
          <a:lstStyle xmlns:a="http://schemas.openxmlformats.org/drawingml/2006/main"/>
          <a:p xmlns:a="http://schemas.openxmlformats.org/drawingml/2006/main">
            <a:pPr algn="l">
              <a:buNone/>
              <a:defRPr sz="2850" b="1">
                <a:solidFill>
                  <a:srgbClr val="000000"/>
                </a:solidFill>
                <a:latin typeface="Arial"/>
                <a:ea typeface="Arial"/>
                <a:cs typeface="Arial"/>
              </a:defRPr>
            </a:pPr>
            <a:r>
              <a:rPr sz="2850" b="1">
                <a:solidFill>
                  <a:srgbClr val="000000"/>
                </a:solidFill>
                <a:latin typeface="Arial"/>
                <a:ea typeface="Arial"/>
                <a:cs typeface="Arial"/>
              </a:rPr>
              <a:t>A reviewer can deploy, verify, and demonstrate the prototype in three moves</a:t>
            </a:r>
          </a:p>
        </p:txBody>
      </p:sp>
      <p:sp>
        <p:nvSpPr>
          <p:cNvPr id="3" name="rule-42-145">
            <a:extLst xmlns:a="http://schemas.openxmlformats.org/drawingml/2006/main">
              <a:ext uri="{FF2B5EF4-FFF2-40B4-BE49-F238E27FC236}">
                <a16:creationId xmlns:a16="http://schemas.microsoft.com/office/drawing/2014/main" id="{D37B3FE6-7C16-4AD2-89CC-0FFC4101E8FD}"/>
              </a:ext>
            </a:extLst>
          </p:cNvPr>
          <p:cNvSpPr>
            <a:spLocks xmlns:a="http://schemas.openxmlformats.org/drawingml/2006/main" noGrp="1"/>
          </p:cNvSpPr>
          <p:nvPr/>
        </p:nvSpPr>
        <p:spPr>
          <a:xfrm xmlns:a="http://schemas.openxmlformats.org/drawingml/2006/main">
            <a:off x="400050" y="1381125"/>
            <a:ext cx="113919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footer-11">
            <a:extLst xmlns:a="http://schemas.openxmlformats.org/drawingml/2006/main">
              <a:ext uri="{FF2B5EF4-FFF2-40B4-BE49-F238E27FC236}">
                <a16:creationId xmlns:a16="http://schemas.microsoft.com/office/drawing/2014/main" id="{1F90B162-5476-46BB-8DE0-17DA7A8DE44A}"/>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11</a:t>
            </a:r>
          </a:p>
        </p:txBody>
      </p:sp>
      <p:sp>
        <p:nvSpPr>
          <p:cNvPr id="5" name="deploy-line">
            <a:extLst xmlns:a="http://schemas.openxmlformats.org/drawingml/2006/main">
              <a:ext uri="{FF2B5EF4-FFF2-40B4-BE49-F238E27FC236}">
                <a16:creationId xmlns:a16="http://schemas.microsoft.com/office/drawing/2014/main" id="{BE8D2695-1FE5-4FCC-83DD-F603CA6E74E1}"/>
              </a:ext>
            </a:extLst>
          </p:cNvPr>
          <p:cNvSpPr>
            <a:spLocks xmlns:a="http://schemas.openxmlformats.org/drawingml/2006/main" noGrp="1"/>
          </p:cNvSpPr>
          <p:nvPr/>
        </p:nvSpPr>
        <p:spPr>
          <a:xfrm xmlns:a="http://schemas.openxmlformats.org/drawingml/2006/main">
            <a:off x="952500" y="3190875"/>
            <a:ext cx="10287000" cy="1905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deploy-dot-0">
            <a:extLst xmlns:a="http://schemas.openxmlformats.org/drawingml/2006/main">
              <a:ext uri="{FF2B5EF4-FFF2-40B4-BE49-F238E27FC236}">
                <a16:creationId xmlns:a16="http://schemas.microsoft.com/office/drawing/2014/main" id="{7B5BCC65-530D-4C66-B994-BFEEB2DC43F0}"/>
              </a:ext>
            </a:extLst>
          </p:cNvPr>
          <p:cNvSpPr>
            <a:spLocks xmlns:a="http://schemas.openxmlformats.org/drawingml/2006/main" noGrp="1"/>
          </p:cNvSpPr>
          <p:nvPr/>
        </p:nvSpPr>
        <p:spPr>
          <a:xfrm xmlns:a="http://schemas.openxmlformats.org/drawingml/2006/main">
            <a:off x="952500" y="3114675"/>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7" name="deploy-num-0">
            <a:extLst xmlns:a="http://schemas.openxmlformats.org/drawingml/2006/main">
              <a:ext uri="{FF2B5EF4-FFF2-40B4-BE49-F238E27FC236}">
                <a16:creationId xmlns:a16="http://schemas.microsoft.com/office/drawing/2014/main" id="{89855FC0-C758-4882-8F17-1974F5FD7EDE}"/>
              </a:ext>
            </a:extLst>
          </p:cNvPr>
          <p:cNvSpPr>
            <a:spLocks xmlns:a="http://schemas.openxmlformats.org/drawingml/2006/main" noGrp="1"/>
          </p:cNvSpPr>
          <p:nvPr/>
        </p:nvSpPr>
        <p:spPr>
          <a:xfrm xmlns:a="http://schemas.openxmlformats.org/drawingml/2006/main">
            <a:off x="952500" y="25717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01</a:t>
            </a:r>
          </a:p>
        </p:txBody>
      </p:sp>
      <p:sp>
        <p:nvSpPr>
          <p:cNvPr id="8" name="deploy-h-0">
            <a:extLst xmlns:a="http://schemas.openxmlformats.org/drawingml/2006/main">
              <a:ext uri="{FF2B5EF4-FFF2-40B4-BE49-F238E27FC236}">
                <a16:creationId xmlns:a16="http://schemas.microsoft.com/office/drawing/2014/main" id="{34E188CA-F1E1-4526-B1D7-C0803BB10DCD}"/>
              </a:ext>
            </a:extLst>
          </p:cNvPr>
          <p:cNvSpPr>
            <a:spLocks xmlns:a="http://schemas.openxmlformats.org/drawingml/2006/main" noGrp="1"/>
          </p:cNvSpPr>
          <p:nvPr/>
        </p:nvSpPr>
        <p:spPr>
          <a:xfrm xmlns:a="http://schemas.openxmlformats.org/drawingml/2006/main">
            <a:off x="952500" y="366712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Deploy</a:t>
            </a:r>
          </a:p>
        </p:txBody>
      </p:sp>
      <p:sp>
        <p:nvSpPr>
          <p:cNvPr id="9" name="deploy-b-0">
            <a:extLst xmlns:a="http://schemas.openxmlformats.org/drawingml/2006/main">
              <a:ext uri="{FF2B5EF4-FFF2-40B4-BE49-F238E27FC236}">
                <a16:creationId xmlns:a16="http://schemas.microsoft.com/office/drawing/2014/main" id="{CCBFEC79-7ECA-4BE1-8BFB-00EAA0C3BFA8}"/>
              </a:ext>
            </a:extLst>
          </p:cNvPr>
          <p:cNvSpPr>
            <a:spLocks xmlns:a="http://schemas.openxmlformats.org/drawingml/2006/main" noGrp="1"/>
          </p:cNvSpPr>
          <p:nvPr/>
        </p:nvSpPr>
        <p:spPr>
          <a:xfrm xmlns:a="http://schemas.openxmlformats.org/drawingml/2006/main">
            <a:off x="952500" y="4229100"/>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docker compose up --build -d</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pulls Qwen + embedding model</a:t>
            </a:r>
          </a:p>
        </p:txBody>
      </p:sp>
      <p:sp>
        <p:nvSpPr>
          <p:cNvPr id="10" name="deploy-dot-1">
            <a:extLst xmlns:a="http://schemas.openxmlformats.org/drawingml/2006/main">
              <a:ext uri="{FF2B5EF4-FFF2-40B4-BE49-F238E27FC236}">
                <a16:creationId xmlns:a16="http://schemas.microsoft.com/office/drawing/2014/main" id="{2F568932-0A05-4DB8-AD48-BFB9627C843B}"/>
              </a:ext>
            </a:extLst>
          </p:cNvPr>
          <p:cNvSpPr>
            <a:spLocks xmlns:a="http://schemas.openxmlformats.org/drawingml/2006/main" noGrp="1"/>
          </p:cNvSpPr>
          <p:nvPr/>
        </p:nvSpPr>
        <p:spPr>
          <a:xfrm xmlns:a="http://schemas.openxmlformats.org/drawingml/2006/main">
            <a:off x="4762500" y="3114675"/>
            <a:ext cx="171450" cy="171450"/>
          </a:xfrm>
          <a:prstGeom xmlns:a="http://schemas.openxmlformats.org/drawingml/2006/main" prst="roundRect">
            <a:avLst>
              <a:gd name="adj" fmla="val 50000"/>
            </a:avLst>
          </a:prstGeom>
          <a:solidFill xmlns:a="http://schemas.openxmlformats.org/drawingml/2006/main">
            <a:srgbClr val="000000"/>
          </a:solidFill>
          <a:ln xmlns:a="http://schemas.openxmlformats.org/drawingml/2006/main" w="0">
            <a:noFill/>
            <a:prstDash val="solid"/>
          </a:ln>
        </p:spPr>
      </p:sp>
      <p:sp>
        <p:nvSpPr>
          <p:cNvPr id="11" name="deploy-num-1">
            <a:extLst xmlns:a="http://schemas.openxmlformats.org/drawingml/2006/main">
              <a:ext uri="{FF2B5EF4-FFF2-40B4-BE49-F238E27FC236}">
                <a16:creationId xmlns:a16="http://schemas.microsoft.com/office/drawing/2014/main" id="{8BCC0152-7980-4E73-8F52-1A31A363CBCE}"/>
              </a:ext>
            </a:extLst>
          </p:cNvPr>
          <p:cNvSpPr>
            <a:spLocks xmlns:a="http://schemas.openxmlformats.org/drawingml/2006/main" noGrp="1"/>
          </p:cNvSpPr>
          <p:nvPr/>
        </p:nvSpPr>
        <p:spPr>
          <a:xfrm xmlns:a="http://schemas.openxmlformats.org/drawingml/2006/main">
            <a:off x="4762500" y="25717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02</a:t>
            </a:r>
          </a:p>
        </p:txBody>
      </p:sp>
      <p:sp>
        <p:nvSpPr>
          <p:cNvPr id="12" name="deploy-h-1">
            <a:extLst xmlns:a="http://schemas.openxmlformats.org/drawingml/2006/main">
              <a:ext uri="{FF2B5EF4-FFF2-40B4-BE49-F238E27FC236}">
                <a16:creationId xmlns:a16="http://schemas.microsoft.com/office/drawing/2014/main" id="{4AADC002-BB64-4A92-AE54-C2BBBE456372}"/>
              </a:ext>
            </a:extLst>
          </p:cNvPr>
          <p:cNvSpPr>
            <a:spLocks xmlns:a="http://schemas.openxmlformats.org/drawingml/2006/main" noGrp="1"/>
          </p:cNvSpPr>
          <p:nvPr/>
        </p:nvSpPr>
        <p:spPr>
          <a:xfrm xmlns:a="http://schemas.openxmlformats.org/drawingml/2006/main">
            <a:off x="4762500" y="366712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Verify</a:t>
            </a:r>
          </a:p>
        </p:txBody>
      </p:sp>
      <p:sp>
        <p:nvSpPr>
          <p:cNvPr id="13" name="deploy-b-1">
            <a:extLst xmlns:a="http://schemas.openxmlformats.org/drawingml/2006/main">
              <a:ext uri="{FF2B5EF4-FFF2-40B4-BE49-F238E27FC236}">
                <a16:creationId xmlns:a16="http://schemas.microsoft.com/office/drawing/2014/main" id="{267395FB-66D2-4F39-8DD0-503B7980260A}"/>
              </a:ext>
            </a:extLst>
          </p:cNvPr>
          <p:cNvSpPr>
            <a:spLocks xmlns:a="http://schemas.openxmlformats.org/drawingml/2006/main" noGrp="1"/>
          </p:cNvSpPr>
          <p:nvPr/>
        </p:nvSpPr>
        <p:spPr>
          <a:xfrm xmlns:a="http://schemas.openxmlformats.org/drawingml/2006/main">
            <a:off x="4762500" y="4229100"/>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/health · docs · ERP · Phoenix</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66 tests · live AP/AR + RAGAS eval</a:t>
            </a:r>
          </a:p>
        </p:txBody>
      </p:sp>
      <p:sp>
        <p:nvSpPr>
          <p:cNvPr id="14" name="deploy-dot-2">
            <a:extLst xmlns:a="http://schemas.openxmlformats.org/drawingml/2006/main">
              <a:ext uri="{FF2B5EF4-FFF2-40B4-BE49-F238E27FC236}">
                <a16:creationId xmlns:a16="http://schemas.microsoft.com/office/drawing/2014/main" id="{AAA2ADE0-06D1-4498-8DB1-AF47CA6B3156}"/>
              </a:ext>
            </a:extLst>
          </p:cNvPr>
          <p:cNvSpPr>
            <a:spLocks xmlns:a="http://schemas.openxmlformats.org/drawingml/2006/main" noGrp="1"/>
          </p:cNvSpPr>
          <p:nvPr/>
        </p:nvSpPr>
        <p:spPr>
          <a:xfrm xmlns:a="http://schemas.openxmlformats.org/drawingml/2006/main">
            <a:off x="8572500" y="3114675"/>
            <a:ext cx="171450" cy="17145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noFill/>
            <a:prstDash val="solid"/>
          </a:ln>
        </p:spPr>
      </p:sp>
      <p:sp>
        <p:nvSpPr>
          <p:cNvPr id="15" name="deploy-num-2">
            <a:extLst xmlns:a="http://schemas.openxmlformats.org/drawingml/2006/main">
              <a:ext uri="{FF2B5EF4-FFF2-40B4-BE49-F238E27FC236}">
                <a16:creationId xmlns:a16="http://schemas.microsoft.com/office/drawing/2014/main" id="{C4814BB1-0377-4BA5-B355-CA6F7B8295BA}"/>
              </a:ext>
            </a:extLst>
          </p:cNvPr>
          <p:cNvSpPr>
            <a:spLocks xmlns:a="http://schemas.openxmlformats.org/drawingml/2006/main" noGrp="1"/>
          </p:cNvSpPr>
          <p:nvPr/>
        </p:nvSpPr>
        <p:spPr>
          <a:xfrm xmlns:a="http://schemas.openxmlformats.org/drawingml/2006/main">
            <a:off x="8572500" y="2571750"/>
            <a:ext cx="95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5E6773"/>
                </a:solidFill>
                <a:latin typeface="Arial"/>
                <a:ea typeface="Arial"/>
                <a:cs typeface="Arial"/>
              </a:defRPr>
            </a:pPr>
            <a:r>
              <a:rPr sz="1275" b="1">
                <a:solidFill>
                  <a:srgbClr val="5E6773"/>
                </a:solidFill>
                <a:latin typeface="Arial"/>
                <a:ea typeface="Arial"/>
                <a:cs typeface="Arial"/>
              </a:rPr>
              <a:t>03</a:t>
            </a:r>
          </a:p>
        </p:txBody>
      </p:sp>
      <p:sp>
        <p:nvSpPr>
          <p:cNvPr id="16" name="deploy-h-2">
            <a:extLst xmlns:a="http://schemas.openxmlformats.org/drawingml/2006/main">
              <a:ext uri="{FF2B5EF4-FFF2-40B4-BE49-F238E27FC236}">
                <a16:creationId xmlns:a16="http://schemas.microsoft.com/office/drawing/2014/main" id="{2ECCA5E6-D21E-48E9-80D4-14DA38328778}"/>
              </a:ext>
            </a:extLst>
          </p:cNvPr>
          <p:cNvSpPr>
            <a:spLocks xmlns:a="http://schemas.openxmlformats.org/drawingml/2006/main" noGrp="1"/>
          </p:cNvSpPr>
          <p:nvPr/>
        </p:nvSpPr>
        <p:spPr>
          <a:xfrm xmlns:a="http://schemas.openxmlformats.org/drawingml/2006/main">
            <a:off x="8572500" y="3667125"/>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1">
                <a:solidFill>
                  <a:srgbClr val="000000"/>
                </a:solidFill>
                <a:latin typeface="Arial"/>
                <a:ea typeface="Arial"/>
                <a:cs typeface="Arial"/>
              </a:defRPr>
            </a:pPr>
            <a:r>
              <a:rPr sz="1875" b="1">
                <a:solidFill>
                  <a:srgbClr val="000000"/>
                </a:solidFill>
                <a:latin typeface="Arial"/>
                <a:ea typeface="Arial"/>
                <a:cs typeface="Arial"/>
              </a:rPr>
              <a:t>Demonstrate</a:t>
            </a:r>
          </a:p>
        </p:txBody>
      </p:sp>
      <p:sp>
        <p:nvSpPr>
          <p:cNvPr id="17" name="deploy-b-2">
            <a:extLst xmlns:a="http://schemas.openxmlformats.org/drawingml/2006/main">
              <a:ext uri="{FF2B5EF4-FFF2-40B4-BE49-F238E27FC236}">
                <a16:creationId xmlns:a16="http://schemas.microsoft.com/office/drawing/2014/main" id="{9AD726C3-B828-49F7-9E08-C4A15C81BC28}"/>
              </a:ext>
            </a:extLst>
          </p:cNvPr>
          <p:cNvSpPr>
            <a:spLocks xmlns:a="http://schemas.openxmlformats.org/drawingml/2006/main" noGrp="1"/>
          </p:cNvSpPr>
          <p:nvPr/>
        </p:nvSpPr>
        <p:spPr>
          <a:xfrm xmlns:a="http://schemas.openxmlformats.org/drawingml/2006/main">
            <a:off x="8572500" y="4229100"/>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unified ingest → supervisor → AP / AR</a:t>
            </a:r>
          </a:p>
          <a:p xmlns:a="http://schemas.openxmlformats.org/drawingml/2006/main">
            <a:pPr algn="l">
              <a:buNone/>
              <a:defRPr sz="1425" b="0">
                <a:solidFill>
                  <a:srgbClr val="5E6773"/>
                </a:solidFill>
                <a:latin typeface="Arial"/>
                <a:ea typeface="Arial"/>
                <a:cs typeface="Arial"/>
              </a:defRPr>
            </a:pPr>
            <a:r>
              <a:rPr sz="1425" b="0">
                <a:solidFill>
                  <a:srgbClr val="5E6773"/>
                </a:solidFill>
                <a:latin typeface="Arial"/>
                <a:ea typeface="Arial"/>
                <a:cs typeface="Arial"/>
              </a:rPr>
              <a:t>journal + cash → traces + audit</a:t>
            </a:r>
          </a:p>
        </p:txBody>
      </p:sp>
      <p:sp>
        <p:nvSpPr>
          <p:cNvPr id="18" name="profiles">
            <a:extLst xmlns:a="http://schemas.openxmlformats.org/drawingml/2006/main">
              <a:ext uri="{FF2B5EF4-FFF2-40B4-BE49-F238E27FC236}">
                <a16:creationId xmlns:a16="http://schemas.microsoft.com/office/drawing/2014/main" id="{287B7F82-DC15-4F15-9012-A814FCC99C69}"/>
              </a:ext>
            </a:extLst>
          </p:cNvPr>
          <p:cNvSpPr>
            <a:spLocks xmlns:a="http://schemas.openxmlformats.org/drawingml/2006/main" noGrp="1"/>
          </p:cNvSpPr>
          <p:nvPr/>
        </p:nvSpPr>
        <p:spPr>
          <a:xfrm xmlns:a="http://schemas.openxmlformats.org/drawingml/2006/main">
            <a:off x="400050" y="5410200"/>
            <a:ext cx="11125200" cy="6286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9" name="profiles-text">
            <a:extLst xmlns:a="http://schemas.openxmlformats.org/drawingml/2006/main">
              <a:ext uri="{FF2B5EF4-FFF2-40B4-BE49-F238E27FC236}">
                <a16:creationId xmlns:a16="http://schemas.microsoft.com/office/drawing/2014/main" id="{18C349F5-9EC9-4486-9A9C-F79E388933A1}"/>
              </a:ext>
            </a:extLst>
          </p:cNvPr>
          <p:cNvSpPr>
            <a:spLocks xmlns:a="http://schemas.openxmlformats.org/drawingml/2006/main" noGrp="1"/>
          </p:cNvSpPr>
          <p:nvPr/>
        </p:nvSpPr>
        <p:spPr>
          <a:xfrm xmlns:a="http://schemas.openxmlformats.org/drawingml/2006/main">
            <a:off x="666750" y="5610225"/>
            <a:ext cx="1057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1">
                <a:solidFill>
                  <a:srgbClr val="000000"/>
                </a:solidFill>
                <a:latin typeface="Arial"/>
                <a:ea typeface="Arial"/>
                <a:cs typeface="Arial"/>
              </a:defRPr>
            </a:pPr>
            <a:r>
              <a:rPr sz="1425" b="1">
                <a:solidFill>
                  <a:srgbClr val="000000"/>
                </a:solidFill>
                <a:latin typeface="Arial"/>
                <a:ea typeface="Arial"/>
                <a:cs typeface="Arial"/>
              </a:rPr>
              <a:t>Mandatory Qwen, EmbeddingGemma, and Phoenix fail closed when unavailable.</a:t>
            </a:r>
          </a:p>
        </p:txBody>
      </p:sp>
    </p:spTree>
    <p:extLst>
      <p:ext uri="{BB962C8B-B14F-4D97-AF65-F5344CB8AC3E}">
        <p14:creationId xmlns:p14="http://schemas.microsoft.com/office/powerpoint/2010/main" val="69303337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lose-eyebrow">
            <a:extLst xmlns:a="http://schemas.openxmlformats.org/drawingml/2006/main">
              <a:ext uri="{FF2B5EF4-FFF2-40B4-BE49-F238E27FC236}">
                <a16:creationId xmlns:a16="http://schemas.microsoft.com/office/drawing/2014/main" id="{C642C145-87F7-4C31-8A29-EF7AF8335C86}"/>
              </a:ext>
            </a:extLst>
          </p:cNvPr>
          <p:cNvSpPr>
            <a:spLocks xmlns:a="http://schemas.openxmlformats.org/drawingml/2006/main" noGrp="1"/>
          </p:cNvSpPr>
          <p:nvPr/>
        </p:nvSpPr>
        <p:spPr>
          <a:xfrm xmlns:a="http://schemas.openxmlformats.org/drawingml/2006/main">
            <a:off x="400050" y="3429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SUBMISSION READY</a:t>
            </a:r>
          </a:p>
        </p:txBody>
      </p:sp>
      <p:sp>
        <p:nvSpPr>
          <p:cNvPr id="2" name="close-title">
            <a:extLst xmlns:a="http://schemas.openxmlformats.org/drawingml/2006/main">
              <a:ext uri="{FF2B5EF4-FFF2-40B4-BE49-F238E27FC236}">
                <a16:creationId xmlns:a16="http://schemas.microsoft.com/office/drawing/2014/main" id="{012C4633-7868-464F-AFF4-53353CE31638}"/>
              </a:ext>
            </a:extLst>
          </p:cNvPr>
          <p:cNvSpPr>
            <a:spLocks xmlns:a="http://schemas.openxmlformats.org/drawingml/2006/main" noGrp="1"/>
          </p:cNvSpPr>
          <p:nvPr/>
        </p:nvSpPr>
        <p:spPr>
          <a:xfrm xmlns:a="http://schemas.openxmlformats.org/drawingml/2006/main">
            <a:off x="400050" y="1428750"/>
            <a:ext cx="1038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750" b="1">
                <a:solidFill>
                  <a:srgbClr val="000000"/>
                </a:solidFill>
                <a:latin typeface="Arial"/>
                <a:ea typeface="Arial"/>
                <a:cs typeface="Arial"/>
              </a:defRPr>
            </a:pPr>
            <a:r>
              <a:rPr sz="3750" b="1">
                <a:solidFill>
                  <a:srgbClr val="000000"/>
                </a:solidFill>
                <a:latin typeface="Arial"/>
                <a:ea typeface="Arial"/>
                <a:cs typeface="Arial"/>
              </a:rPr>
              <a:t>Ready to demonstrate real agent-driven AP and AR workflows</a:t>
            </a:r>
          </a:p>
        </p:txBody>
      </p:sp>
      <p:sp>
        <p:nvSpPr>
          <p:cNvPr id="3" name="rule-42-340">
            <a:extLst xmlns:a="http://schemas.openxmlformats.org/drawingml/2006/main">
              <a:ext uri="{FF2B5EF4-FFF2-40B4-BE49-F238E27FC236}">
                <a16:creationId xmlns:a16="http://schemas.microsoft.com/office/drawing/2014/main" id="{B0659B16-0D39-4339-A668-3917FF20505B}"/>
              </a:ext>
            </a:extLst>
          </p:cNvPr>
          <p:cNvSpPr>
            <a:spLocks xmlns:a="http://schemas.openxmlformats.org/drawingml/2006/main" noGrp="1"/>
          </p:cNvSpPr>
          <p:nvPr/>
        </p:nvSpPr>
        <p:spPr>
          <a:xfrm xmlns:a="http://schemas.openxmlformats.org/drawingml/2006/main">
            <a:off x="400050" y="3238500"/>
            <a:ext cx="1714500" cy="47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close-body">
            <a:extLst xmlns:a="http://schemas.openxmlformats.org/drawingml/2006/main">
              <a:ext uri="{FF2B5EF4-FFF2-40B4-BE49-F238E27FC236}">
                <a16:creationId xmlns:a16="http://schemas.microsoft.com/office/drawing/2014/main" id="{EEB8C36E-32FE-4533-945B-C7EE28321E58}"/>
              </a:ext>
            </a:extLst>
          </p:cNvPr>
          <p:cNvSpPr>
            <a:spLocks xmlns:a="http://schemas.openxmlformats.org/drawingml/2006/main" noGrp="1"/>
          </p:cNvSpPr>
          <p:nvPr/>
        </p:nvSpPr>
        <p:spPr>
          <a:xfrm xmlns:a="http://schemas.openxmlformats.org/drawingml/2006/main">
            <a:off x="400050" y="3733800"/>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Deterministic processor tool + Qwen supervisor</a:t>
            </a:r>
          </a:p>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Mirrored AP and AR observe-reason-act agents</a:t>
            </a:r>
          </a:p>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Semantic RAG + Mock ERP + Phoenix traces</a:t>
            </a:r>
          </a:p>
          <a:p xmlns:a="http://schemas.openxmlformats.org/drawingml/2006/main">
            <a:pPr algn="l">
              <a:buNone/>
              <a:defRPr sz="1800" b="0">
                <a:solidFill>
                  <a:srgbClr val="5E6773"/>
                </a:solidFill>
                <a:latin typeface="Arial"/>
                <a:ea typeface="Arial"/>
                <a:cs typeface="Arial"/>
              </a:defRPr>
            </a:pPr>
            <a:r>
              <a:rPr sz="1800" b="0">
                <a:solidFill>
                  <a:srgbClr val="5E6773"/>
                </a:solidFill>
                <a:latin typeface="Arial"/>
                <a:ea typeface="Arial"/>
                <a:cs typeface="Arial"/>
              </a:rPr>
              <a:t>66 tests + live AP/AR/RAGAS gates + audit chain</a:t>
            </a:r>
          </a:p>
        </p:txBody>
      </p:sp>
      <p:sp>
        <p:nvSpPr>
          <p:cNvPr id="5" name="close-callout">
            <a:extLst xmlns:a="http://schemas.openxmlformats.org/drawingml/2006/main">
              <a:ext uri="{FF2B5EF4-FFF2-40B4-BE49-F238E27FC236}">
                <a16:creationId xmlns:a16="http://schemas.microsoft.com/office/drawing/2014/main" id="{D699C886-3F89-4750-9879-3C2043A8EAD1}"/>
              </a:ext>
            </a:extLst>
          </p:cNvPr>
          <p:cNvSpPr>
            <a:spLocks xmlns:a="http://schemas.openxmlformats.org/drawingml/2006/main" noGrp="1"/>
          </p:cNvSpPr>
          <p:nvPr/>
        </p:nvSpPr>
        <p:spPr>
          <a:xfrm xmlns:a="http://schemas.openxmlformats.org/drawingml/2006/main">
            <a:off x="8477250" y="3638550"/>
            <a:ext cx="3048000" cy="171450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close-callout-text">
            <a:extLst xmlns:a="http://schemas.openxmlformats.org/drawingml/2006/main">
              <a:ext uri="{FF2B5EF4-FFF2-40B4-BE49-F238E27FC236}">
                <a16:creationId xmlns:a16="http://schemas.microsoft.com/office/drawing/2014/main" id="{B2977421-35D6-4E63-9B1F-010A4D21603D}"/>
              </a:ext>
            </a:extLst>
          </p:cNvPr>
          <p:cNvSpPr>
            <a:spLocks xmlns:a="http://schemas.openxmlformats.org/drawingml/2006/main" noGrp="1"/>
          </p:cNvSpPr>
          <p:nvPr/>
        </p:nvSpPr>
        <p:spPr>
          <a:xfrm xmlns:a="http://schemas.openxmlformats.org/drawingml/2006/main">
            <a:off x="8763000" y="3924300"/>
            <a:ext cx="2476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216"/>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Next</a:t>
            </a:r>
          </a:p>
          <a:p xmlns:a="http://schemas.openxmlformats.org/drawingml/2006/main">
            <a:r>
              <a:t/>
            </a:r>
          </a:p>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Pilot permissioned invoices</a:t>
            </a:r>
            <a:r>
              <a:rPr sz="1650" b="1">
                <a:solidFill>
                  <a:srgbClr val="FFFFFF"/>
                </a:solidFill>
                <a:latin typeface="Arial"/>
                <a:ea typeface="Arial"/>
                <a:cs typeface="Arial"/>
              </a:rPr>
              <a:t> </a:t>
            </a:r>
            <a:r>
              <a:rPr sz="1650" b="1">
                <a:solidFill>
                  <a:srgbClr val="FFFFFF"/>
                </a:solidFill>
                <a:latin typeface="Arial"/>
                <a:ea typeface="Arial"/>
                <a:cs typeface="Arial"/>
              </a:rPr>
              <a:t>and remittances against</a:t>
            </a:r>
            <a:r>
              <a:rPr sz="1650" b="1">
                <a:solidFill>
                  <a:srgbClr val="FFFFFF"/>
                </a:solidFill>
                <a:latin typeface="Arial"/>
                <a:ea typeface="Arial"/>
                <a:cs typeface="Arial"/>
              </a:rPr>
              <a:t> </a:t>
            </a:r>
            <a:r>
              <a:rPr sz="1650" b="1">
                <a:solidFill>
                  <a:srgbClr val="FFFFFF"/>
                </a:solidFill>
                <a:latin typeface="Arial"/>
                <a:ea typeface="Arial"/>
                <a:cs typeface="Arial"/>
              </a:rPr>
              <a:t>a real ERP sandbox.</a:t>
            </a:r>
          </a:p>
        </p:txBody>
      </p:sp>
      <p:sp>
        <p:nvSpPr>
          <p:cNvPr id="7" name="close-page">
            <a:extLst xmlns:a="http://schemas.openxmlformats.org/drawingml/2006/main">
              <a:ext uri="{FF2B5EF4-FFF2-40B4-BE49-F238E27FC236}">
                <a16:creationId xmlns:a16="http://schemas.microsoft.com/office/drawing/2014/main" id="{6B99AC52-EC41-4D34-8A4B-9B8440B8739E}"/>
              </a:ext>
            </a:extLst>
          </p:cNvPr>
          <p:cNvSpPr>
            <a:spLocks xmlns:a="http://schemas.openxmlformats.org/drawingml/2006/main" noGrp="1"/>
          </p:cNvSpPr>
          <p:nvPr/>
        </p:nvSpPr>
        <p:spPr>
          <a:xfrm xmlns:a="http://schemas.openxmlformats.org/drawingml/2006/main">
            <a:off x="11239500" y="64008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a:solidFill>
                  <a:srgbClr val="5E6773"/>
                </a:solidFill>
                <a:latin typeface="Arial"/>
                <a:ea typeface="Arial"/>
                <a:cs typeface="Arial"/>
              </a:defRPr>
            </a:pPr>
            <a:r>
              <a:rPr sz="975" b="0">
                <a:solidFill>
                  <a:srgbClr val="5E6773"/>
                </a:solidFill>
                <a:latin typeface="Arial"/>
                <a:ea typeface="Arial"/>
                <a:cs typeface="Arial"/>
              </a:rPr>
              <a:t>12</a:t>
            </a:r>
          </a:p>
        </p:txBody>
      </p:sp>
    </p:spTree>
    <p:extLst>
      <p:ext uri="{BB962C8B-B14F-4D97-AF65-F5344CB8AC3E}">
        <p14:creationId xmlns:p14="http://schemas.microsoft.com/office/powerpoint/2010/main" val="2745146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2026-08-31T17:50:44.8720000Z</dcterms:created>
  <dcterms:modified xsi:type="dcterms:W3CDTF">2026-08-31T17:50:44.8720000Z</dcterms:modified>
</coreProperties>
</file>