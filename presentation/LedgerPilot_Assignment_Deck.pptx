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94e4acd1a04eb2" /><Relationship Type="http://schemas.openxmlformats.org/officeDocument/2006/relationships/extended-properties" Target="/docProps/app.xml" Id="Rd74fda1364484324" /><Relationship Type="http://schemas.openxmlformats.org/officeDocument/2006/relationships/officeDocument" Target="/ppt/presentation.xml" Id="R493e6c46523144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27bded7cd645d7"/>
  </p:sldMasterIdLst>
  <p:notesMasterIdLst>
    <p:notesMasterId xmlns:r="http://schemas.openxmlformats.org/officeDocument/2006/relationships" r:id="R6c7ee4bef9524258"/>
  </p:notesMasterIdLst>
  <p:sldIdLst>
    <p:sldId xmlns:r="http://schemas.openxmlformats.org/officeDocument/2006/relationships" id="256" r:id="R7736526166384a7a"/>
    <p:sldId xmlns:r="http://schemas.openxmlformats.org/officeDocument/2006/relationships" id="257" r:id="Reddf1fd2deed4b31"/>
    <p:sldId xmlns:r="http://schemas.openxmlformats.org/officeDocument/2006/relationships" id="258" r:id="R228b3c7472ef4139"/>
    <p:sldId xmlns:r="http://schemas.openxmlformats.org/officeDocument/2006/relationships" id="259" r:id="R127d6e8482624c8c"/>
    <p:sldId xmlns:r="http://schemas.openxmlformats.org/officeDocument/2006/relationships" id="260" r:id="R4616fc033f1545fd"/>
    <p:sldId xmlns:r="http://schemas.openxmlformats.org/officeDocument/2006/relationships" id="261" r:id="R07a78f643b3d4680"/>
    <p:sldId xmlns:r="http://schemas.openxmlformats.org/officeDocument/2006/relationships" id="262" r:id="Rbeff9c2818c941de"/>
    <p:sldId xmlns:r="http://schemas.openxmlformats.org/officeDocument/2006/relationships" id="263" r:id="Raeab7ad0b85e48c5"/>
    <p:sldId xmlns:r="http://schemas.openxmlformats.org/officeDocument/2006/relationships" id="264" r:id="R76fb546637024841"/>
    <p:sldId xmlns:r="http://schemas.openxmlformats.org/officeDocument/2006/relationships" id="265" r:id="R776ce25c18b24e38"/>
    <p:sldId xmlns:r="http://schemas.openxmlformats.org/officeDocument/2006/relationships" id="266" r:id="R7e646598111b44b7"/>
    <p:sldId xmlns:r="http://schemas.openxmlformats.org/officeDocument/2006/relationships" id="267" r:id="R96db59bdc17649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70094c08734a43" /><Relationship Type="http://schemas.openxmlformats.org/officeDocument/2006/relationships/slideMaster" Target="/ppt/slideMasters/slideMaster1.xml" Id="R4927bded7cd645d7" /><Relationship Type="http://schemas.openxmlformats.org/officeDocument/2006/relationships/notesMaster" Target="/ppt/notesMasters/notesMaster1.xml" Id="R6c7ee4bef9524258" /><Relationship Type="http://schemas.openxmlformats.org/officeDocument/2006/relationships/presProps" Target="/ppt/presProps.xml" Id="R053646cecb574305" /><Relationship Type="http://schemas.openxmlformats.org/officeDocument/2006/relationships/tableStyles" Target="/ppt/tableStyles.xml" Id="Rfa726c15b69a4a5e" /><Relationship Type="http://schemas.openxmlformats.org/officeDocument/2006/relationships/slide" Target="/ppt/slides/slide1.xml" Id="R7736526166384a7a" /><Relationship Type="http://schemas.openxmlformats.org/officeDocument/2006/relationships/slide" Target="/ppt/slides/slide2.xml" Id="Reddf1fd2deed4b31" /><Relationship Type="http://schemas.openxmlformats.org/officeDocument/2006/relationships/slide" Target="/ppt/slides/slide3.xml" Id="R228b3c7472ef4139" /><Relationship Type="http://schemas.openxmlformats.org/officeDocument/2006/relationships/slide" Target="/ppt/slides/slide4.xml" Id="R127d6e8482624c8c" /><Relationship Type="http://schemas.openxmlformats.org/officeDocument/2006/relationships/slide" Target="/ppt/slides/slide5.xml" Id="R4616fc033f1545fd" /><Relationship Type="http://schemas.openxmlformats.org/officeDocument/2006/relationships/slide" Target="/ppt/slides/slide6.xml" Id="R07a78f643b3d4680" /><Relationship Type="http://schemas.openxmlformats.org/officeDocument/2006/relationships/slide" Target="/ppt/slides/slide7.xml" Id="Rbeff9c2818c941de" /><Relationship Type="http://schemas.openxmlformats.org/officeDocument/2006/relationships/slide" Target="/ppt/slides/slide8.xml" Id="Raeab7ad0b85e48c5" /><Relationship Type="http://schemas.openxmlformats.org/officeDocument/2006/relationships/slide" Target="/ppt/slides/slide9.xml" Id="R76fb546637024841" /><Relationship Type="http://schemas.openxmlformats.org/officeDocument/2006/relationships/slide" Target="/ppt/slides/slide10.xml" Id="R776ce25c18b24e38" /><Relationship Type="http://schemas.openxmlformats.org/officeDocument/2006/relationships/slide" Target="/ppt/slides/slide11.xml" Id="R7e646598111b44b7" /><Relationship Type="http://schemas.openxmlformats.org/officeDocument/2006/relationships/slide" Target="/ppt/slides/slide12.xml" Id="R96db59bdc17649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b868e30fb549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2fccf5954c49fc" /><Relationship Type="http://schemas.openxmlformats.org/officeDocument/2006/relationships/notesMaster" Target="/ppt/notesMasters/notesMaster1.xml" Id="Rd9b6bc2645b942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a8e322a84840f3" /><Relationship Type="http://schemas.openxmlformats.org/officeDocument/2006/relationships/notesMaster" Target="/ppt/notesMasters/notesMaster1.xml" Id="Rbd55f679f2c847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654808b84944d3" /><Relationship Type="http://schemas.openxmlformats.org/officeDocument/2006/relationships/notesMaster" Target="/ppt/notesMasters/notesMaster1.xml" Id="R0dd6257dffed41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9ce41a456f448c" /><Relationship Type="http://schemas.openxmlformats.org/officeDocument/2006/relationships/notesMaster" Target="/ppt/notesMasters/notesMaster1.xml" Id="Rc8c7c38bf81b4a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6e64f5f9424532" /><Relationship Type="http://schemas.openxmlformats.org/officeDocument/2006/relationships/notesMaster" Target="/ppt/notesMasters/notesMaster1.xml" Id="R024e257f056c45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b82d294bdd4150" /><Relationship Type="http://schemas.openxmlformats.org/officeDocument/2006/relationships/notesMaster" Target="/ppt/notesMasters/notesMaster1.xml" Id="R1e5b2c54104c4b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e97331a6b846bf" /><Relationship Type="http://schemas.openxmlformats.org/officeDocument/2006/relationships/notesMaster" Target="/ppt/notesMasters/notesMaster1.xml" Id="R123be2cff9854c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1326514349449e" /><Relationship Type="http://schemas.openxmlformats.org/officeDocument/2006/relationships/notesMaster" Target="/ppt/notesMasters/notesMaster1.xml" Id="Rc2f88261e3e843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ce00300eb74fc0" /><Relationship Type="http://schemas.openxmlformats.org/officeDocument/2006/relationships/notesMaster" Target="/ppt/notesMasters/notesMaster1.xml" Id="R364ce14aafe84a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1f056530ba49d4" /><Relationship Type="http://schemas.openxmlformats.org/officeDocument/2006/relationships/notesMaster" Target="/ppt/notesMasters/notesMaster1.xml" Id="R8e7c7105830149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2a2f6b4d214d80" /><Relationship Type="http://schemas.openxmlformats.org/officeDocument/2006/relationships/notesMaster" Target="/ppt/notesMasters/notesMaster1.xml" Id="R9c0816e98dd948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daac0a29994c56" /><Relationship Type="http://schemas.openxmlformats.org/officeDocument/2006/relationships/notesMaster" Target="/ppt/notesMasters/notesMaster1.xml" Id="Rb732c779e02043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completed control philosophy: one document layer dispatches to mirrored AP and AR workflows;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mirrored AP/AR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conversion and classification happen once, then the parent graph dispatches into a domain subgraph.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app/document_processing.py; app/orchestrator.py — canonical processing and conditional dispatch.</a:t>
            </a:r>
          </a:p>
          <a:p xmlns:a="http://schemas.openxmlformats.org/drawingml/2006/main">
            <a:r>
              <a:t>- app/workflow.py; app/ar_workflow.py — AP and AR subgraphs.</a:t>
            </a:r>
          </a:p>
          <a:p xmlns:a="http://schemas.openxmlformats.org/drawingml/2006/main">
            <a:r>
              <a:t>- app/mock_erp_api.py; docker-compose.yml — separate HTTP Mock ERP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parent graph owns classification and dispatch. Both subgraphs retrieve context, run deterministic controls, and choose post or review; their domain rules remain separate.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app/orchestrator.py — parent graph nodes and conditional routes.</a:t>
            </a:r>
          </a:p>
          <a:p xmlns:a="http://schemas.openxmlformats.org/drawingml/2006/main">
            <a:r>
              <a:t>- app/workflow.py; app/ar_workflow.py — mirrored subgraph state transitions.</a:t>
            </a:r>
          </a:p>
          <a:p xmlns:a="http://schemas.openxmlformats.org/drawingml/2006/main">
            <a:r>
              <a:t>- app/repository.py — durable generic finance workflow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AP and AR review semantics. AR corrections always return through matching against current ERP state; an invalid allocation cannot be force-approved.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unified queue and AP/AR decision endpoints.</a:t>
            </a:r>
          </a:p>
          <a:p xmlns:a="http://schemas.openxmlformats.org/drawingml/2006/main">
            <a:r>
              <a:t>- app/ar_workflow.py — correction, re-match, reject, manual-resolution, and valid-match approval guards.</a:t>
            </a:r>
          </a:p>
          <a:p xmlns:a="http://schemas.openxmlformats.org/drawingml/2006/main">
            <a:r>
              <a:t>- docs/security-and-controls.md — identity limitation and production controls.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literal mirror: AP and AR share the orchestration pattern and evidence model, while each subgraph enforces its own financial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app/document_processing.py; app/orchestrator.py — shared layer and parent dispatch.</a:t>
            </a:r>
          </a:p>
          <a:p xmlns:a="http://schemas.openxmlformats.org/drawingml/2006/main">
            <a:r>
              <a:t>- app/workflow.py — AP subgraph.</a:t>
            </a:r>
          </a:p>
          <a:p xmlns:a="http://schemas.openxmlformats.org/drawingml/2006/main">
            <a:r>
              <a:t>- app/ar_workflow.py; app/ar_matching.py — AR subgraph and deterministic allocation.</a:t>
            </a:r>
          </a:p>
          <a:p xmlns:a="http://schemas.openxmlformats.org/drawingml/2006/main">
            <a:r>
              <a:t>- tests/test_orchestrator.py; tests/test_ar_workflow.py — executable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five required contracts remain unchanged. Additive endpoints demonstrate cross-domain dispatch and mirrored AR review without breaking the assignment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generated, versioned finance API contract.</a:t>
            </a:r>
          </a:p>
          <a:p xmlns:a="http://schemas.openxmlformats.org/drawingml/2006/main">
            <a:r>
              <a:t>- openapi/mock-erp-openapi.yaml — generated ERP sandbox contract.</a:t>
            </a:r>
          </a:p>
          <a:p xmlns:a="http://schemas.openxmlformats.org/drawingml/2006/main">
            <a:r>
              <a:t>- app/api.py — FastAPI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concrete implementation evidence for every mandatory technology. The ERP requirement is now met through a separate HTTP Mock API rather than only an in-process adapter.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pyproject.toml; app/context.py — pinned stack and retrieval implementation.</a:t>
            </a:r>
          </a:p>
          <a:p xmlns:a="http://schemas.openxmlformats.org/drawingml/2006/main">
            <a:r>
              <a:t>- app/mock_erp_api.py; docker-compose.yml — Mock ERP API service.</a:t>
            </a:r>
          </a:p>
          <a:p xmlns:a="http://schemas.openxmlformats.org/drawingml/2006/main">
            <a:r>
              <a:t>- evaluation/results/rag-latest.json.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controlled fixtures prove regression behavior, not production accuracy. Call out the honest OCR miss, perfect finance decisions, and zero false financial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seven-document AP metrics.</a:t>
            </a:r>
          </a:p>
          <a:p xmlns:a="http://schemas.openxmlformats.org/drawingml/2006/main">
            <a:r>
              <a:t>- evaluation/results/ar-latest.json — nine-document AR metrics.</a:t>
            </a:r>
          </a:p>
          <a:p xmlns:a="http://schemas.openxmlformats.org/drawingml/2006/main">
            <a:r>
              <a:t>- evaluation/results/rag-latest.json — policy retrieval metrics.</a:t>
            </a:r>
          </a:p>
          <a:p xmlns:a="http://schemas.openxmlformats.org/drawingml/2006/main">
            <a:r>
              <a:t>- docs/evaluation-report.md — definitions and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proves both domains plus the service boundary: bring up PostgreSQL, Mock ERP, and API; verify contracts and tests; then dispatch AP and AR fixtures.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unified API walkthrough.</a:t>
            </a:r>
          </a:p>
          <a:p xmlns:a="http://schemas.openxmlformats.org/drawingml/2006/main">
            <a:r>
              <a:t>- Dockerfile; docker-compose.yml — deployment topology.</a:t>
            </a:r>
          </a:p>
          <a:p xmlns:a="http://schemas.openxmlformats.org/drawingml/2006/main">
            <a:r>
              <a:t>- scripts/demo.ps1 — AP journal replay and AR cash application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production evidence-building step: vendor-specific ERP integration and permissioned AP/AR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docs/evaluation-report.md — production pilot plan and limitations.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44b466f9fc40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ae648e0632421c" /><Relationship Type="http://schemas.openxmlformats.org/officeDocument/2006/relationships/slideLayout" Target="/ppt/slideLayouts/slideLayout1.xml" Id="Re174e5b7f99e43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74e5b7f99e43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8564187b9450e" /><Relationship Type="http://schemas.openxmlformats.org/officeDocument/2006/relationships/image" Target="/ppt/media/image.png" Id="R926f1b9ee69748f7" /><Relationship Type="http://schemas.openxmlformats.org/officeDocument/2006/relationships/notesSlide" Target="/ppt/notesSlides/notesSlide1.xml" Id="R0428653d4a6b47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eeccc6fd04d53" /><Relationship Type="http://schemas.openxmlformats.org/officeDocument/2006/relationships/notesSlide" Target="/ppt/notesSlides/notesSlide2.xml" Id="R0c38c5e917d544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b90643e794d23" /><Relationship Type="http://schemas.openxmlformats.org/officeDocument/2006/relationships/notesSlide" Target="/ppt/notesSlides/notesSlide3.xml" Id="R1cf6f4d3de9849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f4838a7764a19" /><Relationship Type="http://schemas.openxmlformats.org/officeDocument/2006/relationships/notesSlide" Target="/ppt/notesSlides/notesSlide4.xml" Id="Rb53723c9474943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0f2b0305b4e46" /><Relationship Type="http://schemas.openxmlformats.org/officeDocument/2006/relationships/notesSlide" Target="/ppt/notesSlides/notesSlide5.xml" Id="Rc3243da7cc494a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86202941448eb" /><Relationship Type="http://schemas.openxmlformats.org/officeDocument/2006/relationships/notesSlide" Target="/ppt/notesSlides/notesSlide6.xml" Id="Re0bc52b50d4f48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47092d8d84041" /><Relationship Type="http://schemas.openxmlformats.org/officeDocument/2006/relationships/notesSlide" Target="/ppt/notesSlides/notesSlide7.xml" Id="Rc5789794e72544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2f8e1bac54c95" /><Relationship Type="http://schemas.openxmlformats.org/officeDocument/2006/relationships/notesSlide" Target="/ppt/notesSlides/notesSlide8.xml" Id="R3c775f8385954f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4d27aef1d4eeb" /><Relationship Type="http://schemas.openxmlformats.org/officeDocument/2006/relationships/notesSlide" Target="/ppt/notesSlides/notesSlide9.xml" Id="R1feaa43aa60640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7fa5dca9347c8" /><Relationship Type="http://schemas.openxmlformats.org/officeDocument/2006/relationships/notesSlide" Target="/ppt/notesSlides/notesSlide10.xml" Id="Rcd36922824e047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9933a11ca4a59" /><Relationship Type="http://schemas.openxmlformats.org/officeDocument/2006/relationships/notesSlide" Target="/ppt/notesSlides/notesSlide11.xml" Id="R2e4a68643fcf46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8a37ae37c4f92" /><Relationship Type="http://schemas.openxmlformats.org/officeDocument/2006/relationships/notesSlide" Target="/ppt/notesSlides/notesSlide12.xml" Id="Rcf4eebdc5c3942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shared document intelligence, mirrored agentic workflows, deterministic controls, and an HTTP Mock ERP.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FastAPI · LangGraph · Docling · Mock ERP API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f1b9ee69748f7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parent graph dispatches shared documents to AP and AR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Finance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API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Canonical document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/ AR / unknown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Parent LangGraph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AP + AR subgraphs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 + GR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Open AR items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ERP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HTTP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Mock API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GENERIC WORKFLOW STATE · HASH-CHAINED AUDIT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subgraphs follow the same governed state pattern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and retain the source envelope.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Convert once; classify AP, AR, or unknown.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Retrieve domain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AP or AR deterministic controls.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domain-safe actions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Call one idempotent ERP API.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exception; corrected AR data must pass the full match again.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exception desk preserves AP and AR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AP_PRICE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AR_CURRENCY / AMOUNT / OPEN_ITEM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Domain-safe actions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follows approve/reject policy. AR allows correction and re-match, rejection, or recorded manual resolution.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Invalid AR matches cannot be approved into cash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action retains the original variance, named actor, comment, and resulting state.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now mirrors AP through a separate controlled subgraph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invoice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 policy + PO / GR match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remittance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policy + open-item match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Shared: convert → classify → retrieve → match → review/post · Separate: domain rules and safe actions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Mandatory APIs stay intact while unified APIs expose orchestration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Added: unified document ingest · generic workflow state · unified exceptions · audited AR correction decisions.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HTTP API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64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benchmarks prove controlled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synthetic documents: AP 7 + AR 9 across JSON, text, PDF, scan, HTML, and controlled exceptions.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+ AR match decisions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/ 16 documents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97.2%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35 / 36 labels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false journal / cash 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 / 16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RAGAS: 88.9% precision + recall on 9 paraphrase, multi-policy, and abstention cases. Next: permissioned pilot.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 --build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-d postgres mock-erp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docs · ERP health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49 tests</a:t>
            </a: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 · AP/AR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ingest → AP / AR dispatch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journal + cash → inspect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mirrored AP and AR agentic workflows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Shared document intelligence + parent orchestrator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Mirrored AP and AR LangGraph subflows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Separate HTTP Mock ERP + versioned contracts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49 tests</a:t>
            </a: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 + AP/AR/RAGAS evaluation + audit chain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permissioned invoices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remittances against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real ERP sandbox.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2026-08-30T14:54:27.9620000Z</dcterms:created>
  <dcterms:modified xsi:type="dcterms:W3CDTF">2026-08-30T14:54:27.9620000Z</dcterms:modified>
</coreProperties>
</file>