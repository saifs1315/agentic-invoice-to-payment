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a7dbec2dd744a98" /><Relationship Type="http://schemas.openxmlformats.org/officeDocument/2006/relationships/extended-properties" Target="/docProps/app.xml" Id="R73c31460155f4d9f" /><Relationship Type="http://schemas.openxmlformats.org/officeDocument/2006/relationships/officeDocument" Target="/ppt/presentation.xml" Id="R0f7fcddb1d824a6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7ce58e2c9a0474b"/>
  </p:sldMasterIdLst>
  <p:notesMasterIdLst>
    <p:notesMasterId xmlns:r="http://schemas.openxmlformats.org/officeDocument/2006/relationships" r:id="R98e165cc60984833"/>
  </p:notesMasterIdLst>
  <p:sldIdLst>
    <p:sldId xmlns:r="http://schemas.openxmlformats.org/officeDocument/2006/relationships" id="256" r:id="Re8f84ab8b0174efa"/>
    <p:sldId xmlns:r="http://schemas.openxmlformats.org/officeDocument/2006/relationships" id="257" r:id="R89b2e3571f3747b5"/>
    <p:sldId xmlns:r="http://schemas.openxmlformats.org/officeDocument/2006/relationships" id="258" r:id="Rbe9089fee7234336"/>
    <p:sldId xmlns:r="http://schemas.openxmlformats.org/officeDocument/2006/relationships" id="259" r:id="R1afaf364c74b4f08"/>
    <p:sldId xmlns:r="http://schemas.openxmlformats.org/officeDocument/2006/relationships" id="260" r:id="R3d63754f7f514e00"/>
    <p:sldId xmlns:r="http://schemas.openxmlformats.org/officeDocument/2006/relationships" id="261" r:id="Rf63d4c49402745ff"/>
    <p:sldId xmlns:r="http://schemas.openxmlformats.org/officeDocument/2006/relationships" id="262" r:id="Rb9160aa717d8410c"/>
    <p:sldId xmlns:r="http://schemas.openxmlformats.org/officeDocument/2006/relationships" id="263" r:id="R9457ddcc2365407e"/>
    <p:sldId xmlns:r="http://schemas.openxmlformats.org/officeDocument/2006/relationships" id="264" r:id="Rb7420dd934374f86"/>
    <p:sldId xmlns:r="http://schemas.openxmlformats.org/officeDocument/2006/relationships" id="265" r:id="R213bcb654e25452d"/>
    <p:sldId xmlns:r="http://schemas.openxmlformats.org/officeDocument/2006/relationships" id="266" r:id="R4f993447eb684cf0"/>
    <p:sldId xmlns:r="http://schemas.openxmlformats.org/officeDocument/2006/relationships" id="267" r:id="R17c45b7694f9479b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d6a5d7d82134372" /><Relationship Type="http://schemas.openxmlformats.org/officeDocument/2006/relationships/slideMaster" Target="/ppt/slideMasters/slideMaster1.xml" Id="R77ce58e2c9a0474b" /><Relationship Type="http://schemas.openxmlformats.org/officeDocument/2006/relationships/notesMaster" Target="/ppt/notesMasters/notesMaster1.xml" Id="R98e165cc60984833" /><Relationship Type="http://schemas.openxmlformats.org/officeDocument/2006/relationships/presProps" Target="/ppt/presProps.xml" Id="R76dc26cd3fa44342" /><Relationship Type="http://schemas.openxmlformats.org/officeDocument/2006/relationships/tableStyles" Target="/ppt/tableStyles.xml" Id="R2c7d3cb5148e4b98" /><Relationship Type="http://schemas.openxmlformats.org/officeDocument/2006/relationships/slide" Target="/ppt/slides/slide1.xml" Id="Re8f84ab8b0174efa" /><Relationship Type="http://schemas.openxmlformats.org/officeDocument/2006/relationships/slide" Target="/ppt/slides/slide2.xml" Id="R89b2e3571f3747b5" /><Relationship Type="http://schemas.openxmlformats.org/officeDocument/2006/relationships/slide" Target="/ppt/slides/slide3.xml" Id="Rbe9089fee7234336" /><Relationship Type="http://schemas.openxmlformats.org/officeDocument/2006/relationships/slide" Target="/ppt/slides/slide4.xml" Id="R1afaf364c74b4f08" /><Relationship Type="http://schemas.openxmlformats.org/officeDocument/2006/relationships/slide" Target="/ppt/slides/slide5.xml" Id="R3d63754f7f514e00" /><Relationship Type="http://schemas.openxmlformats.org/officeDocument/2006/relationships/slide" Target="/ppt/slides/slide6.xml" Id="Rf63d4c49402745ff" /><Relationship Type="http://schemas.openxmlformats.org/officeDocument/2006/relationships/slide" Target="/ppt/slides/slide7.xml" Id="Rb9160aa717d8410c" /><Relationship Type="http://schemas.openxmlformats.org/officeDocument/2006/relationships/slide" Target="/ppt/slides/slide8.xml" Id="R9457ddcc2365407e" /><Relationship Type="http://schemas.openxmlformats.org/officeDocument/2006/relationships/slide" Target="/ppt/slides/slide9.xml" Id="Rb7420dd934374f86" /><Relationship Type="http://schemas.openxmlformats.org/officeDocument/2006/relationships/slide" Target="/ppt/slides/slide10.xml" Id="R213bcb654e25452d" /><Relationship Type="http://schemas.openxmlformats.org/officeDocument/2006/relationships/slide" Target="/ppt/slides/slide11.xml" Id="R4f993447eb684cf0" /><Relationship Type="http://schemas.openxmlformats.org/officeDocument/2006/relationships/slide" Target="/ppt/slides/slide12.xml" Id="R17c45b7694f9479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7638fb323a54bc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d1e1d4b1fbd4853" /><Relationship Type="http://schemas.openxmlformats.org/officeDocument/2006/relationships/notesMaster" Target="/ppt/notesMasters/notesMaster1.xml" Id="R2891eb8a24b5495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8aff4147be44164" /><Relationship Type="http://schemas.openxmlformats.org/officeDocument/2006/relationships/notesMaster" Target="/ppt/notesMasters/notesMaster1.xml" Id="Re864b7b8ef174de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0f159209f87460e" /><Relationship Type="http://schemas.openxmlformats.org/officeDocument/2006/relationships/notesMaster" Target="/ppt/notesMasters/notesMaster1.xml" Id="R369a60687293486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3337c1265284732" /><Relationship Type="http://schemas.openxmlformats.org/officeDocument/2006/relationships/notesMaster" Target="/ppt/notesMasters/notesMaster1.xml" Id="R1339ff3bcfff4c4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050730c86d64973" /><Relationship Type="http://schemas.openxmlformats.org/officeDocument/2006/relationships/notesMaster" Target="/ppt/notesMasters/notesMaster1.xml" Id="Re1e605a02dc94b3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499cce4d79b427e" /><Relationship Type="http://schemas.openxmlformats.org/officeDocument/2006/relationships/notesMaster" Target="/ppt/notesMasters/notesMaster1.xml" Id="R4ce3a1be1a34442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97335032c8e47e0" /><Relationship Type="http://schemas.openxmlformats.org/officeDocument/2006/relationships/notesMaster" Target="/ppt/notesMasters/notesMaster1.xml" Id="Rfbf0aef9ec364cd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3bfe6efa00ba4c8a" /><Relationship Type="http://schemas.openxmlformats.org/officeDocument/2006/relationships/notesMaster" Target="/ppt/notesMasters/notesMaster1.xml" Id="R2e5e8b657d5242b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95409cab9d44b9a" /><Relationship Type="http://schemas.openxmlformats.org/officeDocument/2006/relationships/notesMaster" Target="/ppt/notesMasters/notesMaster1.xml" Id="R85174a3a91c14510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41e543b4b3674843" /><Relationship Type="http://schemas.openxmlformats.org/officeDocument/2006/relationships/notesMaster" Target="/ppt/notesMasters/notesMaster1.xml" Id="Ra295db4ddd044c64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0df2c328c79345c6" /><Relationship Type="http://schemas.openxmlformats.org/officeDocument/2006/relationships/notesMaster" Target="/ppt/notesMasters/notesMaster1.xml" Id="R0a802c8505ca4c47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e49b4ac601204ec7" /><Relationship Type="http://schemas.openxmlformats.org/officeDocument/2006/relationships/notesMaster" Target="/ppt/notesMasters/notesMaster1.xml" Id="Re7b6e137a2e2459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with the control philosophy: AI reads and reasons; deterministic policy decides whether money moves.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AI-Engineer - Assignment.docx — objective, scenario, and required stack.</a:t>
            </a:r>
          </a:p>
          <a:p xmlns:a="http://schemas.openxmlformats.org/drawingml/2006/main">
            <a:r>
              <a:t>- Project-generated image: presentation/assets/invoice-automation-hero.png.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Frame the assignment as a separation-of-concerns problem, not merely an OCR task.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AI-Engineer - Assignment.docx — business scenario and functional requirements.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Walk left to right. The bottom rail receives evidence from every stage.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README.md — architecture and component map.</a:t>
            </a:r>
          </a:p>
          <a:p xmlns:a="http://schemas.openxmlformats.org/drawingml/2006/main">
            <a:r>
              <a:t>- docs/architecture.md — component view and failure behavior.</a:t>
            </a:r>
          </a:p>
          <a:p xmlns:a="http://schemas.openxmlformats.org/drawingml/2006/main">
            <a:r>
              <a:t>- app/workflow.py; app/audit.py; docker-compose.yml.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Emphasize that LangGraph coordinates the state, while matching and eligibility remain deterministic.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app/workflow.py — workflow state and routing.</a:t>
            </a:r>
          </a:p>
          <a:p xmlns:a="http://schemas.openxmlformats.org/drawingml/2006/main">
            <a:r>
              <a:t>- app/extraction.py; app/matching.py; app/erp.py.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boundary test makes the policy precise: equal to the tolerance passes, exceeding it fails. Partial quantities, line arithmetic, and tax/freight reconciliation are also deterministic.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app/matching.py — tolerance, arithmetic, partial-invoice, and reconciliation logic.</a:t>
            </a:r>
          </a:p>
          <a:p xmlns:a="http://schemas.openxmlformats.org/drawingml/2006/main">
            <a:r>
              <a:t>- tests/test_matching.py — boundary, partial, arithmetic, and tax tests.</a:t>
            </a:r>
          </a:p>
          <a:p xmlns:a="http://schemas.openxmlformats.org/drawingml/2006/main">
            <a:r>
              <a:t>- .env.example — configurable defaults.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Explain that the original mismatch remains visible after approval. The demo accepts a supplied actor string; production deployment must bind that actor to authenticated RBAC identity.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app/api.py — exception queue and decision endpoint.</a:t>
            </a:r>
          </a:p>
          <a:p xmlns:a="http://schemas.openxmlformats.org/drawingml/2006/main">
            <a:r>
              <a:t>- app/audit.py — append-only hash chain.</a:t>
            </a:r>
          </a:p>
          <a:p xmlns:a="http://schemas.openxmlformats.org/drawingml/2006/main">
            <a:r>
              <a:t>- docs/security-and-controls.md — control posture and identity limitation.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AR is not a second architecture; it is a second domain path through the same governance pattern.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app/api.py — /api/v1/ingest-remittance.</a:t>
            </a:r>
          </a:p>
          <a:p xmlns:a="http://schemas.openxmlformats.org/drawingml/2006/main">
            <a:r>
              <a:t>- app/erp.py — apply_cash implementation.</a:t>
            </a:r>
          </a:p>
          <a:p xmlns:a="http://schemas.openxmlformats.org/drawingml/2006/main">
            <a:r>
              <a:t>- tests/test_ar.py — exact and partial payment cases.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contract is both auto-served by FastAPI and checked into source control.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openapi/openapi.yaml — versioned API contract.</a:t>
            </a:r>
          </a:p>
          <a:p xmlns:a="http://schemas.openxmlformats.org/drawingml/2006/main">
            <a:r>
              <a:t>- app/api.py — FastAPI implementation.</a:t>
            </a:r>
          </a:p>
          <a:p xmlns:a="http://schemas.openxmlformats.org/drawingml/2006/main">
            <a:r>
              <a:t>- app/audit.py — event schema and verification.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Point to code or deployment evidence for every row of the assignment's technology table. LlamaIndex performs real ranking and the labeled policy set is scored with RAGAS.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AI-Engineer - Assignment.docx — mandatory technology stack.</a:t>
            </a:r>
          </a:p>
          <a:p xmlns:a="http://schemas.openxmlformats.org/drawingml/2006/main">
            <a:r>
              <a:t>- pyproject.toml; app/context.py — pinned dependencies and retrieval implementation.</a:t>
            </a:r>
          </a:p>
          <a:p xmlns:a="http://schemas.openxmlformats.org/drawingml/2006/main">
            <a:r>
              <a:t>- evaluation/results/rag-latest.json; docker-compose.yml.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100% figures are controlled-fixture results, not production estimates. Call out the zero false-auto-post rate, forced Docling path, and the need for a permissioned pilot.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evaluation/results/latest.json — generated seven-document metrics.</a:t>
            </a:r>
          </a:p>
          <a:p xmlns:a="http://schemas.openxmlformats.org/drawingml/2006/main">
            <a:r>
              <a:t>- evaluation/results/rag-latest.json — labeled retrieval precision and recall.</a:t>
            </a:r>
          </a:p>
          <a:p xmlns:a="http://schemas.openxmlformats.org/drawingml/2006/main">
            <a:r>
              <a:t>- docs/evaluation-report.md — definitions, limitations, and pilot plan.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demo path is intentionally short enough for a technical review. It demonstrates automatic posting eligibility and a retry with the same idempotency key.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README.md — quick start and demo commands.</a:t>
            </a:r>
          </a:p>
          <a:p xmlns:a="http://schemas.openxmlformats.org/drawingml/2006/main">
            <a:r>
              <a:t>- Dockerfile and docker-compose.yml — deployment configuration.</a:t>
            </a:r>
          </a:p>
          <a:p xmlns:a="http://schemas.openxmlformats.org/drawingml/2006/main">
            <a:r>
              <a:t>- scripts/demo.ps1 — AP happy-path and idempotent replay demo.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Close on the next evidence-building step, not on a generic thank-you.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docs/traceability-matrix.md — assignment-to-artifact mapping.</a:t>
            </a:r>
          </a:p>
          <a:p xmlns:a="http://schemas.openxmlformats.org/drawingml/2006/main">
            <a:r>
              <a:t>- Repository root — complete submission package.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57da889a14c4e7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e186331db8a4f82" /><Relationship Type="http://schemas.openxmlformats.org/officeDocument/2006/relationships/slideLayout" Target="/ppt/slideLayouts/slideLayout1.xml" Id="Rc77041be71ca462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77041be71ca462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749b07222d2462d" /><Relationship Type="http://schemas.openxmlformats.org/officeDocument/2006/relationships/image" Target="/ppt/media/image.png" Id="R874030bdb0064fd5" /><Relationship Type="http://schemas.openxmlformats.org/officeDocument/2006/relationships/notesSlide" Target="/ppt/notesSlides/notesSlide1.xml" Id="R590a3349c11a410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c768d1d4e954911" /><Relationship Type="http://schemas.openxmlformats.org/officeDocument/2006/relationships/notesSlide" Target="/ppt/notesSlides/notesSlide2.xml" Id="R0e750eff43184f0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6a99ed67e2e4b2b" /><Relationship Type="http://schemas.openxmlformats.org/officeDocument/2006/relationships/notesSlide" Target="/ppt/notesSlides/notesSlide3.xml" Id="R894011bab9c5461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0b74a23a18241f7" /><Relationship Type="http://schemas.openxmlformats.org/officeDocument/2006/relationships/notesSlide" Target="/ppt/notesSlides/notesSlide4.xml" Id="Rb79a2e1e68df405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28d3a7e14094108" /><Relationship Type="http://schemas.openxmlformats.org/officeDocument/2006/relationships/notesSlide" Target="/ppt/notesSlides/notesSlide5.xml" Id="Rb0f007079659489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c9dd6526a92414d" /><Relationship Type="http://schemas.openxmlformats.org/officeDocument/2006/relationships/notesSlide" Target="/ppt/notesSlides/notesSlide6.xml" Id="Rb45a82c7a020423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ed197912dc44366" /><Relationship Type="http://schemas.openxmlformats.org/officeDocument/2006/relationships/notesSlide" Target="/ppt/notesSlides/notesSlide7.xml" Id="Rfb5b2a9f2b2c4cc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b7e7cac073547df" /><Relationship Type="http://schemas.openxmlformats.org/officeDocument/2006/relationships/notesSlide" Target="/ppt/notesSlides/notesSlide8.xml" Id="Rdc48e1a29a80427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09a29446c9b49f6" /><Relationship Type="http://schemas.openxmlformats.org/officeDocument/2006/relationships/notesSlide" Target="/ppt/notesSlides/notesSlide9.xml" Id="R31959ffd5a254b35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350590d5cd6494b" /><Relationship Type="http://schemas.openxmlformats.org/officeDocument/2006/relationships/notesSlide" Target="/ppt/notesSlides/notesSlide10.xml" Id="Rfb67f73dd6924526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8dcfacc5a564c24" /><Relationship Type="http://schemas.openxmlformats.org/officeDocument/2006/relationships/notesSlide" Target="/ppt/notesSlides/notesSlide11.xml" Id="R73dcc3c89385412e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74b03c3343b44f7" /><Relationship Type="http://schemas.openxmlformats.org/officeDocument/2006/relationships/notesSlide" Target="/ppt/notesSlides/notesSlide12.xml" Id="R4f60bc71fb1147ca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over-eyebrow">
            <a:extLst xmlns:a="http://schemas.openxmlformats.org/drawingml/2006/main">
              <a:ext uri="{FF2B5EF4-FFF2-40B4-BE49-F238E27FC236}">
                <a16:creationId xmlns:a16="http://schemas.microsoft.com/office/drawing/2014/main" id="{77E9631E-D080-4164-9FFC-841227748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533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5E6773"/>
                </a:solidFill>
                <a:latin typeface="Arial"/>
                <a:ea typeface="Arial"/>
                <a:cs typeface="Arial"/>
              </a:rPr>
              <a:t>AI ENGINEER TECHNICAL ASSIGNMENT</a:t>
            </a:r>
          </a:p>
        </p:txBody>
      </p:sp>
      <p:sp>
        <p:nvSpPr>
          <p:cNvPr id="2" name="cover-title">
            <a:extLst xmlns:a="http://schemas.openxmlformats.org/drawingml/2006/main">
              <a:ext uri="{FF2B5EF4-FFF2-40B4-BE49-F238E27FC236}">
                <a16:creationId xmlns:a16="http://schemas.microsoft.com/office/drawing/2014/main" id="{1F0C77FE-2C42-4DF0-B789-3363CA544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28750"/>
            <a:ext cx="54292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7737"/>
          </a:bodyPr>
          <a:lstStyle xmlns:a="http://schemas.openxmlformats.org/drawingml/2006/main"/>
          <a:p xmlns:a="http://schemas.openxmlformats.org/drawingml/2006/main">
            <a:pPr algn="l">
              <a:buNone/>
              <a:defRPr sz="40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Agentic invoice-to-payment automation</a:t>
            </a:r>
          </a:p>
        </p:txBody>
      </p:sp>
      <p:sp>
        <p:nvSpPr>
          <p:cNvPr id="3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AA0A8E8F-8E97-4D0E-AFF6-B1B40E40C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38550"/>
            <a:ext cx="51435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A runnable AP + AR prototype with deterministic financial controls, human exception ownership, and verifiable auditability.</a:t>
            </a:r>
          </a:p>
        </p:txBody>
      </p:sp>
      <p:sp>
        <p:nvSpPr>
          <p:cNvPr id="4" name="rule-42-558">
            <a:extLst xmlns:a="http://schemas.openxmlformats.org/drawingml/2006/main">
              <a:ext uri="{FF2B5EF4-FFF2-40B4-BE49-F238E27FC236}">
                <a16:creationId xmlns:a16="http://schemas.microsoft.com/office/drawing/2014/main" id="{945FBD63-6313-4C4F-9C00-879B380BD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3149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cover-meta">
            <a:extLst xmlns:a="http://schemas.openxmlformats.org/drawingml/2006/main">
              <a:ext uri="{FF2B5EF4-FFF2-40B4-BE49-F238E27FC236}">
                <a16:creationId xmlns:a16="http://schemas.microsoft.com/office/drawing/2014/main" id="{16675874-9BDD-4EC7-8A3C-3D3BAF7BE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72125"/>
            <a:ext cx="533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LedgerPilot · Python · FastAPI · LangGraph · Docling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74030bdb0064fd5"/>
          <a:srcRect xmlns:a="http://schemas.openxmlformats.org/drawingml/2006/main" l="0" t="9434" r="0" b="943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267450" y="400050"/>
            <a:ext cx="5524500" cy="5600700"/>
          </a:xfrm>
          <a:prstGeom xmlns:a="http://schemas.openxmlformats.org/drawingml/2006/main" prst="roundRect">
            <a:avLst>
              <a:gd name="adj" fmla="val 2069"/>
            </a:avLst>
          </a:prstGeom>
        </p:spPr>
      </p:pic>
      <p:sp>
        <p:nvSpPr>
          <p:cNvPr id="7" name="cover-page">
            <a:extLst xmlns:a="http://schemas.openxmlformats.org/drawingml/2006/main">
              <a:ext uri="{FF2B5EF4-FFF2-40B4-BE49-F238E27FC236}">
                <a16:creationId xmlns:a16="http://schemas.microsoft.com/office/drawing/2014/main" id="{768A359C-3015-45FF-8701-43AD07098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008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69639125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eyebrow-2">
            <a:extLst xmlns:a="http://schemas.openxmlformats.org/drawingml/2006/main">
              <a:ext uri="{FF2B5EF4-FFF2-40B4-BE49-F238E27FC236}">
                <a16:creationId xmlns:a16="http://schemas.microsoft.com/office/drawing/2014/main" id="{FBEECD3C-68BA-4285-9C19-0B8735400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57175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E6773"/>
                </a:solidFill>
                <a:latin typeface="Arial"/>
                <a:ea typeface="Arial"/>
                <a:cs typeface="Arial"/>
              </a:rPr>
              <a:t>LEDGERPILOT</a:t>
            </a:r>
          </a:p>
        </p:txBody>
      </p:sp>
      <p:sp>
        <p:nvSpPr>
          <p:cNvPr id="2" name="title-2">
            <a:extLst xmlns:a="http://schemas.openxmlformats.org/drawingml/2006/main">
              <a:ext uri="{FF2B5EF4-FFF2-40B4-BE49-F238E27FC236}">
                <a16:creationId xmlns:a16="http://schemas.microsoft.com/office/drawing/2014/main" id="{86113D65-1586-45E9-B3AB-80942085C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61975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1046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Finance automation fails when interpretation and control are conflated</a:t>
            </a:r>
          </a:p>
        </p:txBody>
      </p:sp>
      <p:sp>
        <p:nvSpPr>
          <p:cNvPr id="3" name="rule-42-145">
            <a:extLst xmlns:a="http://schemas.openxmlformats.org/drawingml/2006/main">
              <a:ext uri="{FF2B5EF4-FFF2-40B4-BE49-F238E27FC236}">
                <a16:creationId xmlns:a16="http://schemas.microsoft.com/office/drawing/2014/main" id="{826650E4-3CCD-495E-B24A-E3FE6E74C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381125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-2">
            <a:extLst xmlns:a="http://schemas.openxmlformats.org/drawingml/2006/main">
              <a:ext uri="{FF2B5EF4-FFF2-40B4-BE49-F238E27FC236}">
                <a16:creationId xmlns:a16="http://schemas.microsoft.com/office/drawing/2014/main" id="{12012602-02CE-40DB-99AA-E61D73F13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008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5" name="problem-lead">
            <a:extLst xmlns:a="http://schemas.openxmlformats.org/drawingml/2006/main">
              <a:ext uri="{FF2B5EF4-FFF2-40B4-BE49-F238E27FC236}">
                <a16:creationId xmlns:a16="http://schemas.microsoft.com/office/drawing/2014/main" id="{5DDCBBC8-3FA0-479D-9F4B-EA30049E9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95450"/>
            <a:ext cx="74295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workflow must understand messy documents without letting probabilistic output authorize a financial posting.</a:t>
            </a:r>
          </a:p>
        </p:txBody>
      </p:sp>
      <p:sp>
        <p:nvSpPr>
          <p:cNvPr id="6" name="rule-42-330">
            <a:extLst xmlns:a="http://schemas.openxmlformats.org/drawingml/2006/main">
              <a:ext uri="{FF2B5EF4-FFF2-40B4-BE49-F238E27FC236}">
                <a16:creationId xmlns:a16="http://schemas.microsoft.com/office/drawing/2014/main" id="{2A971FAF-8FA2-41A5-8AC1-10BBC1B8C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143250"/>
            <a:ext cx="3095625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problem-h-0">
            <a:extLst xmlns:a="http://schemas.openxmlformats.org/drawingml/2006/main">
              <a:ext uri="{FF2B5EF4-FFF2-40B4-BE49-F238E27FC236}">
                <a16:creationId xmlns:a16="http://schemas.microsoft.com/office/drawing/2014/main" id="{BBEB2A7D-025A-42B4-B6E5-AC75302B7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381375"/>
            <a:ext cx="30956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Input variability</a:t>
            </a:r>
          </a:p>
        </p:txBody>
      </p:sp>
      <p:sp>
        <p:nvSpPr>
          <p:cNvPr id="8" name="problem-b-0">
            <a:extLst xmlns:a="http://schemas.openxmlformats.org/drawingml/2006/main">
              <a:ext uri="{FF2B5EF4-FFF2-40B4-BE49-F238E27FC236}">
                <a16:creationId xmlns:a16="http://schemas.microsoft.com/office/drawing/2014/main" id="{F20CCCCE-1D2D-4758-AFF1-DA47CD18A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943350"/>
            <a:ext cx="3095625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PDFs, scans, HTML, line items, missing references, and inconsistent vendor layouts.</a:t>
            </a:r>
          </a:p>
        </p:txBody>
      </p:sp>
      <p:sp>
        <p:nvSpPr>
          <p:cNvPr id="9" name="rule-450-330">
            <a:extLst xmlns:a="http://schemas.openxmlformats.org/drawingml/2006/main">
              <a:ext uri="{FF2B5EF4-FFF2-40B4-BE49-F238E27FC236}">
                <a16:creationId xmlns:a16="http://schemas.microsoft.com/office/drawing/2014/main" id="{F6496747-773C-4B00-810D-1EA8ADCF0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143250"/>
            <a:ext cx="3095625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B43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problem-h-1">
            <a:extLst xmlns:a="http://schemas.openxmlformats.org/drawingml/2006/main">
              <a:ext uri="{FF2B5EF4-FFF2-40B4-BE49-F238E27FC236}">
                <a16:creationId xmlns:a16="http://schemas.microsoft.com/office/drawing/2014/main" id="{FE5BCEFB-5A03-43AE-AAD4-80DEA4B00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381375"/>
            <a:ext cx="30956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Control complexity</a:t>
            </a:r>
          </a:p>
        </p:txBody>
      </p:sp>
      <p:sp>
        <p:nvSpPr>
          <p:cNvPr id="11" name="problem-b-1">
            <a:extLst xmlns:a="http://schemas.openxmlformats.org/drawingml/2006/main">
              <a:ext uri="{FF2B5EF4-FFF2-40B4-BE49-F238E27FC236}">
                <a16:creationId xmlns:a16="http://schemas.microsoft.com/office/drawing/2014/main" id="{5A20FF59-2072-4E0A-9BD7-1F74F2C79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943350"/>
            <a:ext cx="3095625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PO, price, quantity, currency, receipt, duplicate, approval, and idempotency checks.</a:t>
            </a:r>
          </a:p>
        </p:txBody>
      </p:sp>
      <p:sp>
        <p:nvSpPr>
          <p:cNvPr id="12" name="rule-858-330">
            <a:extLst xmlns:a="http://schemas.openxmlformats.org/drawingml/2006/main">
              <a:ext uri="{FF2B5EF4-FFF2-40B4-BE49-F238E27FC236}">
                <a16:creationId xmlns:a16="http://schemas.microsoft.com/office/drawing/2014/main" id="{0226DEF2-B79C-43DB-A3CA-7A7927B06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143250"/>
            <a:ext cx="3095625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problem-h-2">
            <a:extLst xmlns:a="http://schemas.openxmlformats.org/drawingml/2006/main">
              <a:ext uri="{FF2B5EF4-FFF2-40B4-BE49-F238E27FC236}">
                <a16:creationId xmlns:a16="http://schemas.microsoft.com/office/drawing/2014/main" id="{C3DD4153-CC3B-4A3A-8FF5-F1B0AF9F9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381375"/>
            <a:ext cx="30956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Audit burden</a:t>
            </a:r>
          </a:p>
        </p:txBody>
      </p:sp>
      <p:sp>
        <p:nvSpPr>
          <p:cNvPr id="14" name="problem-b-2">
            <a:extLst xmlns:a="http://schemas.openxmlformats.org/drawingml/2006/main">
              <a:ext uri="{FF2B5EF4-FFF2-40B4-BE49-F238E27FC236}">
                <a16:creationId xmlns:a16="http://schemas.microsoft.com/office/drawing/2014/main" id="{0131110B-0EC0-49F2-B1A7-38D8BBEE7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943350"/>
            <a:ext cx="3095625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Every extracted value, decision, exception, human action, and ERP response must remain traceable.</a:t>
            </a:r>
          </a:p>
        </p:txBody>
      </p:sp>
      <p:sp>
        <p:nvSpPr>
          <p:cNvPr id="15" name="problem-bottom">
            <a:extLst xmlns:a="http://schemas.openxmlformats.org/drawingml/2006/main">
              <a:ext uri="{FF2B5EF4-FFF2-40B4-BE49-F238E27FC236}">
                <a16:creationId xmlns:a16="http://schemas.microsoft.com/office/drawing/2014/main" id="{8D1E957E-104C-451D-AE71-3801206DA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743575"/>
            <a:ext cx="10668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4857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Design consequence: keep document intelligence flexible and the posting gate explicit, testable, and fail-closed.</a:t>
            </a:r>
          </a:p>
        </p:txBody>
      </p:sp>
    </p:spTree>
    <p:extLst>
      <p:ext uri="{BB962C8B-B14F-4D97-AF65-F5344CB8AC3E}">
        <p14:creationId xmlns:p14="http://schemas.microsoft.com/office/powerpoint/2010/main" val="67660211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eyebrow-3">
            <a:extLst xmlns:a="http://schemas.openxmlformats.org/drawingml/2006/main">
              <a:ext uri="{FF2B5EF4-FFF2-40B4-BE49-F238E27FC236}">
                <a16:creationId xmlns:a16="http://schemas.microsoft.com/office/drawing/2014/main" id="{B9C4996E-CB5C-4E5E-8A06-79250889D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57175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E6773"/>
                </a:solidFill>
                <a:latin typeface="Arial"/>
                <a:ea typeface="Arial"/>
                <a:cs typeface="Arial"/>
              </a:rPr>
              <a:t>LEDGERPILOT</a:t>
            </a:r>
          </a:p>
        </p:txBody>
      </p:sp>
      <p:sp>
        <p:nvSpPr>
          <p:cNvPr id="2" name="title-3">
            <a:extLst xmlns:a="http://schemas.openxmlformats.org/drawingml/2006/main">
              <a:ext uri="{FF2B5EF4-FFF2-40B4-BE49-F238E27FC236}">
                <a16:creationId xmlns:a16="http://schemas.microsoft.com/office/drawing/2014/main" id="{B697F00A-CD06-49F8-BD5A-AEAEE097A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61975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One governed path connects source evidence to ERP action</a:t>
            </a:r>
          </a:p>
        </p:txBody>
      </p:sp>
      <p:sp>
        <p:nvSpPr>
          <p:cNvPr id="3" name="rule-42-145">
            <a:extLst xmlns:a="http://schemas.openxmlformats.org/drawingml/2006/main">
              <a:ext uri="{FF2B5EF4-FFF2-40B4-BE49-F238E27FC236}">
                <a16:creationId xmlns:a16="http://schemas.microsoft.com/office/drawing/2014/main" id="{94B5AFFE-62C9-45EC-93F4-E7D52C44F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381125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-3">
            <a:extLst xmlns:a="http://schemas.openxmlformats.org/drawingml/2006/main">
              <a:ext uri="{FF2B5EF4-FFF2-40B4-BE49-F238E27FC236}">
                <a16:creationId xmlns:a16="http://schemas.microsoft.com/office/drawing/2014/main" id="{40E1D495-FFB5-48A0-A0F9-D2F41F925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008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5" name="a1">
            <a:extLst xmlns:a="http://schemas.openxmlformats.org/drawingml/2006/main">
              <a:ext uri="{FF2B5EF4-FFF2-40B4-BE49-F238E27FC236}">
                <a16:creationId xmlns:a16="http://schemas.microsoft.com/office/drawing/2014/main" id="{DAA23EA5-AFEA-4111-8121-52BDA20CB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2857500"/>
            <a:ext cx="80962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a2">
            <a:extLst xmlns:a="http://schemas.openxmlformats.org/drawingml/2006/main">
              <a:ext uri="{FF2B5EF4-FFF2-40B4-BE49-F238E27FC236}">
                <a16:creationId xmlns:a16="http://schemas.microsoft.com/office/drawing/2014/main" id="{C8075D21-1F02-42D4-A4D3-EAAF568EF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2857500"/>
            <a:ext cx="80962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a3">
            <a:extLst xmlns:a="http://schemas.openxmlformats.org/drawingml/2006/main">
              <a:ext uri="{FF2B5EF4-FFF2-40B4-BE49-F238E27FC236}">
                <a16:creationId xmlns:a16="http://schemas.microsoft.com/office/drawing/2014/main" id="{1FC125ED-B642-445B-9A7B-33DC76082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857500"/>
            <a:ext cx="80962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a4">
            <a:extLst xmlns:a="http://schemas.openxmlformats.org/drawingml/2006/main">
              <a:ext uri="{FF2B5EF4-FFF2-40B4-BE49-F238E27FC236}">
                <a16:creationId xmlns:a16="http://schemas.microsoft.com/office/drawing/2014/main" id="{1D4C704B-2DE9-45A8-92A7-CC5401471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48875" y="2857500"/>
            <a:ext cx="80962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audit-1">
            <a:extLst xmlns:a="http://schemas.openxmlformats.org/drawingml/2006/main">
              <a:ext uri="{FF2B5EF4-FFF2-40B4-BE49-F238E27FC236}">
                <a16:creationId xmlns:a16="http://schemas.microsoft.com/office/drawing/2014/main" id="{CB058F21-3F7F-475C-ADD8-95B9A4ECB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638550"/>
            <a:ext cx="28575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audit-2">
            <a:extLst xmlns:a="http://schemas.openxmlformats.org/drawingml/2006/main">
              <a:ext uri="{FF2B5EF4-FFF2-40B4-BE49-F238E27FC236}">
                <a16:creationId xmlns:a16="http://schemas.microsoft.com/office/drawing/2014/main" id="{9BBCBF88-5E3F-4896-9409-C36CE6098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638550"/>
            <a:ext cx="28575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audit-3">
            <a:extLst xmlns:a="http://schemas.openxmlformats.org/drawingml/2006/main">
              <a:ext uri="{FF2B5EF4-FFF2-40B4-BE49-F238E27FC236}">
                <a16:creationId xmlns:a16="http://schemas.microsoft.com/office/drawing/2014/main" id="{23A97570-3DE3-4F36-B82D-C2B4B6B64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3638550"/>
            <a:ext cx="28575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audit-4">
            <a:extLst xmlns:a="http://schemas.openxmlformats.org/drawingml/2006/main">
              <a:ext uri="{FF2B5EF4-FFF2-40B4-BE49-F238E27FC236}">
                <a16:creationId xmlns:a16="http://schemas.microsoft.com/office/drawing/2014/main" id="{82D5D088-697D-408E-B73F-E810F62FC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638550"/>
            <a:ext cx="28575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audit-5">
            <a:extLst xmlns:a="http://schemas.openxmlformats.org/drawingml/2006/main">
              <a:ext uri="{FF2B5EF4-FFF2-40B4-BE49-F238E27FC236}">
                <a16:creationId xmlns:a16="http://schemas.microsoft.com/office/drawing/2014/main" id="{1365B6E9-48FA-47A9-A2DB-1D0BEE833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0" y="3638550"/>
            <a:ext cx="28575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source-box">
            <a:extLst xmlns:a="http://schemas.openxmlformats.org/drawingml/2006/main">
              <a:ext uri="{FF2B5EF4-FFF2-40B4-BE49-F238E27FC236}">
                <a16:creationId xmlns:a16="http://schemas.microsoft.com/office/drawing/2014/main" id="{0877ECF5-B7C0-4186-A9F2-444FEF24B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95500"/>
            <a:ext cx="1790700" cy="1543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source-label">
            <a:extLst xmlns:a="http://schemas.openxmlformats.org/drawingml/2006/main">
              <a:ext uri="{FF2B5EF4-FFF2-40B4-BE49-F238E27FC236}">
                <a16:creationId xmlns:a16="http://schemas.microsoft.com/office/drawing/2014/main" id="{3902D89C-30EB-4F5C-A506-7C1CF0447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1447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Sources</a:t>
            </a:r>
          </a:p>
        </p:txBody>
      </p:sp>
      <p:sp>
        <p:nvSpPr>
          <p:cNvPr id="16" name="source-sub">
            <a:extLst xmlns:a="http://schemas.openxmlformats.org/drawingml/2006/main">
              <a:ext uri="{FF2B5EF4-FFF2-40B4-BE49-F238E27FC236}">
                <a16:creationId xmlns:a16="http://schemas.microsoft.com/office/drawing/2014/main" id="{F2BB58D1-F4AA-4E35-84D2-B31D3D037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47950"/>
            <a:ext cx="1447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Graph mailbox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API upload</a:t>
            </a:r>
          </a:p>
        </p:txBody>
      </p:sp>
      <p:sp>
        <p:nvSpPr>
          <p:cNvPr id="17" name="extract-box">
            <a:extLst xmlns:a="http://schemas.openxmlformats.org/drawingml/2006/main">
              <a:ext uri="{FF2B5EF4-FFF2-40B4-BE49-F238E27FC236}">
                <a16:creationId xmlns:a16="http://schemas.microsoft.com/office/drawing/2014/main" id="{5A581314-4C0B-40C0-96F4-1BC32F4E9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2095500"/>
            <a:ext cx="1809750" cy="1543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extract-label">
            <a:extLst xmlns:a="http://schemas.openxmlformats.org/drawingml/2006/main">
              <a:ext uri="{FF2B5EF4-FFF2-40B4-BE49-F238E27FC236}">
                <a16:creationId xmlns:a16="http://schemas.microsoft.com/office/drawing/2014/main" id="{3DB40E13-19B0-444C-8387-2AB8D2B3A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1825" y="2266950"/>
            <a:ext cx="1466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Interpret</a:t>
            </a:r>
          </a:p>
        </p:txBody>
      </p:sp>
      <p:sp>
        <p:nvSpPr>
          <p:cNvPr id="19" name="extract-sub">
            <a:extLst xmlns:a="http://schemas.openxmlformats.org/drawingml/2006/main">
              <a:ext uri="{FF2B5EF4-FFF2-40B4-BE49-F238E27FC236}">
                <a16:creationId xmlns:a16="http://schemas.microsoft.com/office/drawing/2014/main" id="{4AB0C7FB-2943-4354-A19B-954F52219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1825" y="2647950"/>
            <a:ext cx="14668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PDF text + OCR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Docling + Ollama</a:t>
            </a:r>
          </a:p>
        </p:txBody>
      </p:sp>
      <p:sp>
        <p:nvSpPr>
          <p:cNvPr id="20" name="agent-box">
            <a:extLst xmlns:a="http://schemas.openxmlformats.org/drawingml/2006/main">
              <a:ext uri="{FF2B5EF4-FFF2-40B4-BE49-F238E27FC236}">
                <a16:creationId xmlns:a16="http://schemas.microsoft.com/office/drawing/2014/main" id="{0D9F5128-5C63-419D-8292-4FC5C3D8D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2095500"/>
            <a:ext cx="1809750" cy="1543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4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agent-label">
            <a:extLst xmlns:a="http://schemas.openxmlformats.org/drawingml/2006/main">
              <a:ext uri="{FF2B5EF4-FFF2-40B4-BE49-F238E27FC236}">
                <a16:creationId xmlns:a16="http://schemas.microsoft.com/office/drawing/2014/main" id="{5C2BF0CC-17C5-4920-9DD3-E43507929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266950"/>
            <a:ext cx="1466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Orchestrate</a:t>
            </a:r>
          </a:p>
        </p:txBody>
      </p:sp>
      <p:sp>
        <p:nvSpPr>
          <p:cNvPr id="22" name="agent-sub">
            <a:extLst xmlns:a="http://schemas.openxmlformats.org/drawingml/2006/main">
              <a:ext uri="{FF2B5EF4-FFF2-40B4-BE49-F238E27FC236}">
                <a16:creationId xmlns:a16="http://schemas.microsoft.com/office/drawing/2014/main" id="{AD88F0F1-D983-4620-A7EF-E965B26FA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647950"/>
            <a:ext cx="14668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D7E7F4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D7E7F4"/>
                </a:solidFill>
                <a:latin typeface="Arial"/>
                <a:ea typeface="Arial"/>
                <a:cs typeface="Arial"/>
              </a:rPr>
              <a:t>LangGraph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D7E7F4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D7E7F4"/>
                </a:solidFill>
                <a:latin typeface="Arial"/>
                <a:ea typeface="Arial"/>
                <a:cs typeface="Arial"/>
              </a:rPr>
              <a:t>LlamaIndex</a:t>
            </a:r>
          </a:p>
        </p:txBody>
      </p:sp>
      <p:sp>
        <p:nvSpPr>
          <p:cNvPr id="23" name="control-box">
            <a:extLst xmlns:a="http://schemas.openxmlformats.org/drawingml/2006/main">
              <a:ext uri="{FF2B5EF4-FFF2-40B4-BE49-F238E27FC236}">
                <a16:creationId xmlns:a16="http://schemas.microsoft.com/office/drawing/2014/main" id="{C6E68834-68EC-4276-B71E-D505C18E1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095500"/>
            <a:ext cx="1809750" cy="1543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2C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control-label">
            <a:extLst xmlns:a="http://schemas.openxmlformats.org/drawingml/2006/main">
              <a:ext uri="{FF2B5EF4-FFF2-40B4-BE49-F238E27FC236}">
                <a16:creationId xmlns:a16="http://schemas.microsoft.com/office/drawing/2014/main" id="{740B622F-1399-4A51-BA0B-FE6DA2ED0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0575" y="2266950"/>
            <a:ext cx="1466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Control</a:t>
            </a:r>
          </a:p>
        </p:txBody>
      </p:sp>
      <p:sp>
        <p:nvSpPr>
          <p:cNvPr id="25" name="control-sub">
            <a:extLst xmlns:a="http://schemas.openxmlformats.org/drawingml/2006/main">
              <a:ext uri="{FF2B5EF4-FFF2-40B4-BE49-F238E27FC236}">
                <a16:creationId xmlns:a16="http://schemas.microsoft.com/office/drawing/2014/main" id="{37A780B7-CD4B-4D98-9FFF-B405370FB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0575" y="2647950"/>
            <a:ext cx="14668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2/3-way match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policy gate</a:t>
            </a:r>
          </a:p>
        </p:txBody>
      </p:sp>
      <p:sp>
        <p:nvSpPr>
          <p:cNvPr id="26" name="erp-box">
            <a:extLst xmlns:a="http://schemas.openxmlformats.org/drawingml/2006/main">
              <a:ext uri="{FF2B5EF4-FFF2-40B4-BE49-F238E27FC236}">
                <a16:creationId xmlns:a16="http://schemas.microsoft.com/office/drawing/2014/main" id="{88763490-9764-4A68-8BBD-4202BA3FF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095500"/>
            <a:ext cx="952500" cy="1543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6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erp-label">
            <a:extLst xmlns:a="http://schemas.openxmlformats.org/drawingml/2006/main">
              <a:ext uri="{FF2B5EF4-FFF2-40B4-BE49-F238E27FC236}">
                <a16:creationId xmlns:a16="http://schemas.microsoft.com/office/drawing/2014/main" id="{FB8E2644-712D-4153-923A-C01FC7C4C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2266950"/>
            <a:ext cx="609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Act</a:t>
            </a:r>
          </a:p>
        </p:txBody>
      </p:sp>
      <p:sp>
        <p:nvSpPr>
          <p:cNvPr id="28" name="erp-sub">
            <a:extLst xmlns:a="http://schemas.openxmlformats.org/drawingml/2006/main">
              <a:ext uri="{FF2B5EF4-FFF2-40B4-BE49-F238E27FC236}">
                <a16:creationId xmlns:a16="http://schemas.microsoft.com/office/drawing/2014/main" id="{0C976C9A-64A3-4E6A-8048-46E84298B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2647950"/>
            <a:ext cx="6096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ERP journal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AR cash apply</a:t>
            </a:r>
          </a:p>
        </p:txBody>
      </p:sp>
      <p:sp>
        <p:nvSpPr>
          <p:cNvPr id="29" name="audit-rail">
            <a:extLst xmlns:a="http://schemas.openxmlformats.org/drawingml/2006/main">
              <a:ext uri="{FF2B5EF4-FFF2-40B4-BE49-F238E27FC236}">
                <a16:creationId xmlns:a16="http://schemas.microsoft.com/office/drawing/2014/main" id="{78819959-219A-46FF-81C7-E6D72E41F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257800"/>
            <a:ext cx="114109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DF4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0" name="audit-label">
            <a:extLst xmlns:a="http://schemas.openxmlformats.org/drawingml/2006/main">
              <a:ext uri="{FF2B5EF4-FFF2-40B4-BE49-F238E27FC236}">
                <a16:creationId xmlns:a16="http://schemas.microsoft.com/office/drawing/2014/main" id="{A619314D-29EA-4FD7-B5A4-B917FABA3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5476875"/>
            <a:ext cx="10934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POSTGRESQL + PGVECTOR · HASH-CHAINED AUDIT · PHOENIX TRACES</a:t>
            </a:r>
          </a:p>
        </p:txBody>
      </p:sp>
    </p:spTree>
    <p:extLst>
      <p:ext uri="{BB962C8B-B14F-4D97-AF65-F5344CB8AC3E}">
        <p14:creationId xmlns:p14="http://schemas.microsoft.com/office/powerpoint/2010/main" val="193614742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eyebrow-4">
            <a:extLst xmlns:a="http://schemas.openxmlformats.org/drawingml/2006/main">
              <a:ext uri="{FF2B5EF4-FFF2-40B4-BE49-F238E27FC236}">
                <a16:creationId xmlns:a16="http://schemas.microsoft.com/office/drawing/2014/main" id="{6705A3CC-4F72-4E07-895B-09D30C4C6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57175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E6773"/>
                </a:solidFill>
                <a:latin typeface="Arial"/>
                <a:ea typeface="Arial"/>
                <a:cs typeface="Arial"/>
              </a:rPr>
              <a:t>LEDGERPILOT</a:t>
            </a:r>
          </a:p>
        </p:txBody>
      </p:sp>
      <p:sp>
        <p:nvSpPr>
          <p:cNvPr id="2" name="title-4">
            <a:extLst xmlns:a="http://schemas.openxmlformats.org/drawingml/2006/main">
              <a:ext uri="{FF2B5EF4-FFF2-40B4-BE49-F238E27FC236}">
                <a16:creationId xmlns:a16="http://schemas.microsoft.com/office/drawing/2014/main" id="{B5839DAA-4A09-424B-9AE0-69F4E013A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61975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9462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AP agent advances only when each control state is satisfied</a:t>
            </a:r>
          </a:p>
        </p:txBody>
      </p:sp>
      <p:sp>
        <p:nvSpPr>
          <p:cNvPr id="3" name="rule-42-145">
            <a:extLst xmlns:a="http://schemas.openxmlformats.org/drawingml/2006/main">
              <a:ext uri="{FF2B5EF4-FFF2-40B4-BE49-F238E27FC236}">
                <a16:creationId xmlns:a16="http://schemas.microsoft.com/office/drawing/2014/main" id="{8D420686-1EA9-4101-A64E-CA9A878AA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381125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-4">
            <a:extLst xmlns:a="http://schemas.openxmlformats.org/drawingml/2006/main">
              <a:ext uri="{FF2B5EF4-FFF2-40B4-BE49-F238E27FC236}">
                <a16:creationId xmlns:a16="http://schemas.microsoft.com/office/drawing/2014/main" id="{C187545D-E3A8-4603-BBB4-1DC876D1E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008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5" name="timeline">
            <a:extLst xmlns:a="http://schemas.openxmlformats.org/drawingml/2006/main">
              <a:ext uri="{FF2B5EF4-FFF2-40B4-BE49-F238E27FC236}">
                <a16:creationId xmlns:a16="http://schemas.microsoft.com/office/drawing/2014/main" id="{2E411F50-8D03-4B53-8AC6-98B8CB9D5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0"/>
            <a:ext cx="11049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dot-0">
            <a:extLst xmlns:a="http://schemas.openxmlformats.org/drawingml/2006/main">
              <a:ext uri="{FF2B5EF4-FFF2-40B4-BE49-F238E27FC236}">
                <a16:creationId xmlns:a16="http://schemas.microsoft.com/office/drawing/2014/main" id="{5C60C7C5-683E-4D30-A3AE-2086B16FF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162300"/>
            <a:ext cx="152400" cy="152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stage-n-0">
            <a:extLst xmlns:a="http://schemas.openxmlformats.org/drawingml/2006/main">
              <a:ext uri="{FF2B5EF4-FFF2-40B4-BE49-F238E27FC236}">
                <a16:creationId xmlns:a16="http://schemas.microsoft.com/office/drawing/2014/main" id="{8609C68F-6AD9-4483-978D-29BB1414A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2890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5E6773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8" name="stage-h-0">
            <a:extLst xmlns:a="http://schemas.openxmlformats.org/drawingml/2006/main">
              <a:ext uri="{FF2B5EF4-FFF2-40B4-BE49-F238E27FC236}">
                <a16:creationId xmlns:a16="http://schemas.microsoft.com/office/drawing/2014/main" id="{C047EBB5-4842-4DED-B06B-F5C78E90D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76650"/>
            <a:ext cx="1524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Ingest</a:t>
            </a:r>
          </a:p>
        </p:txBody>
      </p:sp>
      <p:sp>
        <p:nvSpPr>
          <p:cNvPr id="9" name="stage-b-0">
            <a:extLst xmlns:a="http://schemas.openxmlformats.org/drawingml/2006/main">
              <a:ext uri="{FF2B5EF4-FFF2-40B4-BE49-F238E27FC236}">
                <a16:creationId xmlns:a16="http://schemas.microsoft.com/office/drawing/2014/main" id="{5737A8F6-E018-4DDA-9380-31D3E5511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43375"/>
            <a:ext cx="15430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Hash source and classify attachment.</a:t>
            </a:r>
          </a:p>
        </p:txBody>
      </p:sp>
      <p:sp>
        <p:nvSpPr>
          <p:cNvPr id="10" name="dot-1">
            <a:extLst xmlns:a="http://schemas.openxmlformats.org/drawingml/2006/main">
              <a:ext uri="{FF2B5EF4-FFF2-40B4-BE49-F238E27FC236}">
                <a16:creationId xmlns:a16="http://schemas.microsoft.com/office/drawing/2014/main" id="{BD40EB63-AE44-42F1-8E84-029AE8FCB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162300"/>
            <a:ext cx="152400" cy="152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stage-n-1">
            <a:extLst xmlns:a="http://schemas.openxmlformats.org/drawingml/2006/main">
              <a:ext uri="{FF2B5EF4-FFF2-40B4-BE49-F238E27FC236}">
                <a16:creationId xmlns:a16="http://schemas.microsoft.com/office/drawing/2014/main" id="{5A88E7EE-243D-48EC-A3F5-155AB855F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62890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5E6773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2" name="stage-h-1">
            <a:extLst xmlns:a="http://schemas.openxmlformats.org/drawingml/2006/main">
              <a:ext uri="{FF2B5EF4-FFF2-40B4-BE49-F238E27FC236}">
                <a16:creationId xmlns:a16="http://schemas.microsoft.com/office/drawing/2014/main" id="{302B8FD6-DB92-4E0E-84EA-91F3F9456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676650"/>
            <a:ext cx="1524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Extract</a:t>
            </a:r>
          </a:p>
        </p:txBody>
      </p:sp>
      <p:sp>
        <p:nvSpPr>
          <p:cNvPr id="13" name="stage-b-1">
            <a:extLst xmlns:a="http://schemas.openxmlformats.org/drawingml/2006/main">
              <a:ext uri="{FF2B5EF4-FFF2-40B4-BE49-F238E27FC236}">
                <a16:creationId xmlns:a16="http://schemas.microsoft.com/office/drawing/2014/main" id="{D12F4198-2564-46B6-959D-843D20DA0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143375"/>
            <a:ext cx="15430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Normalize fields, lines, confidence, evidence.</a:t>
            </a:r>
          </a:p>
        </p:txBody>
      </p:sp>
      <p:sp>
        <p:nvSpPr>
          <p:cNvPr id="14" name="dot-2">
            <a:extLst xmlns:a="http://schemas.openxmlformats.org/drawingml/2006/main">
              <a:ext uri="{FF2B5EF4-FFF2-40B4-BE49-F238E27FC236}">
                <a16:creationId xmlns:a16="http://schemas.microsoft.com/office/drawing/2014/main" id="{B3B3229A-5049-4DA8-BA29-52E1A0973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3162300"/>
            <a:ext cx="152400" cy="152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stage-n-2">
            <a:extLst xmlns:a="http://schemas.openxmlformats.org/drawingml/2006/main">
              <a:ext uri="{FF2B5EF4-FFF2-40B4-BE49-F238E27FC236}">
                <a16:creationId xmlns:a16="http://schemas.microsoft.com/office/drawing/2014/main" id="{60F87BDC-C7C5-4452-95F3-B9F0C2326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62890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5E6773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6" name="stage-h-2">
            <a:extLst xmlns:a="http://schemas.openxmlformats.org/drawingml/2006/main">
              <a:ext uri="{FF2B5EF4-FFF2-40B4-BE49-F238E27FC236}">
                <a16:creationId xmlns:a16="http://schemas.microsoft.com/office/drawing/2014/main" id="{098A093C-084F-4206-9E76-14DB4E2BE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3676650"/>
            <a:ext cx="1524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17" name="stage-b-2">
            <a:extLst xmlns:a="http://schemas.openxmlformats.org/drawingml/2006/main">
              <a:ext uri="{FF2B5EF4-FFF2-40B4-BE49-F238E27FC236}">
                <a16:creationId xmlns:a16="http://schemas.microsoft.com/office/drawing/2014/main" id="{D5EAB6BB-77CB-415E-8F22-E2E08DF98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4143375"/>
            <a:ext cx="15430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Load relevant finance policies.</a:t>
            </a:r>
          </a:p>
        </p:txBody>
      </p:sp>
      <p:sp>
        <p:nvSpPr>
          <p:cNvPr id="18" name="dot-3">
            <a:extLst xmlns:a="http://schemas.openxmlformats.org/drawingml/2006/main">
              <a:ext uri="{FF2B5EF4-FFF2-40B4-BE49-F238E27FC236}">
                <a16:creationId xmlns:a16="http://schemas.microsoft.com/office/drawing/2014/main" id="{14ABF46B-47FE-4A1C-BFAD-DF3668B14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162300"/>
            <a:ext cx="152400" cy="152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stage-n-3">
            <a:extLst xmlns:a="http://schemas.openxmlformats.org/drawingml/2006/main">
              <a:ext uri="{FF2B5EF4-FFF2-40B4-BE49-F238E27FC236}">
                <a16:creationId xmlns:a16="http://schemas.microsoft.com/office/drawing/2014/main" id="{1D64C4BC-BF33-4271-AB9A-8C18CF7F7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62890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5E6773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20" name="stage-h-3">
            <a:extLst xmlns:a="http://schemas.openxmlformats.org/drawingml/2006/main">
              <a:ext uri="{FF2B5EF4-FFF2-40B4-BE49-F238E27FC236}">
                <a16:creationId xmlns:a16="http://schemas.microsoft.com/office/drawing/2014/main" id="{06805134-7ACD-4412-83AE-F65DDAE15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676650"/>
            <a:ext cx="1524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Match</a:t>
            </a:r>
          </a:p>
        </p:txBody>
      </p:sp>
      <p:sp>
        <p:nvSpPr>
          <p:cNvPr id="21" name="stage-b-3">
            <a:extLst xmlns:a="http://schemas.openxmlformats.org/drawingml/2006/main">
              <a:ext uri="{FF2B5EF4-FFF2-40B4-BE49-F238E27FC236}">
                <a16:creationId xmlns:a16="http://schemas.microsoft.com/office/drawing/2014/main" id="{C6220084-6A5D-4DA3-897F-5A499843F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143375"/>
            <a:ext cx="15430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Apply PO, GR, tolerance, duplicate rules.</a:t>
            </a:r>
          </a:p>
        </p:txBody>
      </p:sp>
      <p:sp>
        <p:nvSpPr>
          <p:cNvPr id="22" name="dot-4">
            <a:extLst xmlns:a="http://schemas.openxmlformats.org/drawingml/2006/main">
              <a:ext uri="{FF2B5EF4-FFF2-40B4-BE49-F238E27FC236}">
                <a16:creationId xmlns:a16="http://schemas.microsoft.com/office/drawing/2014/main" id="{C1C248DB-181E-4757-97D7-3A04A81A8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162300"/>
            <a:ext cx="152400" cy="152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3B43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stage-n-4">
            <a:extLst xmlns:a="http://schemas.openxmlformats.org/drawingml/2006/main">
              <a:ext uri="{FF2B5EF4-FFF2-40B4-BE49-F238E27FC236}">
                <a16:creationId xmlns:a16="http://schemas.microsoft.com/office/drawing/2014/main" id="{1FFDA339-E8DA-41B8-83B6-DE81CB6B9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262890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5E6773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24" name="stage-h-4">
            <a:extLst xmlns:a="http://schemas.openxmlformats.org/drawingml/2006/main">
              <a:ext uri="{FF2B5EF4-FFF2-40B4-BE49-F238E27FC236}">
                <a16:creationId xmlns:a16="http://schemas.microsoft.com/office/drawing/2014/main" id="{B0E6A156-511D-402A-A5AD-EE22C94C4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676650"/>
            <a:ext cx="1524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Review</a:t>
            </a:r>
          </a:p>
        </p:txBody>
      </p:sp>
      <p:sp>
        <p:nvSpPr>
          <p:cNvPr id="25" name="stage-b-4">
            <a:extLst xmlns:a="http://schemas.openxmlformats.org/drawingml/2006/main">
              <a:ext uri="{FF2B5EF4-FFF2-40B4-BE49-F238E27FC236}">
                <a16:creationId xmlns:a16="http://schemas.microsoft.com/office/drawing/2014/main" id="{8D89968F-8CB3-4CCA-8C61-CBE67ADFB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4143375"/>
            <a:ext cx="15430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Route named exceptions to a human.</a:t>
            </a:r>
          </a:p>
        </p:txBody>
      </p:sp>
      <p:sp>
        <p:nvSpPr>
          <p:cNvPr id="26" name="dot-5">
            <a:extLst xmlns:a="http://schemas.openxmlformats.org/drawingml/2006/main">
              <a:ext uri="{FF2B5EF4-FFF2-40B4-BE49-F238E27FC236}">
                <a16:creationId xmlns:a16="http://schemas.microsoft.com/office/drawing/2014/main" id="{F521A7E5-6FE1-4BFA-AB63-04123F762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48950" y="3162300"/>
            <a:ext cx="152400" cy="152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stage-n-5">
            <a:extLst xmlns:a="http://schemas.openxmlformats.org/drawingml/2006/main">
              <a:ext uri="{FF2B5EF4-FFF2-40B4-BE49-F238E27FC236}">
                <a16:creationId xmlns:a16="http://schemas.microsoft.com/office/drawing/2014/main" id="{4F44D89D-DC26-467A-8AA0-A2B1379EE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48950" y="262890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5E6773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28" name="stage-h-5">
            <a:extLst xmlns:a="http://schemas.openxmlformats.org/drawingml/2006/main">
              <a:ext uri="{FF2B5EF4-FFF2-40B4-BE49-F238E27FC236}">
                <a16:creationId xmlns:a16="http://schemas.microsoft.com/office/drawing/2014/main" id="{6A2CBBEA-3315-44DF-A4B5-FF652B164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48950" y="3676650"/>
            <a:ext cx="1524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Post</a:t>
            </a:r>
          </a:p>
        </p:txBody>
      </p:sp>
      <p:sp>
        <p:nvSpPr>
          <p:cNvPr id="29" name="stage-b-5">
            <a:extLst xmlns:a="http://schemas.openxmlformats.org/drawingml/2006/main">
              <a:ext uri="{FF2B5EF4-FFF2-40B4-BE49-F238E27FC236}">
                <a16:creationId xmlns:a16="http://schemas.microsoft.com/office/drawing/2014/main" id="{FB39A034-DD1C-4DAC-B751-8B7670183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48950" y="4143375"/>
            <a:ext cx="15430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Send one idempotent ERP journal.</a:t>
            </a:r>
          </a:p>
        </p:txBody>
      </p:sp>
      <p:sp>
        <p:nvSpPr>
          <p:cNvPr id="30" name="workflow-rule">
            <a:extLst xmlns:a="http://schemas.openxmlformats.org/drawingml/2006/main">
              <a:ext uri="{FF2B5EF4-FFF2-40B4-BE49-F238E27FC236}">
                <a16:creationId xmlns:a16="http://schemas.microsoft.com/office/drawing/2014/main" id="{75F281C4-0D55-44FE-94B3-944255846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619750"/>
            <a:ext cx="11049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 failed transition creates an exception event; it never silently falls through to posting.</a:t>
            </a:r>
          </a:p>
        </p:txBody>
      </p:sp>
    </p:spTree>
    <p:extLst>
      <p:ext uri="{BB962C8B-B14F-4D97-AF65-F5344CB8AC3E}">
        <p14:creationId xmlns:p14="http://schemas.microsoft.com/office/powerpoint/2010/main" val="75038103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eyebrow-5">
            <a:extLst xmlns:a="http://schemas.openxmlformats.org/drawingml/2006/main">
              <a:ext uri="{FF2B5EF4-FFF2-40B4-BE49-F238E27FC236}">
                <a16:creationId xmlns:a16="http://schemas.microsoft.com/office/drawing/2014/main" id="{C42D89E7-A9CD-418D-9154-937C8E5DE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57175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E6773"/>
                </a:solidFill>
                <a:latin typeface="Arial"/>
                <a:ea typeface="Arial"/>
                <a:cs typeface="Arial"/>
              </a:rPr>
              <a:t>LEDGERPILOT</a:t>
            </a:r>
          </a:p>
        </p:txBody>
      </p:sp>
      <p:sp>
        <p:nvSpPr>
          <p:cNvPr id="2" name="title-5">
            <a:extLst xmlns:a="http://schemas.openxmlformats.org/drawingml/2006/main">
              <a:ext uri="{FF2B5EF4-FFF2-40B4-BE49-F238E27FC236}">
                <a16:creationId xmlns:a16="http://schemas.microsoft.com/office/drawing/2014/main" id="{27BE9CB2-623A-45F6-8A4E-D2B79115E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61975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5525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match gate is deterministic, configurable, and boundary-tested</a:t>
            </a:r>
          </a:p>
        </p:txBody>
      </p:sp>
      <p:sp>
        <p:nvSpPr>
          <p:cNvPr id="3" name="rule-42-145">
            <a:extLst xmlns:a="http://schemas.openxmlformats.org/drawingml/2006/main">
              <a:ext uri="{FF2B5EF4-FFF2-40B4-BE49-F238E27FC236}">
                <a16:creationId xmlns:a16="http://schemas.microsoft.com/office/drawing/2014/main" id="{19EBA88D-1BD7-4423-9929-9E7AEBDE4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381125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-5">
            <a:extLst xmlns:a="http://schemas.openxmlformats.org/drawingml/2006/main">
              <a:ext uri="{FF2B5EF4-FFF2-40B4-BE49-F238E27FC236}">
                <a16:creationId xmlns:a16="http://schemas.microsoft.com/office/drawing/2014/main" id="{2D25D956-E948-496C-94C3-9731A145D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008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5" name="twoway-k">
            <a:extLst xmlns:a="http://schemas.openxmlformats.org/drawingml/2006/main">
              <a:ext uri="{FF2B5EF4-FFF2-40B4-BE49-F238E27FC236}">
                <a16:creationId xmlns:a16="http://schemas.microsoft.com/office/drawing/2014/main" id="{B6F8A3FC-FEC7-4E7D-BC98-C9C0F7EF9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790700"/>
            <a:ext cx="1524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2-WAY</a:t>
            </a:r>
          </a:p>
        </p:txBody>
      </p:sp>
      <p:sp>
        <p:nvSpPr>
          <p:cNvPr id="6" name="twoway-h">
            <a:extLst xmlns:a="http://schemas.openxmlformats.org/drawingml/2006/main">
              <a:ext uri="{FF2B5EF4-FFF2-40B4-BE49-F238E27FC236}">
                <a16:creationId xmlns:a16="http://schemas.microsoft.com/office/drawing/2014/main" id="{3A354FBA-80AB-4D71-9A2F-198CC40A5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190750"/>
            <a:ext cx="4762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Invoice ↔ PO</a:t>
            </a:r>
          </a:p>
        </p:txBody>
      </p:sp>
      <p:sp>
        <p:nvSpPr>
          <p:cNvPr id="7" name="twoway-b">
            <a:extLst xmlns:a="http://schemas.openxmlformats.org/drawingml/2006/main">
              <a:ext uri="{FF2B5EF4-FFF2-40B4-BE49-F238E27FC236}">
                <a16:creationId xmlns:a16="http://schemas.microsoft.com/office/drawing/2014/main" id="{B516248B-3828-498E-96A2-8E3FED16A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914650"/>
            <a:ext cx="47625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Vendor · currency · line mapping · unit price · partial quantity · arithmetic · tax / freight · duplicate</a:t>
            </a:r>
          </a:p>
        </p:txBody>
      </p:sp>
      <p:sp>
        <p:nvSpPr>
          <p:cNvPr id="8" name="rule-630-180">
            <a:extLst xmlns:a="http://schemas.openxmlformats.org/drawingml/2006/main">
              <a:ext uri="{FF2B5EF4-FFF2-40B4-BE49-F238E27FC236}">
                <a16:creationId xmlns:a16="http://schemas.microsoft.com/office/drawing/2014/main" id="{719CA362-E64E-4B9C-9622-809860412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1714500"/>
            <a:ext cx="19050" cy="400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threeway-k">
            <a:extLst xmlns:a="http://schemas.openxmlformats.org/drawingml/2006/main">
              <a:ext uri="{FF2B5EF4-FFF2-40B4-BE49-F238E27FC236}">
                <a16:creationId xmlns:a16="http://schemas.microsoft.com/office/drawing/2014/main" id="{31627BE4-BBC5-4C90-AE78-81EA62214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790700"/>
            <a:ext cx="1524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F7D58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F7D58"/>
                </a:solidFill>
                <a:latin typeface="Arial"/>
                <a:ea typeface="Arial"/>
                <a:cs typeface="Arial"/>
              </a:rPr>
              <a:t>3-WAY</a:t>
            </a:r>
          </a:p>
        </p:txBody>
      </p:sp>
      <p:sp>
        <p:nvSpPr>
          <p:cNvPr id="10" name="threeway-h">
            <a:extLst xmlns:a="http://schemas.openxmlformats.org/drawingml/2006/main">
              <a:ext uri="{FF2B5EF4-FFF2-40B4-BE49-F238E27FC236}">
                <a16:creationId xmlns:a16="http://schemas.microsoft.com/office/drawing/2014/main" id="{8FDB7DBB-0ADC-4A56-AA8E-EC69B7536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190750"/>
            <a:ext cx="495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Invoice ↔ PO ↔ receipt</a:t>
            </a:r>
          </a:p>
        </p:txBody>
      </p:sp>
      <p:sp>
        <p:nvSpPr>
          <p:cNvPr id="11" name="threeway-b">
            <a:extLst xmlns:a="http://schemas.openxmlformats.org/drawingml/2006/main">
              <a:ext uri="{FF2B5EF4-FFF2-40B4-BE49-F238E27FC236}">
                <a16:creationId xmlns:a16="http://schemas.microsoft.com/office/drawing/2014/main" id="{62A44F04-6074-4E8A-8BF7-F2F7640A6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914650"/>
            <a:ext cx="47625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Every 2-way control, plus received quantity must cover invoiced quantity.</a:t>
            </a:r>
          </a:p>
        </p:txBody>
      </p:sp>
      <p:sp>
        <p:nvSpPr>
          <p:cNvPr id="12" name="tol-panel">
            <a:extLst xmlns:a="http://schemas.openxmlformats.org/drawingml/2006/main">
              <a:ext uri="{FF2B5EF4-FFF2-40B4-BE49-F238E27FC236}">
                <a16:creationId xmlns:a16="http://schemas.microsoft.com/office/drawing/2014/main" id="{D39397B2-02C8-411D-908E-81806B1C7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476750"/>
            <a:ext cx="1112520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tol-values">
            <a:extLst xmlns:a="http://schemas.openxmlformats.org/drawingml/2006/main">
              <a:ext uri="{FF2B5EF4-FFF2-40B4-BE49-F238E27FC236}">
                <a16:creationId xmlns:a16="http://schemas.microsoft.com/office/drawing/2014/main" id="{982F2C25-2263-4B1E-B659-94EED6FD5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686300"/>
            <a:ext cx="1714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2.00%</a:t>
            </a:r>
          </a:p>
        </p:txBody>
      </p:sp>
      <p:sp>
        <p:nvSpPr>
          <p:cNvPr id="14" name="tol-price">
            <a:extLst xmlns:a="http://schemas.openxmlformats.org/drawingml/2006/main">
              <a:ext uri="{FF2B5EF4-FFF2-40B4-BE49-F238E27FC236}">
                <a16:creationId xmlns:a16="http://schemas.microsoft.com/office/drawing/2014/main" id="{B00290DD-31A8-4979-A31A-733FD14E9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21970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price tolerance</a:t>
            </a:r>
          </a:p>
        </p:txBody>
      </p:sp>
      <p:sp>
        <p:nvSpPr>
          <p:cNvPr id="15" name="tol-q-value">
            <a:extLst xmlns:a="http://schemas.openxmlformats.org/drawingml/2006/main">
              <a:ext uri="{FF2B5EF4-FFF2-40B4-BE49-F238E27FC236}">
                <a16:creationId xmlns:a16="http://schemas.microsoft.com/office/drawing/2014/main" id="{2D2F72E1-3B4A-4079-AE63-0C876B098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4686300"/>
            <a:ext cx="1714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0.00%</a:t>
            </a:r>
          </a:p>
        </p:txBody>
      </p:sp>
      <p:sp>
        <p:nvSpPr>
          <p:cNvPr id="16" name="tol-q">
            <a:extLst xmlns:a="http://schemas.openxmlformats.org/drawingml/2006/main">
              <a:ext uri="{FF2B5EF4-FFF2-40B4-BE49-F238E27FC236}">
                <a16:creationId xmlns:a16="http://schemas.microsoft.com/office/drawing/2014/main" id="{B3C17762-AD07-4693-AFBA-A006C170E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521970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quantity tolerance</a:t>
            </a:r>
          </a:p>
        </p:txBody>
      </p:sp>
      <p:sp>
        <p:nvSpPr>
          <p:cNvPr id="17" name="tol-t-value">
            <a:extLst xmlns:a="http://schemas.openxmlformats.org/drawingml/2006/main">
              <a:ext uri="{FF2B5EF4-FFF2-40B4-BE49-F238E27FC236}">
                <a16:creationId xmlns:a16="http://schemas.microsoft.com/office/drawing/2014/main" id="{FD69A628-7383-4734-BBF3-D3EE5F872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4686300"/>
            <a:ext cx="1714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2.00%</a:t>
            </a:r>
          </a:p>
        </p:txBody>
      </p:sp>
      <p:sp>
        <p:nvSpPr>
          <p:cNvPr id="18" name="tol-t">
            <a:extLst xmlns:a="http://schemas.openxmlformats.org/drawingml/2006/main">
              <a:ext uri="{FF2B5EF4-FFF2-40B4-BE49-F238E27FC236}">
                <a16:creationId xmlns:a16="http://schemas.microsoft.com/office/drawing/2014/main" id="{508EBAA5-F803-4458-A396-E0738F5EC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521970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total tolerance</a:t>
            </a:r>
          </a:p>
        </p:txBody>
      </p:sp>
      <p:sp>
        <p:nvSpPr>
          <p:cNvPr id="19" name="boundary">
            <a:extLst xmlns:a="http://schemas.openxmlformats.org/drawingml/2006/main">
              <a:ext uri="{FF2B5EF4-FFF2-40B4-BE49-F238E27FC236}">
                <a16:creationId xmlns:a16="http://schemas.microsoft.com/office/drawing/2014/main" id="{759CFC78-89D9-46E7-A5F0-5A06A6E35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4762500"/>
            <a:ext cx="1905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Boundary is accepted; 2.01% is blocked.</a:t>
            </a:r>
          </a:p>
        </p:txBody>
      </p:sp>
    </p:spTree>
    <p:extLst>
      <p:ext uri="{BB962C8B-B14F-4D97-AF65-F5344CB8AC3E}">
        <p14:creationId xmlns:p14="http://schemas.microsoft.com/office/powerpoint/2010/main" val="210831366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eyebrow-6">
            <a:extLst xmlns:a="http://schemas.openxmlformats.org/drawingml/2006/main">
              <a:ext uri="{FF2B5EF4-FFF2-40B4-BE49-F238E27FC236}">
                <a16:creationId xmlns:a16="http://schemas.microsoft.com/office/drawing/2014/main" id="{8DC70536-056D-4E58-97FE-5E7E5CAC4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57175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E6773"/>
                </a:solidFill>
                <a:latin typeface="Arial"/>
                <a:ea typeface="Arial"/>
                <a:cs typeface="Arial"/>
              </a:rPr>
              <a:t>LEDGERPILOT</a:t>
            </a:r>
          </a:p>
        </p:txBody>
      </p:sp>
      <p:sp>
        <p:nvSpPr>
          <p:cNvPr id="2" name="title-6">
            <a:extLst xmlns:a="http://schemas.openxmlformats.org/drawingml/2006/main">
              <a:ext uri="{FF2B5EF4-FFF2-40B4-BE49-F238E27FC236}">
                <a16:creationId xmlns:a16="http://schemas.microsoft.com/office/drawing/2014/main" id="{CBE017E1-06E0-419F-B507-DFBC259CF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61975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7988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Exceptions stop money movement and preserve decision context</a:t>
            </a:r>
          </a:p>
        </p:txBody>
      </p:sp>
      <p:sp>
        <p:nvSpPr>
          <p:cNvPr id="3" name="rule-42-145">
            <a:extLst xmlns:a="http://schemas.openxmlformats.org/drawingml/2006/main">
              <a:ext uri="{FF2B5EF4-FFF2-40B4-BE49-F238E27FC236}">
                <a16:creationId xmlns:a16="http://schemas.microsoft.com/office/drawing/2014/main" id="{D6A9A098-2CBE-4B49-9A2A-2867B3C15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381125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-6">
            <a:extLst xmlns:a="http://schemas.openxmlformats.org/drawingml/2006/main">
              <a:ext uri="{FF2B5EF4-FFF2-40B4-BE49-F238E27FC236}">
                <a16:creationId xmlns:a16="http://schemas.microsoft.com/office/drawing/2014/main" id="{CDD0C110-A1EB-4F8F-B94A-38D03B0C3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008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5" name="exception-title">
            <a:extLst xmlns:a="http://schemas.openxmlformats.org/drawingml/2006/main">
              <a:ext uri="{FF2B5EF4-FFF2-40B4-BE49-F238E27FC236}">
                <a16:creationId xmlns:a16="http://schemas.microsoft.com/office/drawing/2014/main" id="{86E466AA-4979-4B72-A0E7-98C4EC26B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857375"/>
            <a:ext cx="4762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Agent-created exception</a:t>
            </a:r>
          </a:p>
        </p:txBody>
      </p:sp>
      <p:sp>
        <p:nvSpPr>
          <p:cNvPr id="6" name="rule-42-268">
            <a:extLst xmlns:a="http://schemas.openxmlformats.org/drawingml/2006/main">
              <a:ext uri="{FF2B5EF4-FFF2-40B4-BE49-F238E27FC236}">
                <a16:creationId xmlns:a16="http://schemas.microsoft.com/office/drawing/2014/main" id="{62C6744F-CBA1-499E-ABB0-B13C0B57F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552700"/>
            <a:ext cx="4953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4A4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ex-0">
            <a:extLst xmlns:a="http://schemas.openxmlformats.org/drawingml/2006/main">
              <a:ext uri="{FF2B5EF4-FFF2-40B4-BE49-F238E27FC236}">
                <a16:creationId xmlns:a16="http://schemas.microsoft.com/office/drawing/2014/main" id="{ADC5C06B-1546-4903-8DA7-6E4FCC219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86050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DUPLICATE_INVOICE</a:t>
            </a:r>
          </a:p>
        </p:txBody>
      </p:sp>
      <p:sp>
        <p:nvSpPr>
          <p:cNvPr id="8" name="rule-42-334">
            <a:extLst xmlns:a="http://schemas.openxmlformats.org/drawingml/2006/main">
              <a:ext uri="{FF2B5EF4-FFF2-40B4-BE49-F238E27FC236}">
                <a16:creationId xmlns:a16="http://schemas.microsoft.com/office/drawing/2014/main" id="{E2BAAD7D-CDDE-4AEB-838C-828701068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181350"/>
            <a:ext cx="4953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ex-1">
            <a:extLst xmlns:a="http://schemas.openxmlformats.org/drawingml/2006/main">
              <a:ext uri="{FF2B5EF4-FFF2-40B4-BE49-F238E27FC236}">
                <a16:creationId xmlns:a16="http://schemas.microsoft.com/office/drawing/2014/main" id="{F18C2A43-5837-48AC-BED9-A36DEC753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314700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MISSING_PO</a:t>
            </a:r>
          </a:p>
        </p:txBody>
      </p:sp>
      <p:sp>
        <p:nvSpPr>
          <p:cNvPr id="10" name="rule-42-400">
            <a:extLst xmlns:a="http://schemas.openxmlformats.org/drawingml/2006/main">
              <a:ext uri="{FF2B5EF4-FFF2-40B4-BE49-F238E27FC236}">
                <a16:creationId xmlns:a16="http://schemas.microsoft.com/office/drawing/2014/main" id="{32E98DA3-5066-4C3A-9F2C-C725386AC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810000"/>
            <a:ext cx="4953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ex-2">
            <a:extLst xmlns:a="http://schemas.openxmlformats.org/drawingml/2006/main">
              <a:ext uri="{FF2B5EF4-FFF2-40B4-BE49-F238E27FC236}">
                <a16:creationId xmlns:a16="http://schemas.microsoft.com/office/drawing/2014/main" id="{27C46C2C-F22A-4030-99CE-EFA748214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943350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PRICE / QTY / ARITHMETIC</a:t>
            </a:r>
          </a:p>
        </p:txBody>
      </p:sp>
      <p:sp>
        <p:nvSpPr>
          <p:cNvPr id="12" name="rule-42-466">
            <a:extLst xmlns:a="http://schemas.openxmlformats.org/drawingml/2006/main">
              <a:ext uri="{FF2B5EF4-FFF2-40B4-BE49-F238E27FC236}">
                <a16:creationId xmlns:a16="http://schemas.microsoft.com/office/drawing/2014/main" id="{87F2CEDB-C3A3-45D3-9D9E-7C7CCC41D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438650"/>
            <a:ext cx="4953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ex-3">
            <a:extLst xmlns:a="http://schemas.openxmlformats.org/drawingml/2006/main">
              <a:ext uri="{FF2B5EF4-FFF2-40B4-BE49-F238E27FC236}">
                <a16:creationId xmlns:a16="http://schemas.microsoft.com/office/drawing/2014/main" id="{1024D4F2-FC35-480D-B676-AEDE24049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572000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RECEIPT_SHORTFALL</a:t>
            </a:r>
          </a:p>
        </p:txBody>
      </p:sp>
      <p:sp>
        <p:nvSpPr>
          <p:cNvPr id="14" name="human-title">
            <a:extLst xmlns:a="http://schemas.openxmlformats.org/drawingml/2006/main">
              <a:ext uri="{FF2B5EF4-FFF2-40B4-BE49-F238E27FC236}">
                <a16:creationId xmlns:a16="http://schemas.microsoft.com/office/drawing/2014/main" id="{84214F8A-C4A8-4C25-929C-A7426E568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857375"/>
            <a:ext cx="4762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Named human decision</a:t>
            </a:r>
          </a:p>
        </p:txBody>
      </p:sp>
      <p:sp>
        <p:nvSpPr>
          <p:cNvPr id="15" name="human-panel">
            <a:extLst xmlns:a="http://schemas.openxmlformats.org/drawingml/2006/main">
              <a:ext uri="{FF2B5EF4-FFF2-40B4-BE49-F238E27FC236}">
                <a16:creationId xmlns:a16="http://schemas.microsoft.com/office/drawing/2014/main" id="{C87A6877-583F-4854-8E53-8EB276A4A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514600"/>
            <a:ext cx="4953000" cy="2571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human-action">
            <a:extLst xmlns:a="http://schemas.openxmlformats.org/drawingml/2006/main">
              <a:ext uri="{FF2B5EF4-FFF2-40B4-BE49-F238E27FC236}">
                <a16:creationId xmlns:a16="http://schemas.microsoft.com/office/drawing/2014/main" id="{B0B9799B-8823-4B95-B9C0-D2BA7F45F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781300"/>
            <a:ext cx="4381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Approve or reject</a:t>
            </a:r>
          </a:p>
        </p:txBody>
      </p:sp>
      <p:sp>
        <p:nvSpPr>
          <p:cNvPr id="17" name="human-desc">
            <a:extLst xmlns:a="http://schemas.openxmlformats.org/drawingml/2006/main">
              <a:ext uri="{FF2B5EF4-FFF2-40B4-BE49-F238E27FC236}">
                <a16:creationId xmlns:a16="http://schemas.microsoft.com/office/drawing/2014/main" id="{E45C355E-DC33-45CE-BCEC-212402C4D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409950"/>
            <a:ext cx="42862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The reviewer sees extracted evidence, match variances, retrieved policy context, and the complete source-linked trail.</a:t>
            </a:r>
          </a:p>
        </p:txBody>
      </p:sp>
      <p:sp>
        <p:nvSpPr>
          <p:cNvPr id="18" name="human-proof">
            <a:extLst xmlns:a="http://schemas.openxmlformats.org/drawingml/2006/main">
              <a:ext uri="{FF2B5EF4-FFF2-40B4-BE49-F238E27FC236}">
                <a16:creationId xmlns:a16="http://schemas.microsoft.com/office/drawing/2014/main" id="{07AA2C3A-5C23-4AEF-B7C8-BF8F7E43E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552950"/>
            <a:ext cx="4286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Supplied actor + comment → immutable audit event</a:t>
            </a:r>
          </a:p>
        </p:txBody>
      </p:sp>
      <p:sp>
        <p:nvSpPr>
          <p:cNvPr id="19" name="exception-bottom">
            <a:extLst xmlns:a="http://schemas.openxmlformats.org/drawingml/2006/main">
              <a:ext uri="{FF2B5EF4-FFF2-40B4-BE49-F238E27FC236}">
                <a16:creationId xmlns:a16="http://schemas.microsoft.com/office/drawing/2014/main" id="{04F14F91-3D7E-440F-AB43-11543E7C1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619750"/>
            <a:ext cx="11125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Approval is a workflow transition—not an override that erases the exception.</a:t>
            </a:r>
          </a:p>
        </p:txBody>
      </p:sp>
    </p:spTree>
    <p:extLst>
      <p:ext uri="{BB962C8B-B14F-4D97-AF65-F5344CB8AC3E}">
        <p14:creationId xmlns:p14="http://schemas.microsoft.com/office/powerpoint/2010/main" val="23460472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eyebrow-7">
            <a:extLst xmlns:a="http://schemas.openxmlformats.org/drawingml/2006/main">
              <a:ext uri="{FF2B5EF4-FFF2-40B4-BE49-F238E27FC236}">
                <a16:creationId xmlns:a16="http://schemas.microsoft.com/office/drawing/2014/main" id="{4EBEE1B5-A4E7-48F9-9104-627AB73F9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57175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E6773"/>
                </a:solidFill>
                <a:latin typeface="Arial"/>
                <a:ea typeface="Arial"/>
                <a:cs typeface="Arial"/>
              </a:rPr>
              <a:t>LEDGERPILOT</a:t>
            </a:r>
          </a:p>
        </p:txBody>
      </p:sp>
      <p:sp>
        <p:nvSpPr>
          <p:cNvPr id="2" name="title-7">
            <a:extLst xmlns:a="http://schemas.openxmlformats.org/drawingml/2006/main">
              <a:ext uri="{FF2B5EF4-FFF2-40B4-BE49-F238E27FC236}">
                <a16:creationId xmlns:a16="http://schemas.microsoft.com/office/drawing/2014/main" id="{10F0817B-D0AA-4B2B-BA41-C431E90C1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61975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AR path mirrors the business outcome for incoming cash</a:t>
            </a:r>
          </a:p>
        </p:txBody>
      </p:sp>
      <p:sp>
        <p:nvSpPr>
          <p:cNvPr id="3" name="rule-42-145">
            <a:extLst xmlns:a="http://schemas.openxmlformats.org/drawingml/2006/main">
              <a:ext uri="{FF2B5EF4-FFF2-40B4-BE49-F238E27FC236}">
                <a16:creationId xmlns:a16="http://schemas.microsoft.com/office/drawing/2014/main" id="{19C07495-D8CC-4DFC-BE00-D06DBAF54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381125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-7">
            <a:extLst xmlns:a="http://schemas.openxmlformats.org/drawingml/2006/main">
              <a:ext uri="{FF2B5EF4-FFF2-40B4-BE49-F238E27FC236}">
                <a16:creationId xmlns:a16="http://schemas.microsoft.com/office/drawing/2014/main" id="{380405C1-DB10-4B35-8D15-1CC4A960D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008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5" name="ap-label">
            <a:extLst xmlns:a="http://schemas.openxmlformats.org/drawingml/2006/main">
              <a:ext uri="{FF2B5EF4-FFF2-40B4-BE49-F238E27FC236}">
                <a16:creationId xmlns:a16="http://schemas.microsoft.com/office/drawing/2014/main" id="{16BB3D93-6281-41C9-8007-CF66C5972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714500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5E6773"/>
                </a:solidFill>
                <a:latin typeface="Arial"/>
                <a:ea typeface="Arial"/>
                <a:cs typeface="Arial"/>
              </a:rPr>
              <a:t>ACCOUNTS PAYABLE</a:t>
            </a:r>
          </a:p>
        </p:txBody>
      </p:sp>
      <p:sp>
        <p:nvSpPr>
          <p:cNvPr id="6" name="ap-flow">
            <a:extLst xmlns:a="http://schemas.openxmlformats.org/drawingml/2006/main">
              <a:ext uri="{FF2B5EF4-FFF2-40B4-BE49-F238E27FC236}">
                <a16:creationId xmlns:a16="http://schemas.microsoft.com/office/drawing/2014/main" id="{CA02BC1F-923A-4CC9-8404-AAC21EF04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190750"/>
            <a:ext cx="4476750" cy="266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28600" tIns="228600" rIns="228600" bIns="2286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2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Invoice</a:t>
            </a:r>
          </a:p>
          <a:p xmlns:a="http://schemas.openxmlformats.org/drawingml/2006/main">
            <a:pPr algn="ctr">
              <a:buNone/>
              <a:defRPr sz="22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↓</a:t>
            </a:r>
          </a:p>
          <a:p xmlns:a="http://schemas.openxmlformats.org/drawingml/2006/main">
            <a:pPr algn="ctr">
              <a:buNone/>
              <a:defRPr sz="22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PO + receipt</a:t>
            </a:r>
          </a:p>
          <a:p xmlns:a="http://schemas.openxmlformats.org/drawingml/2006/main">
            <a:pPr algn="ctr">
              <a:buNone/>
              <a:defRPr sz="22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↓</a:t>
            </a:r>
          </a:p>
          <a:p xmlns:a="http://schemas.openxmlformats.org/drawingml/2006/main">
            <a:pPr algn="ctr">
              <a:buNone/>
              <a:defRPr sz="22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Payment journal</a:t>
            </a:r>
          </a:p>
        </p:txBody>
      </p:sp>
      <p:sp>
        <p:nvSpPr>
          <p:cNvPr id="7" name="ar-label">
            <a:extLst xmlns:a="http://schemas.openxmlformats.org/drawingml/2006/main">
              <a:ext uri="{FF2B5EF4-FFF2-40B4-BE49-F238E27FC236}">
                <a16:creationId xmlns:a16="http://schemas.microsoft.com/office/drawing/2014/main" id="{50527C3C-876F-4589-895F-1783C73F1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714500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ACCOUNTS RECEIVABLE</a:t>
            </a:r>
          </a:p>
        </p:txBody>
      </p:sp>
      <p:sp>
        <p:nvSpPr>
          <p:cNvPr id="8" name="ar-flow">
            <a:extLst xmlns:a="http://schemas.openxmlformats.org/drawingml/2006/main">
              <a:ext uri="{FF2B5EF4-FFF2-40B4-BE49-F238E27FC236}">
                <a16:creationId xmlns:a16="http://schemas.microsoft.com/office/drawing/2014/main" id="{F81B90A3-E5AC-453E-98AB-4B2726715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190750"/>
            <a:ext cx="4476750" cy="266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28600" tIns="228600" rIns="228600" bIns="2286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2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Remittance</a:t>
            </a:r>
          </a:p>
          <a:p xmlns:a="http://schemas.openxmlformats.org/drawingml/2006/main">
            <a:pPr algn="ctr">
              <a:buNone/>
              <a:defRPr sz="22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↓</a:t>
            </a:r>
          </a:p>
          <a:p xmlns:a="http://schemas.openxmlformats.org/drawingml/2006/main">
            <a:pPr algn="ctr">
              <a:buNone/>
              <a:defRPr sz="22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Customer + open items</a:t>
            </a:r>
          </a:p>
          <a:p xmlns:a="http://schemas.openxmlformats.org/drawingml/2006/main">
            <a:pPr algn="ctr">
              <a:buNone/>
              <a:defRPr sz="22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↓</a:t>
            </a:r>
          </a:p>
          <a:p xmlns:a="http://schemas.openxmlformats.org/drawingml/2006/main">
            <a:pPr algn="ctr">
              <a:buNone/>
              <a:defRPr sz="22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Cash application</a:t>
            </a:r>
          </a:p>
        </p:txBody>
      </p:sp>
      <p:sp>
        <p:nvSpPr>
          <p:cNvPr id="9" name="shared-pattern">
            <a:extLst xmlns:a="http://schemas.openxmlformats.org/drawingml/2006/main">
              <a:ext uri="{FF2B5EF4-FFF2-40B4-BE49-F238E27FC236}">
                <a16:creationId xmlns:a16="http://schemas.microsoft.com/office/drawing/2014/main" id="{B2D47B5F-A6BB-4DD3-8308-667670C71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476875"/>
            <a:ext cx="10668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AR controls: source ref · exact customer/currency/amount · exception queue · audited result</a:t>
            </a:r>
          </a:p>
        </p:txBody>
      </p:sp>
    </p:spTree>
    <p:extLst>
      <p:ext uri="{BB962C8B-B14F-4D97-AF65-F5344CB8AC3E}">
        <p14:creationId xmlns:p14="http://schemas.microsoft.com/office/powerpoint/2010/main" val="143085575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eyebrow-8">
            <a:extLst xmlns:a="http://schemas.openxmlformats.org/drawingml/2006/main">
              <a:ext uri="{FF2B5EF4-FFF2-40B4-BE49-F238E27FC236}">
                <a16:creationId xmlns:a16="http://schemas.microsoft.com/office/drawing/2014/main" id="{9C544C11-8F90-4DCF-8D1A-72F436F00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57175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E6773"/>
                </a:solidFill>
                <a:latin typeface="Arial"/>
                <a:ea typeface="Arial"/>
                <a:cs typeface="Arial"/>
              </a:rPr>
              <a:t>LEDGERPILOT</a:t>
            </a:r>
          </a:p>
        </p:txBody>
      </p:sp>
      <p:sp>
        <p:nvSpPr>
          <p:cNvPr id="2" name="title-8">
            <a:extLst xmlns:a="http://schemas.openxmlformats.org/drawingml/2006/main">
              <a:ext uri="{FF2B5EF4-FFF2-40B4-BE49-F238E27FC236}">
                <a16:creationId xmlns:a16="http://schemas.microsoft.com/office/drawing/2014/main" id="{ADBA0428-E495-4AC6-9DC2-E2D194B17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61975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1993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Five mandatory APIs expose the controlled workflow and its evidence</a:t>
            </a:r>
          </a:p>
        </p:txBody>
      </p:sp>
      <p:sp>
        <p:nvSpPr>
          <p:cNvPr id="3" name="rule-42-145">
            <a:extLst xmlns:a="http://schemas.openxmlformats.org/drawingml/2006/main">
              <a:ext uri="{FF2B5EF4-FFF2-40B4-BE49-F238E27FC236}">
                <a16:creationId xmlns:a16="http://schemas.microsoft.com/office/drawing/2014/main" id="{00A1C043-DCE5-4450-854D-1578A1FA0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381125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-8">
            <a:extLst xmlns:a="http://schemas.openxmlformats.org/drawingml/2006/main">
              <a:ext uri="{FF2B5EF4-FFF2-40B4-BE49-F238E27FC236}">
                <a16:creationId xmlns:a16="http://schemas.microsoft.com/office/drawing/2014/main" id="{956F251E-A11D-4F12-87DC-2E5E90198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008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sp>
        <p:nvSpPr>
          <p:cNvPr id="5" name="api-head-method">
            <a:extLst xmlns:a="http://schemas.openxmlformats.org/drawingml/2006/main">
              <a:ext uri="{FF2B5EF4-FFF2-40B4-BE49-F238E27FC236}">
                <a16:creationId xmlns:a16="http://schemas.microsoft.com/office/drawing/2014/main" id="{3526F5DD-6376-4471-B486-0C8F22C04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71450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5E6773"/>
                </a:solidFill>
                <a:latin typeface="Arial"/>
                <a:ea typeface="Arial"/>
                <a:cs typeface="Arial"/>
              </a:rPr>
              <a:t>METHOD</a:t>
            </a:r>
          </a:p>
        </p:txBody>
      </p:sp>
      <p:sp>
        <p:nvSpPr>
          <p:cNvPr id="6" name="api-head-path">
            <a:extLst xmlns:a="http://schemas.openxmlformats.org/drawingml/2006/main">
              <a:ext uri="{FF2B5EF4-FFF2-40B4-BE49-F238E27FC236}">
                <a16:creationId xmlns:a16="http://schemas.microsoft.com/office/drawing/2014/main" id="{20B5E8CC-929F-4A45-861D-625157A42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1714500"/>
            <a:ext cx="533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5E6773"/>
                </a:solidFill>
                <a:latin typeface="Arial"/>
                <a:ea typeface="Arial"/>
                <a:cs typeface="Arial"/>
              </a:rPr>
              <a:t>PATH</a:t>
            </a:r>
          </a:p>
        </p:txBody>
      </p:sp>
      <p:sp>
        <p:nvSpPr>
          <p:cNvPr id="7" name="api-head-proof">
            <a:extLst xmlns:a="http://schemas.openxmlformats.org/drawingml/2006/main">
              <a:ext uri="{FF2B5EF4-FFF2-40B4-BE49-F238E27FC236}">
                <a16:creationId xmlns:a16="http://schemas.microsoft.com/office/drawing/2014/main" id="{96AE445B-F58D-46FF-8218-FAFB431A8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71450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5E6773"/>
                </a:solidFill>
                <a:latin typeface="Arial"/>
                <a:ea typeface="Arial"/>
                <a:cs typeface="Arial"/>
              </a:rPr>
              <a:t>CONTROL EVIDENCE</a:t>
            </a:r>
          </a:p>
        </p:txBody>
      </p:sp>
      <p:sp>
        <p:nvSpPr>
          <p:cNvPr id="8" name="rule-42-215">
            <a:extLst xmlns:a="http://schemas.openxmlformats.org/drawingml/2006/main">
              <a:ext uri="{FF2B5EF4-FFF2-40B4-BE49-F238E27FC236}">
                <a16:creationId xmlns:a16="http://schemas.microsoft.com/office/drawing/2014/main" id="{5198056A-E39C-46F0-895B-4976174E9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47875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m-0">
            <a:extLst xmlns:a="http://schemas.openxmlformats.org/drawingml/2006/main">
              <a:ext uri="{FF2B5EF4-FFF2-40B4-BE49-F238E27FC236}">
                <a16:creationId xmlns:a16="http://schemas.microsoft.com/office/drawing/2014/main" id="{57E7FCC6-25B4-4102-8A41-C70589114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38375"/>
            <a:ext cx="133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POST</a:t>
            </a:r>
          </a:p>
        </p:txBody>
      </p:sp>
      <p:sp>
        <p:nvSpPr>
          <p:cNvPr id="10" name="p-0">
            <a:extLst xmlns:a="http://schemas.openxmlformats.org/drawingml/2006/main">
              <a:ext uri="{FF2B5EF4-FFF2-40B4-BE49-F238E27FC236}">
                <a16:creationId xmlns:a16="http://schemas.microsoft.com/office/drawing/2014/main" id="{E921BE49-E3F6-4FA2-9D0A-95C53ECEF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2238375"/>
            <a:ext cx="5238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/api/v1/ingest-invoice</a:t>
            </a:r>
          </a:p>
        </p:txBody>
      </p:sp>
      <p:sp>
        <p:nvSpPr>
          <p:cNvPr id="11" name="e-0">
            <a:extLst xmlns:a="http://schemas.openxmlformats.org/drawingml/2006/main">
              <a:ext uri="{FF2B5EF4-FFF2-40B4-BE49-F238E27FC236}">
                <a16:creationId xmlns:a16="http://schemas.microsoft.com/office/drawing/2014/main" id="{2B699806-0FEC-4CE7-8219-4D9925E48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238375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source hash + extracted invoice</a:t>
            </a:r>
          </a:p>
        </p:txBody>
      </p:sp>
      <p:sp>
        <p:nvSpPr>
          <p:cNvPr id="12" name="rule-42-283">
            <a:extLst xmlns:a="http://schemas.openxmlformats.org/drawingml/2006/main">
              <a:ext uri="{FF2B5EF4-FFF2-40B4-BE49-F238E27FC236}">
                <a16:creationId xmlns:a16="http://schemas.microsoft.com/office/drawing/2014/main" id="{5B59A888-93EE-419D-96CF-C952C967D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95575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m-1">
            <a:extLst xmlns:a="http://schemas.openxmlformats.org/drawingml/2006/main">
              <a:ext uri="{FF2B5EF4-FFF2-40B4-BE49-F238E27FC236}">
                <a16:creationId xmlns:a16="http://schemas.microsoft.com/office/drawing/2014/main" id="{4E597357-EA6E-4BA1-A550-2C75F30D4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76550"/>
            <a:ext cx="133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POST</a:t>
            </a:r>
          </a:p>
        </p:txBody>
      </p:sp>
      <p:sp>
        <p:nvSpPr>
          <p:cNvPr id="14" name="p-1">
            <a:extLst xmlns:a="http://schemas.openxmlformats.org/drawingml/2006/main">
              <a:ext uri="{FF2B5EF4-FFF2-40B4-BE49-F238E27FC236}">
                <a16:creationId xmlns:a16="http://schemas.microsoft.com/office/drawing/2014/main" id="{317341FA-1B1F-4294-9918-A67010276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2876550"/>
            <a:ext cx="5238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/api/v1/match-po</a:t>
            </a:r>
          </a:p>
        </p:txBody>
      </p:sp>
      <p:sp>
        <p:nvSpPr>
          <p:cNvPr id="15" name="e-1">
            <a:extLst xmlns:a="http://schemas.openxmlformats.org/drawingml/2006/main">
              <a:ext uri="{FF2B5EF4-FFF2-40B4-BE49-F238E27FC236}">
                <a16:creationId xmlns:a16="http://schemas.microsoft.com/office/drawing/2014/main" id="{C96B0903-E5BC-4634-B746-C619006F8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87655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variances + next action</a:t>
            </a:r>
          </a:p>
        </p:txBody>
      </p:sp>
      <p:sp>
        <p:nvSpPr>
          <p:cNvPr id="16" name="rule-42-350">
            <a:extLst xmlns:a="http://schemas.openxmlformats.org/drawingml/2006/main">
              <a:ext uri="{FF2B5EF4-FFF2-40B4-BE49-F238E27FC236}">
                <a16:creationId xmlns:a16="http://schemas.microsoft.com/office/drawing/2014/main" id="{DAAFE960-43C1-400F-9ADB-708B9718C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3337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m-2">
            <a:extLst xmlns:a="http://schemas.openxmlformats.org/drawingml/2006/main">
              <a:ext uri="{FF2B5EF4-FFF2-40B4-BE49-F238E27FC236}">
                <a16:creationId xmlns:a16="http://schemas.microsoft.com/office/drawing/2014/main" id="{D57FB3F2-83EB-4982-9705-B7729F423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514725"/>
            <a:ext cx="133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POST</a:t>
            </a:r>
          </a:p>
        </p:txBody>
      </p:sp>
      <p:sp>
        <p:nvSpPr>
          <p:cNvPr id="18" name="p-2">
            <a:extLst xmlns:a="http://schemas.openxmlformats.org/drawingml/2006/main">
              <a:ext uri="{FF2B5EF4-FFF2-40B4-BE49-F238E27FC236}">
                <a16:creationId xmlns:a16="http://schemas.microsoft.com/office/drawing/2014/main" id="{DC843F40-3CC7-4995-81A2-664DBF018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3514725"/>
            <a:ext cx="5238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/api/v1/post-payment-journal</a:t>
            </a:r>
          </a:p>
        </p:txBody>
      </p:sp>
      <p:sp>
        <p:nvSpPr>
          <p:cNvPr id="19" name="e-2">
            <a:extLst xmlns:a="http://schemas.openxmlformats.org/drawingml/2006/main">
              <a:ext uri="{FF2B5EF4-FFF2-40B4-BE49-F238E27FC236}">
                <a16:creationId xmlns:a16="http://schemas.microsoft.com/office/drawing/2014/main" id="{83D0626C-4E3D-4C7D-8661-37D2E7B95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514725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idempotent journal result</a:t>
            </a:r>
          </a:p>
        </p:txBody>
      </p:sp>
      <p:sp>
        <p:nvSpPr>
          <p:cNvPr id="20" name="rule-42-417">
            <a:extLst xmlns:a="http://schemas.openxmlformats.org/drawingml/2006/main">
              <a:ext uri="{FF2B5EF4-FFF2-40B4-BE49-F238E27FC236}">
                <a16:creationId xmlns:a16="http://schemas.microsoft.com/office/drawing/2014/main" id="{97684BF2-1F48-4AFB-A7B8-00D27C5CE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971925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m-3">
            <a:extLst xmlns:a="http://schemas.openxmlformats.org/drawingml/2006/main">
              <a:ext uri="{FF2B5EF4-FFF2-40B4-BE49-F238E27FC236}">
                <a16:creationId xmlns:a16="http://schemas.microsoft.com/office/drawing/2014/main" id="{A7082E86-1184-444F-8267-034ADB4FA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152900"/>
            <a:ext cx="133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F7D58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F7D58"/>
                </a:solidFill>
                <a:latin typeface="Arial"/>
                <a:ea typeface="Arial"/>
                <a:cs typeface="Arial"/>
              </a:rPr>
              <a:t>GET</a:t>
            </a:r>
          </a:p>
        </p:txBody>
      </p:sp>
      <p:sp>
        <p:nvSpPr>
          <p:cNvPr id="22" name="p-3">
            <a:extLst xmlns:a="http://schemas.openxmlformats.org/drawingml/2006/main">
              <a:ext uri="{FF2B5EF4-FFF2-40B4-BE49-F238E27FC236}">
                <a16:creationId xmlns:a16="http://schemas.microsoft.com/office/drawing/2014/main" id="{EE674026-6D2A-4DBD-8281-727464EA7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4152900"/>
            <a:ext cx="5238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/api/v1/audit-log</a:t>
            </a:r>
          </a:p>
        </p:txBody>
      </p:sp>
      <p:sp>
        <p:nvSpPr>
          <p:cNvPr id="23" name="e-3">
            <a:extLst xmlns:a="http://schemas.openxmlformats.org/drawingml/2006/main">
              <a:ext uri="{FF2B5EF4-FFF2-40B4-BE49-F238E27FC236}">
                <a16:creationId xmlns:a16="http://schemas.microsoft.com/office/drawing/2014/main" id="{0052990B-1444-4BD3-AF62-8AF713C3D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15290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chain status + decision events</a:t>
            </a:r>
          </a:p>
        </p:txBody>
      </p:sp>
      <p:sp>
        <p:nvSpPr>
          <p:cNvPr id="24" name="rule-42-484">
            <a:extLst xmlns:a="http://schemas.openxmlformats.org/drawingml/2006/main">
              <a:ext uri="{FF2B5EF4-FFF2-40B4-BE49-F238E27FC236}">
                <a16:creationId xmlns:a16="http://schemas.microsoft.com/office/drawing/2014/main" id="{ADB443C3-FE43-4E1C-AEE3-2E69752FC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6101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m-4">
            <a:extLst xmlns:a="http://schemas.openxmlformats.org/drawingml/2006/main">
              <a:ext uri="{FF2B5EF4-FFF2-40B4-BE49-F238E27FC236}">
                <a16:creationId xmlns:a16="http://schemas.microsoft.com/office/drawing/2014/main" id="{8DBC13CC-D006-43BB-ACB1-19033A7A8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791075"/>
            <a:ext cx="133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F7D58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F7D58"/>
                </a:solidFill>
                <a:latin typeface="Arial"/>
                <a:ea typeface="Arial"/>
                <a:cs typeface="Arial"/>
              </a:rPr>
              <a:t>GET</a:t>
            </a:r>
          </a:p>
        </p:txBody>
      </p:sp>
      <p:sp>
        <p:nvSpPr>
          <p:cNvPr id="26" name="p-4">
            <a:extLst xmlns:a="http://schemas.openxmlformats.org/drawingml/2006/main">
              <a:ext uri="{FF2B5EF4-FFF2-40B4-BE49-F238E27FC236}">
                <a16:creationId xmlns:a16="http://schemas.microsoft.com/office/drawing/2014/main" id="{5A6C48F0-50A1-4C6C-8E50-D053626CA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4791075"/>
            <a:ext cx="5238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/api/v1/health</a:t>
            </a:r>
          </a:p>
        </p:txBody>
      </p:sp>
      <p:sp>
        <p:nvSpPr>
          <p:cNvPr id="27" name="e-4">
            <a:extLst xmlns:a="http://schemas.openxmlformats.org/drawingml/2006/main">
              <a:ext uri="{FF2B5EF4-FFF2-40B4-BE49-F238E27FC236}">
                <a16:creationId xmlns:a16="http://schemas.microsoft.com/office/drawing/2014/main" id="{88AF42B0-603A-4155-A9B5-C10D5C15C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791075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service + backend + ledger health</a:t>
            </a:r>
          </a:p>
        </p:txBody>
      </p:sp>
      <p:sp>
        <p:nvSpPr>
          <p:cNvPr id="28" name="rule-42-551">
            <a:extLst xmlns:a="http://schemas.openxmlformats.org/drawingml/2006/main">
              <a:ext uri="{FF2B5EF4-FFF2-40B4-BE49-F238E27FC236}">
                <a16:creationId xmlns:a16="http://schemas.microsoft.com/office/drawing/2014/main" id="{64F76331-AEE4-4F56-B333-314E3C805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248275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api-extra">
            <a:extLst xmlns:a="http://schemas.openxmlformats.org/drawingml/2006/main">
              <a:ext uri="{FF2B5EF4-FFF2-40B4-BE49-F238E27FC236}">
                <a16:creationId xmlns:a16="http://schemas.microsoft.com/office/drawing/2014/main" id="{320EA9D4-54AB-4939-BD0C-B9F0E59A5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715000"/>
            <a:ext cx="11049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Additional endpoints cover mailbox polling, AP exception decisions, review queues, and AR remittance processing.</a:t>
            </a:r>
          </a:p>
        </p:txBody>
      </p:sp>
    </p:spTree>
    <p:extLst>
      <p:ext uri="{BB962C8B-B14F-4D97-AF65-F5344CB8AC3E}">
        <p14:creationId xmlns:p14="http://schemas.microsoft.com/office/powerpoint/2010/main" val="197721096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eyebrow-9">
            <a:extLst xmlns:a="http://schemas.openxmlformats.org/drawingml/2006/main">
              <a:ext uri="{FF2B5EF4-FFF2-40B4-BE49-F238E27FC236}">
                <a16:creationId xmlns:a16="http://schemas.microsoft.com/office/drawing/2014/main" id="{573C0D6E-C5DC-4E06-BA9C-4670B219B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57175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E6773"/>
                </a:solidFill>
                <a:latin typeface="Arial"/>
                <a:ea typeface="Arial"/>
                <a:cs typeface="Arial"/>
              </a:rPr>
              <a:t>LEDGERPILOT</a:t>
            </a:r>
          </a:p>
        </p:txBody>
      </p:sp>
      <p:sp>
        <p:nvSpPr>
          <p:cNvPr id="2" name="title-9">
            <a:extLst xmlns:a="http://schemas.openxmlformats.org/drawingml/2006/main">
              <a:ext uri="{FF2B5EF4-FFF2-40B4-BE49-F238E27FC236}">
                <a16:creationId xmlns:a16="http://schemas.microsoft.com/office/drawing/2014/main" id="{22F0E8DB-5FCD-4811-BEF1-A0035B935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61975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8683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Every mandatory technology has a concrete role in the prototype</a:t>
            </a:r>
          </a:p>
        </p:txBody>
      </p:sp>
      <p:sp>
        <p:nvSpPr>
          <p:cNvPr id="3" name="rule-42-145">
            <a:extLst xmlns:a="http://schemas.openxmlformats.org/drawingml/2006/main">
              <a:ext uri="{FF2B5EF4-FFF2-40B4-BE49-F238E27FC236}">
                <a16:creationId xmlns:a16="http://schemas.microsoft.com/office/drawing/2014/main" id="{3389B6AB-230E-4CEF-B143-985A40386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381125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-9">
            <a:extLst xmlns:a="http://schemas.openxmlformats.org/drawingml/2006/main">
              <a:ext uri="{FF2B5EF4-FFF2-40B4-BE49-F238E27FC236}">
                <a16:creationId xmlns:a16="http://schemas.microsoft.com/office/drawing/2014/main" id="{BDA240A8-B6C8-454C-8B46-C37656483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008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sp>
        <p:nvSpPr>
          <p:cNvPr id="5" name="stack-0">
            <a:extLst xmlns:a="http://schemas.openxmlformats.org/drawingml/2006/main">
              <a:ext uri="{FF2B5EF4-FFF2-40B4-BE49-F238E27FC236}">
                <a16:creationId xmlns:a16="http://schemas.microsoft.com/office/drawing/2014/main" id="{05D64300-6AC1-4050-B852-71C4A4DF6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952625"/>
            <a:ext cx="20002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stack-k-0">
            <a:extLst xmlns:a="http://schemas.openxmlformats.org/drawingml/2006/main">
              <a:ext uri="{FF2B5EF4-FFF2-40B4-BE49-F238E27FC236}">
                <a16:creationId xmlns:a16="http://schemas.microsoft.com/office/drawing/2014/main" id="{8300C5E9-4CDD-4CD8-BE94-9EFEC5F9C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90750"/>
            <a:ext cx="16573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5E6773"/>
                </a:solidFill>
                <a:latin typeface="Arial"/>
                <a:ea typeface="Arial"/>
                <a:cs typeface="Arial"/>
              </a:rPr>
              <a:t>INGEST + DOCUMENTS</a:t>
            </a:r>
          </a:p>
        </p:txBody>
      </p:sp>
      <p:sp>
        <p:nvSpPr>
          <p:cNvPr id="7" name="stack-v-0">
            <a:extLst xmlns:a="http://schemas.openxmlformats.org/drawingml/2006/main">
              <a:ext uri="{FF2B5EF4-FFF2-40B4-BE49-F238E27FC236}">
                <a16:creationId xmlns:a16="http://schemas.microsoft.com/office/drawing/2014/main" id="{BD5BA171-76DC-4A8D-A780-60265E69A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143250"/>
            <a:ext cx="165735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Microsoft Graph</a:t>
            </a:r>
          </a:p>
          <a:p xmlns:a="http://schemas.openxmlformats.org/drawingml/2006/main">
            <a:pPr algn="ctr">
              <a:buNone/>
              <a:defRPr sz="17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Docling</a:t>
            </a:r>
          </a:p>
        </p:txBody>
      </p:sp>
      <p:sp>
        <p:nvSpPr>
          <p:cNvPr id="8" name="stack-1">
            <a:extLst xmlns:a="http://schemas.openxmlformats.org/drawingml/2006/main">
              <a:ext uri="{FF2B5EF4-FFF2-40B4-BE49-F238E27FC236}">
                <a16:creationId xmlns:a16="http://schemas.microsoft.com/office/drawing/2014/main" id="{3A15C19B-8E1B-4C0A-932B-41DED9013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952625"/>
            <a:ext cx="20002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stack-k-1">
            <a:extLst xmlns:a="http://schemas.openxmlformats.org/drawingml/2006/main">
              <a:ext uri="{FF2B5EF4-FFF2-40B4-BE49-F238E27FC236}">
                <a16:creationId xmlns:a16="http://schemas.microsoft.com/office/drawing/2014/main" id="{4D1A99D0-F663-4E50-96BD-4FFB5DD93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2190750"/>
            <a:ext cx="16573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5E6773"/>
                </a:solidFill>
                <a:latin typeface="Arial"/>
                <a:ea typeface="Arial"/>
                <a:cs typeface="Arial"/>
              </a:rPr>
              <a:t>AGENT + RAG</a:t>
            </a:r>
          </a:p>
        </p:txBody>
      </p:sp>
      <p:sp>
        <p:nvSpPr>
          <p:cNvPr id="10" name="stack-v-1">
            <a:extLst xmlns:a="http://schemas.openxmlformats.org/drawingml/2006/main">
              <a:ext uri="{FF2B5EF4-FFF2-40B4-BE49-F238E27FC236}">
                <a16:creationId xmlns:a16="http://schemas.microsoft.com/office/drawing/2014/main" id="{E5BFF12C-991B-418E-9F1C-F02558696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3143250"/>
            <a:ext cx="165735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LangGraph</a:t>
            </a:r>
          </a:p>
          <a:p xmlns:a="http://schemas.openxmlformats.org/drawingml/2006/main">
            <a:pPr algn="ctr">
              <a:buNone/>
              <a:defRPr sz="17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LlamaIndex</a:t>
            </a:r>
          </a:p>
        </p:txBody>
      </p:sp>
      <p:sp>
        <p:nvSpPr>
          <p:cNvPr id="11" name="stack-2">
            <a:extLst xmlns:a="http://schemas.openxmlformats.org/drawingml/2006/main">
              <a:ext uri="{FF2B5EF4-FFF2-40B4-BE49-F238E27FC236}">
                <a16:creationId xmlns:a16="http://schemas.microsoft.com/office/drawing/2014/main" id="{6C31BA98-6BC0-4EDA-8FFA-38CE0B754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1952625"/>
            <a:ext cx="20002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stack-k-2">
            <a:extLst xmlns:a="http://schemas.openxmlformats.org/drawingml/2006/main">
              <a:ext uri="{FF2B5EF4-FFF2-40B4-BE49-F238E27FC236}">
                <a16:creationId xmlns:a16="http://schemas.microsoft.com/office/drawing/2014/main" id="{AB39D1A1-712F-46D9-A6C5-600BAF6F1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2190750"/>
            <a:ext cx="16573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MODEL + DATA</a:t>
            </a:r>
          </a:p>
        </p:txBody>
      </p:sp>
      <p:sp>
        <p:nvSpPr>
          <p:cNvPr id="13" name="stack-v-2">
            <a:extLst xmlns:a="http://schemas.openxmlformats.org/drawingml/2006/main">
              <a:ext uri="{FF2B5EF4-FFF2-40B4-BE49-F238E27FC236}">
                <a16:creationId xmlns:a16="http://schemas.microsoft.com/office/drawing/2014/main" id="{D3D5BB39-6C52-41B3-85AF-FE8F13A80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3143250"/>
            <a:ext cx="165735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Ollama</a:t>
            </a:r>
          </a:p>
          <a:p xmlns:a="http://schemas.openxmlformats.org/drawingml/2006/main">
            <a:pPr algn="ctr">
              <a:buNone/>
              <a:defRPr sz="17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PostgreSQL + pgvector</a:t>
            </a:r>
          </a:p>
        </p:txBody>
      </p:sp>
      <p:sp>
        <p:nvSpPr>
          <p:cNvPr id="14" name="stack-3">
            <a:extLst xmlns:a="http://schemas.openxmlformats.org/drawingml/2006/main">
              <a:ext uri="{FF2B5EF4-FFF2-40B4-BE49-F238E27FC236}">
                <a16:creationId xmlns:a16="http://schemas.microsoft.com/office/drawing/2014/main" id="{984CBB88-BB50-4223-A82A-73DE81C28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952625"/>
            <a:ext cx="20002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stack-k-3">
            <a:extLst xmlns:a="http://schemas.openxmlformats.org/drawingml/2006/main">
              <a:ext uri="{FF2B5EF4-FFF2-40B4-BE49-F238E27FC236}">
                <a16:creationId xmlns:a16="http://schemas.microsoft.com/office/drawing/2014/main" id="{638720B0-E73D-4DDF-ABFD-6AFB94E93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2190750"/>
            <a:ext cx="16573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5E6773"/>
                </a:solidFill>
                <a:latin typeface="Arial"/>
                <a:ea typeface="Arial"/>
                <a:cs typeface="Arial"/>
              </a:rPr>
              <a:t>ERP + OBSERVE</a:t>
            </a:r>
          </a:p>
        </p:txBody>
      </p:sp>
      <p:sp>
        <p:nvSpPr>
          <p:cNvPr id="16" name="stack-v-3">
            <a:extLst xmlns:a="http://schemas.openxmlformats.org/drawingml/2006/main">
              <a:ext uri="{FF2B5EF4-FFF2-40B4-BE49-F238E27FC236}">
                <a16:creationId xmlns:a16="http://schemas.microsoft.com/office/drawing/2014/main" id="{BD5E950A-C882-49E3-B9E2-776CA0F7A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143250"/>
            <a:ext cx="165735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Mock ERP adapter</a:t>
            </a:r>
          </a:p>
          <a:p xmlns:a="http://schemas.openxmlformats.org/drawingml/2006/main">
            <a:pPr algn="ctr">
              <a:buNone/>
              <a:defRPr sz="17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Arize Phoenix</a:t>
            </a:r>
          </a:p>
        </p:txBody>
      </p:sp>
      <p:sp>
        <p:nvSpPr>
          <p:cNvPr id="17" name="stack-4">
            <a:extLst xmlns:a="http://schemas.openxmlformats.org/drawingml/2006/main">
              <a:ext uri="{FF2B5EF4-FFF2-40B4-BE49-F238E27FC236}">
                <a16:creationId xmlns:a16="http://schemas.microsoft.com/office/drawing/2014/main" id="{30F8627B-7B05-4A43-B58D-9C0624E25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1952625"/>
            <a:ext cx="20002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stack-k-4">
            <a:extLst xmlns:a="http://schemas.openxmlformats.org/drawingml/2006/main">
              <a:ext uri="{FF2B5EF4-FFF2-40B4-BE49-F238E27FC236}">
                <a16:creationId xmlns:a16="http://schemas.microsoft.com/office/drawing/2014/main" id="{E0D556A3-9E4B-41F9-8626-3FBB630E8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2190750"/>
            <a:ext cx="16573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5E6773"/>
                </a:solidFill>
                <a:latin typeface="Arial"/>
                <a:ea typeface="Arial"/>
                <a:cs typeface="Arial"/>
              </a:rPr>
              <a:t>EVALUATE + SHIP</a:t>
            </a:r>
          </a:p>
        </p:txBody>
      </p:sp>
      <p:sp>
        <p:nvSpPr>
          <p:cNvPr id="19" name="stack-v-4">
            <a:extLst xmlns:a="http://schemas.openxmlformats.org/drawingml/2006/main">
              <a:ext uri="{FF2B5EF4-FFF2-40B4-BE49-F238E27FC236}">
                <a16:creationId xmlns:a16="http://schemas.microsoft.com/office/drawing/2014/main" id="{CFA55E46-264F-4DAE-AE6F-FED7318D2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3143250"/>
            <a:ext cx="165735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7746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RAGAS retrieval metrics</a:t>
            </a:r>
          </a:p>
          <a:p xmlns:a="http://schemas.openxmlformats.org/drawingml/2006/main">
            <a:pPr algn="ctr">
              <a:buNone/>
              <a:defRPr sz="17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Docker Compose</a:t>
            </a:r>
          </a:p>
        </p:txBody>
      </p:sp>
      <p:sp>
        <p:nvSpPr>
          <p:cNvPr id="20" name="stack-note">
            <a:extLst xmlns:a="http://schemas.openxmlformats.org/drawingml/2006/main">
              <a:ext uri="{FF2B5EF4-FFF2-40B4-BE49-F238E27FC236}">
                <a16:creationId xmlns:a16="http://schemas.microsoft.com/office/drawing/2014/main" id="{CD9A0CD7-DB15-4353-9864-0FA4B2E50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53075"/>
            <a:ext cx="11049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Optional services are profile-gated so the core demo remains reproducible without a GPU.</a:t>
            </a:r>
          </a:p>
        </p:txBody>
      </p:sp>
    </p:spTree>
    <p:extLst>
      <p:ext uri="{BB962C8B-B14F-4D97-AF65-F5344CB8AC3E}">
        <p14:creationId xmlns:p14="http://schemas.microsoft.com/office/powerpoint/2010/main" val="12912187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eyebrow-10">
            <a:extLst xmlns:a="http://schemas.openxmlformats.org/drawingml/2006/main">
              <a:ext uri="{FF2B5EF4-FFF2-40B4-BE49-F238E27FC236}">
                <a16:creationId xmlns:a16="http://schemas.microsoft.com/office/drawing/2014/main" id="{C000CA17-8EFA-4E4C-B224-03D15FF61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57175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E6773"/>
                </a:solidFill>
                <a:latin typeface="Arial"/>
                <a:ea typeface="Arial"/>
                <a:cs typeface="Arial"/>
              </a:rPr>
              <a:t>LEDGERPILOT</a:t>
            </a:r>
          </a:p>
        </p:txBody>
      </p:sp>
      <p:sp>
        <p:nvSpPr>
          <p:cNvPr id="2" name="title-10">
            <a:extLst xmlns:a="http://schemas.openxmlformats.org/drawingml/2006/main">
              <a:ext uri="{FF2B5EF4-FFF2-40B4-BE49-F238E27FC236}">
                <a16:creationId xmlns:a16="http://schemas.microsoft.com/office/drawing/2014/main" id="{17CA57DF-7C4C-4FA9-9531-84AB2B3F5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61975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5796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controlled benchmark proves behavior—not production generalization</a:t>
            </a:r>
          </a:p>
        </p:txBody>
      </p:sp>
      <p:sp>
        <p:nvSpPr>
          <p:cNvPr id="3" name="rule-42-145">
            <a:extLst xmlns:a="http://schemas.openxmlformats.org/drawingml/2006/main">
              <a:ext uri="{FF2B5EF4-FFF2-40B4-BE49-F238E27FC236}">
                <a16:creationId xmlns:a16="http://schemas.microsoft.com/office/drawing/2014/main" id="{A0EAB6F1-AA1A-4DC7-B2AC-C822D1761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381125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-10">
            <a:extLst xmlns:a="http://schemas.openxmlformats.org/drawingml/2006/main">
              <a:ext uri="{FF2B5EF4-FFF2-40B4-BE49-F238E27FC236}">
                <a16:creationId xmlns:a16="http://schemas.microsoft.com/office/drawing/2014/main" id="{58537768-CBA4-42CE-AFB4-654211A8B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008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5" name="metrics-lead">
            <a:extLst xmlns:a="http://schemas.openxmlformats.org/drawingml/2006/main">
              <a:ext uri="{FF2B5EF4-FFF2-40B4-BE49-F238E27FC236}">
                <a16:creationId xmlns:a16="http://schemas.microsoft.com/office/drawing/2014/main" id="{1ACDDDF9-7E59-4B04-BF61-F115AAF2C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19250"/>
            <a:ext cx="10668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Seven synthetic cases span JSON, PDF, PNG, and forced Docling HTML: four clean and three controlled exceptions.</a:t>
            </a:r>
          </a:p>
        </p:txBody>
      </p:sp>
      <p:sp>
        <p:nvSpPr>
          <p:cNvPr id="6" name="metric-0">
            <a:extLst xmlns:a="http://schemas.openxmlformats.org/drawingml/2006/main">
              <a:ext uri="{FF2B5EF4-FFF2-40B4-BE49-F238E27FC236}">
                <a16:creationId xmlns:a16="http://schemas.microsoft.com/office/drawing/2014/main" id="{F795AA9B-2B6C-4297-9BF5-34B0A2C70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19375"/>
            <a:ext cx="3571875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metric-v-0">
            <a:extLst xmlns:a="http://schemas.openxmlformats.org/drawingml/2006/main">
              <a:ext uri="{FF2B5EF4-FFF2-40B4-BE49-F238E27FC236}">
                <a16:creationId xmlns:a16="http://schemas.microsoft.com/office/drawing/2014/main" id="{F5D1B8B8-EDB1-4819-A17D-70FF87261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0"/>
            <a:ext cx="3000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7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100%</a:t>
            </a:r>
          </a:p>
        </p:txBody>
      </p:sp>
      <p:sp>
        <p:nvSpPr>
          <p:cNvPr id="8" name="metric-l-0">
            <a:extLst xmlns:a="http://schemas.openxmlformats.org/drawingml/2006/main">
              <a:ext uri="{FF2B5EF4-FFF2-40B4-BE49-F238E27FC236}">
                <a16:creationId xmlns:a16="http://schemas.microsoft.com/office/drawing/2014/main" id="{73E8EE75-5FAF-4F85-8915-5F6C12589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48125"/>
            <a:ext cx="300037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field extraction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35 / 35 labels</a:t>
            </a:r>
          </a:p>
        </p:txBody>
      </p:sp>
      <p:sp>
        <p:nvSpPr>
          <p:cNvPr id="9" name="metric-1">
            <a:extLst xmlns:a="http://schemas.openxmlformats.org/drawingml/2006/main">
              <a:ext uri="{FF2B5EF4-FFF2-40B4-BE49-F238E27FC236}">
                <a16:creationId xmlns:a16="http://schemas.microsoft.com/office/drawing/2014/main" id="{9A4F02B2-23E8-4ADC-8FC4-9FCBAEB3C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619375"/>
            <a:ext cx="3571875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metric-v-1">
            <a:extLst xmlns:a="http://schemas.openxmlformats.org/drawingml/2006/main">
              <a:ext uri="{FF2B5EF4-FFF2-40B4-BE49-F238E27FC236}">
                <a16:creationId xmlns:a16="http://schemas.microsoft.com/office/drawing/2014/main" id="{BDE8D63F-5DC3-493D-977F-811275B45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3048000"/>
            <a:ext cx="3000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7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100%</a:t>
            </a:r>
          </a:p>
        </p:txBody>
      </p:sp>
      <p:sp>
        <p:nvSpPr>
          <p:cNvPr id="11" name="metric-l-1">
            <a:extLst xmlns:a="http://schemas.openxmlformats.org/drawingml/2006/main">
              <a:ext uri="{FF2B5EF4-FFF2-40B4-BE49-F238E27FC236}">
                <a16:creationId xmlns:a16="http://schemas.microsoft.com/office/drawing/2014/main" id="{6DA2BCE0-55C5-4A2E-9638-F298CEBD7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4048125"/>
            <a:ext cx="300037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match + exception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7 / 7 documents</a:t>
            </a:r>
          </a:p>
        </p:txBody>
      </p:sp>
      <p:sp>
        <p:nvSpPr>
          <p:cNvPr id="12" name="metric-2">
            <a:extLst xmlns:a="http://schemas.openxmlformats.org/drawingml/2006/main">
              <a:ext uri="{FF2B5EF4-FFF2-40B4-BE49-F238E27FC236}">
                <a16:creationId xmlns:a16="http://schemas.microsoft.com/office/drawing/2014/main" id="{4020BA33-3FDA-400B-B46F-3EAE5E9F2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619375"/>
            <a:ext cx="3571875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2C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metric-v-2">
            <a:extLst xmlns:a="http://schemas.openxmlformats.org/drawingml/2006/main">
              <a:ext uri="{FF2B5EF4-FFF2-40B4-BE49-F238E27FC236}">
                <a16:creationId xmlns:a16="http://schemas.microsoft.com/office/drawing/2014/main" id="{1D9C6753-F2F2-4323-9604-438CD4553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3048000"/>
            <a:ext cx="3000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7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57%</a:t>
            </a:r>
          </a:p>
        </p:txBody>
      </p:sp>
      <p:sp>
        <p:nvSpPr>
          <p:cNvPr id="14" name="metric-l-2">
            <a:extLst xmlns:a="http://schemas.openxmlformats.org/drawingml/2006/main">
              <a:ext uri="{FF2B5EF4-FFF2-40B4-BE49-F238E27FC236}">
                <a16:creationId xmlns:a16="http://schemas.microsoft.com/office/drawing/2014/main" id="{CD33AE0A-5429-415C-85A0-DF78BB39D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048125"/>
            <a:ext cx="300037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straight-through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4 / 7 documents</a:t>
            </a:r>
          </a:p>
        </p:txBody>
      </p:sp>
      <p:sp>
        <p:nvSpPr>
          <p:cNvPr id="15" name="metrics-caveat">
            <a:extLst xmlns:a="http://schemas.openxmlformats.org/drawingml/2006/main">
              <a:ext uri="{FF2B5EF4-FFF2-40B4-BE49-F238E27FC236}">
                <a16:creationId xmlns:a16="http://schemas.microsoft.com/office/drawing/2014/main" id="{884B0ECE-FDB8-4D85-B3F1-E94D2D678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72125"/>
            <a:ext cx="11239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RAGAS retrieval: 100% precision + recall on 4 labeled queries. Next gate: ≥500 permissioned invoices across vendors and scan quality.</a:t>
            </a:r>
          </a:p>
        </p:txBody>
      </p:sp>
    </p:spTree>
    <p:extLst>
      <p:ext uri="{BB962C8B-B14F-4D97-AF65-F5344CB8AC3E}">
        <p14:creationId xmlns:p14="http://schemas.microsoft.com/office/powerpoint/2010/main" val="1669675555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eyebrow-11">
            <a:extLst xmlns:a="http://schemas.openxmlformats.org/drawingml/2006/main">
              <a:ext uri="{FF2B5EF4-FFF2-40B4-BE49-F238E27FC236}">
                <a16:creationId xmlns:a16="http://schemas.microsoft.com/office/drawing/2014/main" id="{69420006-0C07-4BB9-B06C-8BF1EC1AB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57175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E6773"/>
                </a:solidFill>
                <a:latin typeface="Arial"/>
                <a:ea typeface="Arial"/>
                <a:cs typeface="Arial"/>
              </a:rPr>
              <a:t>LEDGERPILOT</a:t>
            </a:r>
          </a:p>
        </p:txBody>
      </p:sp>
      <p:sp>
        <p:nvSpPr>
          <p:cNvPr id="2" name="title-11">
            <a:extLst xmlns:a="http://schemas.openxmlformats.org/drawingml/2006/main">
              <a:ext uri="{FF2B5EF4-FFF2-40B4-BE49-F238E27FC236}">
                <a16:creationId xmlns:a16="http://schemas.microsoft.com/office/drawing/2014/main" id="{01C2065C-DCA8-4101-BECB-9AD40E165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61975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5526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 reviewer can deploy, verify, and demonstrate the prototype in three moves</a:t>
            </a:r>
          </a:p>
        </p:txBody>
      </p:sp>
      <p:sp>
        <p:nvSpPr>
          <p:cNvPr id="3" name="rule-42-145">
            <a:extLst xmlns:a="http://schemas.openxmlformats.org/drawingml/2006/main">
              <a:ext uri="{FF2B5EF4-FFF2-40B4-BE49-F238E27FC236}">
                <a16:creationId xmlns:a16="http://schemas.microsoft.com/office/drawing/2014/main" id="{D37B3FE6-7C16-4AD2-89CC-0FFC4101E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381125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-11">
            <a:extLst xmlns:a="http://schemas.openxmlformats.org/drawingml/2006/main">
              <a:ext uri="{FF2B5EF4-FFF2-40B4-BE49-F238E27FC236}">
                <a16:creationId xmlns:a16="http://schemas.microsoft.com/office/drawing/2014/main" id="{1F90B162-5476-46BB-8DE0-17DA7A8DE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008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5" name="deploy-line">
            <a:extLst xmlns:a="http://schemas.openxmlformats.org/drawingml/2006/main">
              <a:ext uri="{FF2B5EF4-FFF2-40B4-BE49-F238E27FC236}">
                <a16:creationId xmlns:a16="http://schemas.microsoft.com/office/drawing/2014/main" id="{BE8D2695-1FE5-4FCC-83DD-F603CA6E7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190875"/>
            <a:ext cx="1028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deploy-dot-0">
            <a:extLst xmlns:a="http://schemas.openxmlformats.org/drawingml/2006/main">
              <a:ext uri="{FF2B5EF4-FFF2-40B4-BE49-F238E27FC236}">
                <a16:creationId xmlns:a16="http://schemas.microsoft.com/office/drawing/2014/main" id="{7B5BCC65-530D-4C66-B994-BFEEB2DC4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114675"/>
            <a:ext cx="171450" cy="1714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deploy-num-0">
            <a:extLst xmlns:a="http://schemas.openxmlformats.org/drawingml/2006/main">
              <a:ext uri="{FF2B5EF4-FFF2-40B4-BE49-F238E27FC236}">
                <a16:creationId xmlns:a16="http://schemas.microsoft.com/office/drawing/2014/main" id="{89855FC0-C758-4882-8F17-1974F5FD7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571750"/>
            <a:ext cx="952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5E6773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8" name="deploy-h-0">
            <a:extLst xmlns:a="http://schemas.openxmlformats.org/drawingml/2006/main">
              <a:ext uri="{FF2B5EF4-FFF2-40B4-BE49-F238E27FC236}">
                <a16:creationId xmlns:a16="http://schemas.microsoft.com/office/drawing/2014/main" id="{34E188CA-F1E1-4526-B1D7-C0803BB10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667125"/>
            <a:ext cx="266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Deploy</a:t>
            </a:r>
          </a:p>
        </p:txBody>
      </p:sp>
      <p:sp>
        <p:nvSpPr>
          <p:cNvPr id="9" name="deploy-b-0">
            <a:extLst xmlns:a="http://schemas.openxmlformats.org/drawingml/2006/main">
              <a:ext uri="{FF2B5EF4-FFF2-40B4-BE49-F238E27FC236}">
                <a16:creationId xmlns:a16="http://schemas.microsoft.com/office/drawing/2014/main" id="{CCBFEC79-7ECA-4BE1-8BFB-00EAA0C3B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229100"/>
            <a:ext cx="2667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docker compose up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--build -d postgres api</a:t>
            </a:r>
          </a:p>
        </p:txBody>
      </p:sp>
      <p:sp>
        <p:nvSpPr>
          <p:cNvPr id="10" name="deploy-dot-1">
            <a:extLst xmlns:a="http://schemas.openxmlformats.org/drawingml/2006/main">
              <a:ext uri="{FF2B5EF4-FFF2-40B4-BE49-F238E27FC236}">
                <a16:creationId xmlns:a16="http://schemas.microsoft.com/office/drawing/2014/main" id="{2F568932-0A05-4DB8-AD48-BFB9627C8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114675"/>
            <a:ext cx="171450" cy="1714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deploy-num-1">
            <a:extLst xmlns:a="http://schemas.openxmlformats.org/drawingml/2006/main">
              <a:ext uri="{FF2B5EF4-FFF2-40B4-BE49-F238E27FC236}">
                <a16:creationId xmlns:a16="http://schemas.microsoft.com/office/drawing/2014/main" id="{8BCC0152-7980-4E73-8F52-1A31A363C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571750"/>
            <a:ext cx="952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5E6773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2" name="deploy-h-1">
            <a:extLst xmlns:a="http://schemas.openxmlformats.org/drawingml/2006/main">
              <a:ext uri="{FF2B5EF4-FFF2-40B4-BE49-F238E27FC236}">
                <a16:creationId xmlns:a16="http://schemas.microsoft.com/office/drawing/2014/main" id="{4AADC002-BB64-4A92-AE54-C2BBBE456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667125"/>
            <a:ext cx="266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Verify</a:t>
            </a:r>
          </a:p>
        </p:txBody>
      </p:sp>
      <p:sp>
        <p:nvSpPr>
          <p:cNvPr id="13" name="deploy-b-1">
            <a:extLst xmlns:a="http://schemas.openxmlformats.org/drawingml/2006/main">
              <a:ext uri="{FF2B5EF4-FFF2-40B4-BE49-F238E27FC236}">
                <a16:creationId xmlns:a16="http://schemas.microsoft.com/office/drawing/2014/main" id="{267395FB-66D2-4F39-8DD0-503B79802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229100"/>
            <a:ext cx="2667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/health · Swagger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27 tests</a:t>
            </a:r>
            <a:r>
              <a:rPr sz="142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 · 7-doc + RAGAS eval</a:t>
            </a:r>
          </a:p>
        </p:txBody>
      </p:sp>
      <p:sp>
        <p:nvSpPr>
          <p:cNvPr id="14" name="deploy-dot-2">
            <a:extLst xmlns:a="http://schemas.openxmlformats.org/drawingml/2006/main">
              <a:ext uri="{FF2B5EF4-FFF2-40B4-BE49-F238E27FC236}">
                <a16:creationId xmlns:a16="http://schemas.microsoft.com/office/drawing/2014/main" id="{AAA2ADE0-06D1-4498-8DB1-AF47CA6B3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114675"/>
            <a:ext cx="171450" cy="1714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deploy-num-2">
            <a:extLst xmlns:a="http://schemas.openxmlformats.org/drawingml/2006/main">
              <a:ext uri="{FF2B5EF4-FFF2-40B4-BE49-F238E27FC236}">
                <a16:creationId xmlns:a16="http://schemas.microsoft.com/office/drawing/2014/main" id="{C4814BB1-0377-4BA5-B355-CA6F7B829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71750"/>
            <a:ext cx="952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5E6773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6" name="deploy-h-2">
            <a:extLst xmlns:a="http://schemas.openxmlformats.org/drawingml/2006/main">
              <a:ext uri="{FF2B5EF4-FFF2-40B4-BE49-F238E27FC236}">
                <a16:creationId xmlns:a16="http://schemas.microsoft.com/office/drawing/2014/main" id="{2ECCA5E6-D21E-48E9-80D4-14DA38328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667125"/>
            <a:ext cx="266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Demonstrate</a:t>
            </a:r>
          </a:p>
        </p:txBody>
      </p:sp>
      <p:sp>
        <p:nvSpPr>
          <p:cNvPr id="17" name="deploy-b-2">
            <a:extLst xmlns:a="http://schemas.openxmlformats.org/drawingml/2006/main">
              <a:ext uri="{FF2B5EF4-FFF2-40B4-BE49-F238E27FC236}">
                <a16:creationId xmlns:a16="http://schemas.microsoft.com/office/drawing/2014/main" id="{9AD726C3-B828-49F7-9E08-C4A15C81B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229100"/>
            <a:ext cx="2667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ingest → match → auto-post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replay safely → inspect audit</a:t>
            </a:r>
          </a:p>
        </p:txBody>
      </p:sp>
      <p:sp>
        <p:nvSpPr>
          <p:cNvPr id="18" name="profiles">
            <a:extLst xmlns:a="http://schemas.openxmlformats.org/drawingml/2006/main">
              <a:ext uri="{FF2B5EF4-FFF2-40B4-BE49-F238E27FC236}">
                <a16:creationId xmlns:a16="http://schemas.microsoft.com/office/drawing/2014/main" id="{287B7F82-DC15-4F15-9012-A814FCC99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410200"/>
            <a:ext cx="111252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profiles-text">
            <a:extLst xmlns:a="http://schemas.openxmlformats.org/drawingml/2006/main">
              <a:ext uri="{FF2B5EF4-FFF2-40B4-BE49-F238E27FC236}">
                <a16:creationId xmlns:a16="http://schemas.microsoft.com/office/drawing/2014/main" id="{18C349F5-9EC9-4486-9A9C-F79E38893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610225"/>
            <a:ext cx="1057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Optional profiles add Ollama and Phoenix; the deterministic core remains demoable without them.</a:t>
            </a:r>
          </a:p>
        </p:txBody>
      </p:sp>
    </p:spTree>
    <p:extLst>
      <p:ext uri="{BB962C8B-B14F-4D97-AF65-F5344CB8AC3E}">
        <p14:creationId xmlns:p14="http://schemas.microsoft.com/office/powerpoint/2010/main" val="693033370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lose-eyebrow">
            <a:extLst xmlns:a="http://schemas.openxmlformats.org/drawingml/2006/main">
              <a:ext uri="{FF2B5EF4-FFF2-40B4-BE49-F238E27FC236}">
                <a16:creationId xmlns:a16="http://schemas.microsoft.com/office/drawing/2014/main" id="{C642C145-87F7-4C31-8A29-EF7AF8335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SUBMISSION READY</a:t>
            </a:r>
          </a:p>
        </p:txBody>
      </p:sp>
      <p:sp>
        <p:nvSpPr>
          <p:cNvPr id="2" name="close-title">
            <a:extLst xmlns:a="http://schemas.openxmlformats.org/drawingml/2006/main">
              <a:ext uri="{FF2B5EF4-FFF2-40B4-BE49-F238E27FC236}">
                <a16:creationId xmlns:a16="http://schemas.microsoft.com/office/drawing/2014/main" id="{012C4633-7868-464F-AFF4-53353CE31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28750"/>
            <a:ext cx="10382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7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Ready to demonstrate a controlled path from evidence to payment</a:t>
            </a:r>
          </a:p>
        </p:txBody>
      </p:sp>
      <p:sp>
        <p:nvSpPr>
          <p:cNvPr id="3" name="rule-42-340">
            <a:extLst xmlns:a="http://schemas.openxmlformats.org/drawingml/2006/main">
              <a:ext uri="{FF2B5EF4-FFF2-40B4-BE49-F238E27FC236}">
                <a16:creationId xmlns:a16="http://schemas.microsoft.com/office/drawing/2014/main" id="{B0659B16-0D39-4339-A668-3917FF205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close-body">
            <a:extLst xmlns:a="http://schemas.openxmlformats.org/drawingml/2006/main">
              <a:ext uri="{FF2B5EF4-FFF2-40B4-BE49-F238E27FC236}">
                <a16:creationId xmlns:a16="http://schemas.microsoft.com/office/drawing/2014/main" id="{EEB8C36E-32FE-4533-945B-C7EE28321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733800"/>
            <a:ext cx="72390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Working AP + AR flows</a:t>
            </a:r>
          </a:p>
          <a:p xmlns:a="http://schemas.openxmlformats.org/drawingml/2006/main">
            <a:pPr algn="l">
              <a:buNone/>
              <a:defRPr sz="1800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Versioned OpenAPI + Docker Compose</a:t>
            </a:r>
          </a:p>
          <a:p xmlns:a="http://schemas.openxmlformats.org/drawingml/2006/main">
            <a:pPr algn="l">
              <a:buNone/>
              <a:defRPr sz="1800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Tests + evaluation + audit chain</a:t>
            </a:r>
          </a:p>
          <a:p xmlns:a="http://schemas.openxmlformats.org/drawingml/2006/main">
            <a:pPr algn="l">
              <a:buNone/>
              <a:defRPr sz="1800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Architecture, controls, and deployment docs</a:t>
            </a:r>
          </a:p>
        </p:txBody>
      </p:sp>
      <p:sp>
        <p:nvSpPr>
          <p:cNvPr id="5" name="close-callout">
            <a:extLst xmlns:a="http://schemas.openxmlformats.org/drawingml/2006/main">
              <a:ext uri="{FF2B5EF4-FFF2-40B4-BE49-F238E27FC236}">
                <a16:creationId xmlns:a16="http://schemas.microsoft.com/office/drawing/2014/main" id="{D699C886-3F89-4750-9879-3C2043A8E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638550"/>
            <a:ext cx="304800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close-callout-text">
            <a:extLst xmlns:a="http://schemas.openxmlformats.org/drawingml/2006/main">
              <a:ext uri="{FF2B5EF4-FFF2-40B4-BE49-F238E27FC236}">
                <a16:creationId xmlns:a16="http://schemas.microsoft.com/office/drawing/2014/main" id="{B2977421-35D6-4E63-9B1F-010A4D216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924300"/>
            <a:ext cx="2476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2466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Next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Connect a real ERP sandbox and evaluate on permissioned vendor invoices.</a:t>
            </a:r>
          </a:p>
        </p:txBody>
      </p:sp>
      <p:sp>
        <p:nvSpPr>
          <p:cNvPr id="7" name="close-page">
            <a:extLst xmlns:a="http://schemas.openxmlformats.org/drawingml/2006/main">
              <a:ext uri="{FF2B5EF4-FFF2-40B4-BE49-F238E27FC236}">
                <a16:creationId xmlns:a16="http://schemas.microsoft.com/office/drawing/2014/main" id="{6B99AC52-EC41-4D34-8A4B-9B8440B87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008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7451461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2026-08-29T20:10:13.8050000Z</dcterms:created>
  <dcterms:modified xsi:type="dcterms:W3CDTF">2026-08-29T20:10:13.8050000Z</dcterms:modified>
</coreProperties>
</file>