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b64812eb441b5" /><Relationship Type="http://schemas.openxmlformats.org/officeDocument/2006/relationships/extended-properties" Target="/docProps/app.xml" Id="R9e15c93d0d0e42cf" /><Relationship Type="http://schemas.openxmlformats.org/officeDocument/2006/relationships/officeDocument" Target="/ppt/presentation.xml" Id="Rf2eef640e109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73d6313f045fa"/>
  </p:sldMasterIdLst>
  <p:notesMasterIdLst>
    <p:notesMasterId xmlns:r="http://schemas.openxmlformats.org/officeDocument/2006/relationships" r:id="R8be14cdb30df4aae"/>
  </p:notesMasterIdLst>
  <p:sldIdLst>
    <p:sldId xmlns:r="http://schemas.openxmlformats.org/officeDocument/2006/relationships" id="256" r:id="Rf9baf3b98d9d433e"/>
    <p:sldId xmlns:r="http://schemas.openxmlformats.org/officeDocument/2006/relationships" id="257" r:id="Re430cc526797406f"/>
    <p:sldId xmlns:r="http://schemas.openxmlformats.org/officeDocument/2006/relationships" id="258" r:id="Rbbce57e443724043"/>
    <p:sldId xmlns:r="http://schemas.openxmlformats.org/officeDocument/2006/relationships" id="259" r:id="Ra92fae650c104963"/>
    <p:sldId xmlns:r="http://schemas.openxmlformats.org/officeDocument/2006/relationships" id="260" r:id="Ree340e8c3b9b4c4f"/>
    <p:sldId xmlns:r="http://schemas.openxmlformats.org/officeDocument/2006/relationships" id="261" r:id="Rd83d302ea59942db"/>
    <p:sldId xmlns:r="http://schemas.openxmlformats.org/officeDocument/2006/relationships" id="262" r:id="R76ef13ae759e4f95"/>
    <p:sldId xmlns:r="http://schemas.openxmlformats.org/officeDocument/2006/relationships" id="263" r:id="R0988c7ce6fa2454a"/>
    <p:sldId xmlns:r="http://schemas.openxmlformats.org/officeDocument/2006/relationships" id="264" r:id="Rbc5db942f91e4db8"/>
    <p:sldId xmlns:r="http://schemas.openxmlformats.org/officeDocument/2006/relationships" id="265" r:id="R5ab7c48f43a84b9b"/>
    <p:sldId xmlns:r="http://schemas.openxmlformats.org/officeDocument/2006/relationships" id="266" r:id="R9ef02e9916004cb2"/>
    <p:sldId xmlns:r="http://schemas.openxmlformats.org/officeDocument/2006/relationships" id="267" r:id="R6d409656237c42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b3c2a26424221" /><Relationship Type="http://schemas.openxmlformats.org/officeDocument/2006/relationships/slideMaster" Target="/ppt/slideMasters/slideMaster1.xml" Id="Rf5773d6313f045fa" /><Relationship Type="http://schemas.openxmlformats.org/officeDocument/2006/relationships/notesMaster" Target="/ppt/notesMasters/notesMaster1.xml" Id="R8be14cdb30df4aae" /><Relationship Type="http://schemas.openxmlformats.org/officeDocument/2006/relationships/presProps" Target="/ppt/presProps.xml" Id="Ra9b69ff2e00548b6" /><Relationship Type="http://schemas.openxmlformats.org/officeDocument/2006/relationships/tableStyles" Target="/ppt/tableStyles.xml" Id="R349a8c2e8f654a61" /><Relationship Type="http://schemas.openxmlformats.org/officeDocument/2006/relationships/slide" Target="/ppt/slides/slide1.xml" Id="Rf9baf3b98d9d433e" /><Relationship Type="http://schemas.openxmlformats.org/officeDocument/2006/relationships/slide" Target="/ppt/slides/slide2.xml" Id="Re430cc526797406f" /><Relationship Type="http://schemas.openxmlformats.org/officeDocument/2006/relationships/slide" Target="/ppt/slides/slide3.xml" Id="Rbbce57e443724043" /><Relationship Type="http://schemas.openxmlformats.org/officeDocument/2006/relationships/slide" Target="/ppt/slides/slide4.xml" Id="Ra92fae650c104963" /><Relationship Type="http://schemas.openxmlformats.org/officeDocument/2006/relationships/slide" Target="/ppt/slides/slide5.xml" Id="Ree340e8c3b9b4c4f" /><Relationship Type="http://schemas.openxmlformats.org/officeDocument/2006/relationships/slide" Target="/ppt/slides/slide6.xml" Id="Rd83d302ea59942db" /><Relationship Type="http://schemas.openxmlformats.org/officeDocument/2006/relationships/slide" Target="/ppt/slides/slide7.xml" Id="R76ef13ae759e4f95" /><Relationship Type="http://schemas.openxmlformats.org/officeDocument/2006/relationships/slide" Target="/ppt/slides/slide8.xml" Id="R0988c7ce6fa2454a" /><Relationship Type="http://schemas.openxmlformats.org/officeDocument/2006/relationships/slide" Target="/ppt/slides/slide9.xml" Id="Rbc5db942f91e4db8" /><Relationship Type="http://schemas.openxmlformats.org/officeDocument/2006/relationships/slide" Target="/ppt/slides/slide10.xml" Id="R5ab7c48f43a84b9b" /><Relationship Type="http://schemas.openxmlformats.org/officeDocument/2006/relationships/slide" Target="/ppt/slides/slide11.xml" Id="R9ef02e9916004cb2" /><Relationship Type="http://schemas.openxmlformats.org/officeDocument/2006/relationships/slide" Target="/ppt/slides/slide12.xml" Id="R6d409656237c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4ab5da66f49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569c075ed4fb9" /><Relationship Type="http://schemas.openxmlformats.org/officeDocument/2006/relationships/notesMaster" Target="/ppt/notesMasters/notesMaster1.xml" Id="R226a5a4fed8847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c87d9458f4209" /><Relationship Type="http://schemas.openxmlformats.org/officeDocument/2006/relationships/notesMaster" Target="/ppt/notesMasters/notesMaster1.xml" Id="R771eb35176294d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bc47e1f6740db" /><Relationship Type="http://schemas.openxmlformats.org/officeDocument/2006/relationships/notesMaster" Target="/ppt/notesMasters/notesMaster1.xml" Id="R325a83d6949b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f5f080483f466c" /><Relationship Type="http://schemas.openxmlformats.org/officeDocument/2006/relationships/notesMaster" Target="/ppt/notesMasters/notesMaster1.xml" Id="R6d4d58d4b9494c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5697031504795" /><Relationship Type="http://schemas.openxmlformats.org/officeDocument/2006/relationships/notesMaster" Target="/ppt/notesMasters/notesMaster1.xml" Id="R7df87e78fada46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6063b00f1c448c" /><Relationship Type="http://schemas.openxmlformats.org/officeDocument/2006/relationships/notesMaster" Target="/ppt/notesMasters/notesMaster1.xml" Id="Rbfc9ff053f594e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005f750bcc4c5c" /><Relationship Type="http://schemas.openxmlformats.org/officeDocument/2006/relationships/notesMaster" Target="/ppt/notesMasters/notesMaster1.xml" Id="R022b1a511d3b4b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bfb3edba9a454f" /><Relationship Type="http://schemas.openxmlformats.org/officeDocument/2006/relationships/notesMaster" Target="/ppt/notesMasters/notesMaster1.xml" Id="R47abaff9416044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ca4588558049c1" /><Relationship Type="http://schemas.openxmlformats.org/officeDocument/2006/relationships/notesMaster" Target="/ppt/notesMasters/notesMaster1.xml" Id="Re7b49788ef724b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621be26d24458d" /><Relationship Type="http://schemas.openxmlformats.org/officeDocument/2006/relationships/notesMaster" Target="/ppt/notesMasters/notesMaster1.xml" Id="Re8818f401ff84f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c8a48071664da8" /><Relationship Type="http://schemas.openxmlformats.org/officeDocument/2006/relationships/notesMaster" Target="/ppt/notesMasters/notesMaster1.xml" Id="Ra4977efcab1746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6e8f2ef4674dcc" /><Relationship Type="http://schemas.openxmlformats.org/officeDocument/2006/relationships/notesMaster" Target="/ppt/notesMasters/notesMaster1.xml" Id="Rabd7c4340bc9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control philosophy: AI reads and reasons; deterministic policy decides whether money moves.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AI-Engineer - Assignment.docx — objective, scenario, and required stack.</a:t>
            </a:r>
          </a:p>
          <a:p xmlns:a="http://schemas.openxmlformats.org/drawingml/2006/main">
            <a:r>
              <a:t>- Project-generated image: presentation/assets/invoice-automation-hero.png.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assignment as a separation-of-concerns problem, not merely an OCR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AI-Engineer - Assignment.docx — business scenario and functional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bottom rail receives evidence from every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architecture and component map.</a:t>
            </a:r>
          </a:p>
          <a:p xmlns:a="http://schemas.openxmlformats.org/drawingml/2006/main">
            <a:r>
              <a:t>- docs/architecture.md — component view and failure behavior.</a:t>
            </a:r>
          </a:p>
          <a:p xmlns:a="http://schemas.openxmlformats.org/drawingml/2006/main">
            <a:r>
              <a:t>- app/workflow.py; app/audit.py;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LangGraph coordinates the state, while matching and eligibility remain deterministic.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app/workflow.py — workflow state and routing.</a:t>
            </a:r>
          </a:p>
          <a:p xmlns:a="http://schemas.openxmlformats.org/drawingml/2006/main">
            <a:r>
              <a:t>- app/extraction.py; app/matching.py; app/erp.py.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boundary test makes the policy precise: equal to the tolerance passes, exceeding it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app/matching.py — tolerance and variance logic.</a:t>
            </a:r>
          </a:p>
          <a:p xmlns:a="http://schemas.openxmlformats.org/drawingml/2006/main">
            <a:r>
              <a:t>- tests/test_matching.py — exact boundary and outside-boundary tests.</a:t>
            </a:r>
          </a:p>
          <a:p xmlns:a="http://schemas.openxmlformats.org/drawingml/2006/main">
            <a:r>
              <a:t>- .env.example — configurable defaults.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original mismatch remains visible after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app/api.py — exception queue and decision endpoint.</a:t>
            </a:r>
          </a:p>
          <a:p xmlns:a="http://schemas.openxmlformats.org/drawingml/2006/main">
            <a:r>
              <a:t>- app/audit.py — append-only hash chain.</a:t>
            </a:r>
          </a:p>
          <a:p xmlns:a="http://schemas.openxmlformats.org/drawingml/2006/main">
            <a:r>
              <a:t>- docs/security-and-controls.md — control posture.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 is not a second architecture; it is a second domain path through the same governance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app/api.py — /api/v1/ingest-remittance.</a:t>
            </a:r>
          </a:p>
          <a:p xmlns:a="http://schemas.openxmlformats.org/drawingml/2006/main">
            <a:r>
              <a:t>- app/erp.py — apply_cash implementation.</a:t>
            </a:r>
          </a:p>
          <a:p xmlns:a="http://schemas.openxmlformats.org/drawingml/2006/main">
            <a:r>
              <a:t>- tests/test_ar.py — exact and partial payment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contract is both auto-served by FastAPI and checked into source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openapi/openapi.yaml — versioned API contract.</a:t>
            </a:r>
          </a:p>
          <a:p xmlns:a="http://schemas.openxmlformats.org/drawingml/2006/main">
            <a:r>
              <a:t>- app/api.py — FastAPI implementation.</a:t>
            </a:r>
          </a:p>
          <a:p xmlns:a="http://schemas.openxmlformats.org/drawingml/2006/main">
            <a:r>
              <a:t>- app/audit.py — event schema and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code or deployment evidence for every row of the assignment's technology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AI-Engineer - Assignment.docx — mandatory technology stack.</a:t>
            </a:r>
          </a:p>
          <a:p xmlns:a="http://schemas.openxmlformats.org/drawingml/2006/main">
            <a:r>
              <a:t>- pyproject.toml — pinned Python dependencies.</a:t>
            </a:r>
          </a:p>
          <a:p xmlns:a="http://schemas.openxmlformats.org/drawingml/2006/main">
            <a:r>
              <a:t>- docker-compose.yml — PostgreSQL, Ollama, and Phoenix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100% figures are controlled-fixture results, not production estimates. Call out the zero false-auto-post rate and the need for a permissioned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evaluation/results/latest.json — generated six-document metrics.</a:t>
            </a:r>
          </a:p>
          <a:p xmlns:a="http://schemas.openxmlformats.org/drawingml/2006/main">
            <a:r>
              <a:t>- docs/evaluation-report.md — definitions, limitations, and pilot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path is intentionally short enough for a technical review while the optional services remain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quick start and demo commands.</a:t>
            </a:r>
          </a:p>
          <a:p xmlns:a="http://schemas.openxmlformats.org/drawingml/2006/main">
            <a:r>
              <a:t>- Dockerfile and docker-compose.yml — deployment configuration.</a:t>
            </a:r>
          </a:p>
          <a:p xmlns:a="http://schemas.openxmlformats.org/drawingml/2006/main">
            <a:r>
              <a:t>- scripts/demo.ps1 — AP happy-path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next evidence-building step, not on a generic thank-you.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docs/traceability-matrix.md — assignment-to-artifact mapping.</a:t>
            </a:r>
          </a:p>
          <a:p xmlns:a="http://schemas.openxmlformats.org/drawingml/2006/main">
            <a:r>
              <a:t>- Repository root — complete submission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4cbe85d7f4a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f51411c8d347f2" /><Relationship Type="http://schemas.openxmlformats.org/officeDocument/2006/relationships/slideLayout" Target="/ppt/slideLayouts/slideLayout1.xml" Id="R87f8d3d6ee50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f8d3d6ee50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bcf79bfcd49bc" /><Relationship Type="http://schemas.openxmlformats.org/officeDocument/2006/relationships/image" Target="/ppt/media/image.png" Id="R253d26adb28041d3" /><Relationship Type="http://schemas.openxmlformats.org/officeDocument/2006/relationships/notesSlide" Target="/ppt/notesSlides/notesSlide1.xml" Id="R164e55f638d744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7b78443b64766" /><Relationship Type="http://schemas.openxmlformats.org/officeDocument/2006/relationships/notesSlide" Target="/ppt/notesSlides/notesSlide2.xml" Id="R38510eefa463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75665254e4357" /><Relationship Type="http://schemas.openxmlformats.org/officeDocument/2006/relationships/notesSlide" Target="/ppt/notesSlides/notesSlide3.xml" Id="R2ef1a03007184b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874d3d0904cf1" /><Relationship Type="http://schemas.openxmlformats.org/officeDocument/2006/relationships/notesSlide" Target="/ppt/notesSlides/notesSlide4.xml" Id="R21ac65aa4aed4c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751e544ca4621" /><Relationship Type="http://schemas.openxmlformats.org/officeDocument/2006/relationships/notesSlide" Target="/ppt/notesSlides/notesSlide5.xml" Id="R229004ce215940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ca7af94704c0e" /><Relationship Type="http://schemas.openxmlformats.org/officeDocument/2006/relationships/notesSlide" Target="/ppt/notesSlides/notesSlide6.xml" Id="Rb653092e39c945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c6eca8a654e94" /><Relationship Type="http://schemas.openxmlformats.org/officeDocument/2006/relationships/notesSlide" Target="/ppt/notesSlides/notesSlide7.xml" Id="R7acb6ca90fe2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5d85d403a490d" /><Relationship Type="http://schemas.openxmlformats.org/officeDocument/2006/relationships/notesSlide" Target="/ppt/notesSlides/notesSlide8.xml" Id="Rd37087b344da46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bfe0256d449f3" /><Relationship Type="http://schemas.openxmlformats.org/officeDocument/2006/relationships/notesSlide" Target="/ppt/notesSlides/notesSlide9.xml" Id="R0c2b425dc2df45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e627006174f56" /><Relationship Type="http://schemas.openxmlformats.org/officeDocument/2006/relationships/notesSlide" Target="/ppt/notesSlides/notesSlide10.xml" Id="R77691801128846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c055876574f38" /><Relationship Type="http://schemas.openxmlformats.org/officeDocument/2006/relationships/notesSlide" Target="/ppt/notesSlides/notesSlide11.xml" Id="Ra31d1fdedb6f45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3dad4e099485c" /><Relationship Type="http://schemas.openxmlformats.org/officeDocument/2006/relationships/notesSlide" Target="/ppt/notesSlides/notesSlide12.xml" Id="Rf16da48ef679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7E9631E-D080-4164-9FFC-84122774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AI ENGINEER TECHNICAL ASSIGNMENT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0C77FE-2C42-4DF0-B789-3363CA5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 invoice-to-payment automation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A0A8E8F-8E97-4D0E-AFF6-B1B40E40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A runnable AP + AR prototype with deterministic financial controls, human exception ownership, and verifiable auditability.</a:t>
            </a:r>
          </a:p>
        </p:txBody>
      </p:sp>
      <p:sp>
        <p:nvSpPr>
          <p:cNvPr id="4" name="rule-42-558">
            <a:extLst xmlns:a="http://schemas.openxmlformats.org/drawingml/2006/main">
              <a:ext uri="{FF2B5EF4-FFF2-40B4-BE49-F238E27FC236}">
                <a16:creationId xmlns:a16="http://schemas.microsoft.com/office/drawing/2014/main" id="{945FBD63-6313-4C4F-9C00-879B380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16675874-9BDD-4EC7-8A3C-3D3BAF7B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 · Python · FastAPI · LangGraph · Docling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d26adb28041d3"/>
          <a:srcRect xmlns:a="http://schemas.openxmlformats.org/drawingml/2006/main" l="0" t="9434" r="0" b="9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768A359C-3015-45FF-8701-43AD0709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6391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">
            <a:extLst xmlns:a="http://schemas.openxmlformats.org/drawingml/2006/main">
              <a:ext uri="{FF2B5EF4-FFF2-40B4-BE49-F238E27FC236}">
                <a16:creationId xmlns:a16="http://schemas.microsoft.com/office/drawing/2014/main" id="{FBEECD3C-68BA-4285-9C19-0B873540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6113D65-1586-45E9-B3AB-80942085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46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Finance automation fails when interpretation and control are conflated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826650E4-3CCD-495E-B24A-E3FE6E7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12012602-02CE-40DB-99AA-E61D73F1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5DDCBBC8-3FA0-479D-9F4B-EA30049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429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workflow must understand messy documents without letting probabilistic output authorize a financial posting.</a:t>
            </a:r>
          </a:p>
        </p:txBody>
      </p:sp>
      <p:sp>
        <p:nvSpPr>
          <p:cNvPr id="6" name="rule-42-330">
            <a:extLst xmlns:a="http://schemas.openxmlformats.org/drawingml/2006/main">
              <a:ext uri="{FF2B5EF4-FFF2-40B4-BE49-F238E27FC236}">
                <a16:creationId xmlns:a16="http://schemas.microsoft.com/office/drawing/2014/main" id="{2A971FAF-8FA2-41A5-8AC1-10BBC1B8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h-0">
            <a:extLst xmlns:a="http://schemas.openxmlformats.org/drawingml/2006/main">
              <a:ext uri="{FF2B5EF4-FFF2-40B4-BE49-F238E27FC236}">
                <a16:creationId xmlns:a16="http://schemas.microsoft.com/office/drawing/2014/main" id="{BBEB2A7D-025A-42B4-B6E5-AC75302B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 variability</a:t>
            </a:r>
          </a:p>
        </p:txBody>
      </p:sp>
      <p:sp>
        <p:nvSpPr>
          <p:cNvPr id="8" name="problem-b-0">
            <a:extLst xmlns:a="http://schemas.openxmlformats.org/drawingml/2006/main">
              <a:ext uri="{FF2B5EF4-FFF2-40B4-BE49-F238E27FC236}">
                <a16:creationId xmlns:a16="http://schemas.microsoft.com/office/drawing/2014/main" id="{F20CCCCE-1D2D-4758-AFF1-DA47CD1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095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PDFs, scans, HTML, line items, missing references, and inconsistent vendor layouts.</a:t>
            </a:r>
          </a:p>
        </p:txBody>
      </p:sp>
      <p:sp>
        <p:nvSpPr>
          <p:cNvPr id="9" name="rule-450-330">
            <a:extLst xmlns:a="http://schemas.openxmlformats.org/drawingml/2006/main">
              <a:ext uri="{FF2B5EF4-FFF2-40B4-BE49-F238E27FC236}">
                <a16:creationId xmlns:a16="http://schemas.microsoft.com/office/drawing/2014/main" id="{F6496747-773C-4B00-810D-1EA8ADC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h-1">
            <a:extLst xmlns:a="http://schemas.openxmlformats.org/drawingml/2006/main">
              <a:ext uri="{FF2B5EF4-FFF2-40B4-BE49-F238E27FC236}">
                <a16:creationId xmlns:a16="http://schemas.microsoft.com/office/drawing/2014/main" id="{FE5BCEFB-5A03-43AE-AAD4-80DEA4B0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 complexity</a:t>
            </a:r>
          </a:p>
        </p:txBody>
      </p:sp>
      <p:sp>
        <p:nvSpPr>
          <p:cNvPr id="11" name="problem-b-1">
            <a:extLst xmlns:a="http://schemas.openxmlformats.org/drawingml/2006/main">
              <a:ext uri="{FF2B5EF4-FFF2-40B4-BE49-F238E27FC236}">
                <a16:creationId xmlns:a16="http://schemas.microsoft.com/office/drawing/2014/main" id="{5A20FF59-2072-4E0A-9BD7-1F74F2C7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3095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PO, price, quantity, currency, receipt, duplicate, approval, and idempotency checks.</a:t>
            </a:r>
          </a:p>
        </p:txBody>
      </p:sp>
      <p:sp>
        <p:nvSpPr>
          <p:cNvPr id="12" name="rule-858-330">
            <a:extLst xmlns:a="http://schemas.openxmlformats.org/drawingml/2006/main">
              <a:ext uri="{FF2B5EF4-FFF2-40B4-BE49-F238E27FC236}">
                <a16:creationId xmlns:a16="http://schemas.microsoft.com/office/drawing/2014/main" id="{0226DEF2-B79C-43DB-A3CA-7A7927B0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h-2">
            <a:extLst xmlns:a="http://schemas.openxmlformats.org/drawingml/2006/main">
              <a:ext uri="{FF2B5EF4-FFF2-40B4-BE49-F238E27FC236}">
                <a16:creationId xmlns:a16="http://schemas.microsoft.com/office/drawing/2014/main" id="{C3DD4153-CC3B-4A3A-8FF5-F1B0AF9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burden</a:t>
            </a:r>
          </a:p>
        </p:txBody>
      </p:sp>
      <p:sp>
        <p:nvSpPr>
          <p:cNvPr id="14" name="problem-b-2">
            <a:extLst xmlns:a="http://schemas.openxmlformats.org/drawingml/2006/main">
              <a:ext uri="{FF2B5EF4-FFF2-40B4-BE49-F238E27FC236}">
                <a16:creationId xmlns:a16="http://schemas.microsoft.com/office/drawing/2014/main" id="{0131110B-0EC0-49F2-B1A7-38D8BBEE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3095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Every extracted value, decision, exception, human action, and ERP response must remain traceable.</a:t>
            </a:r>
          </a:p>
        </p:txBody>
      </p:sp>
      <p:sp>
        <p:nvSpPr>
          <p:cNvPr id="15" name="problem-bottom">
            <a:extLst xmlns:a="http://schemas.openxmlformats.org/drawingml/2006/main">
              <a:ext uri="{FF2B5EF4-FFF2-40B4-BE49-F238E27FC236}">
                <a16:creationId xmlns:a16="http://schemas.microsoft.com/office/drawing/2014/main" id="{8D1E957E-104C-451D-AE71-3801206D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Design consequence: keep document intelligence flexible and the posting gate explicit, testable, and fail-closed.</a:t>
            </a:r>
          </a:p>
        </p:txBody>
      </p:sp>
    </p:spTree>
    <p:extLst>
      <p:ext uri="{BB962C8B-B14F-4D97-AF65-F5344CB8AC3E}">
        <p14:creationId xmlns:p14="http://schemas.microsoft.com/office/powerpoint/2010/main" val="676602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3">
            <a:extLst xmlns:a="http://schemas.openxmlformats.org/drawingml/2006/main">
              <a:ext uri="{FF2B5EF4-FFF2-40B4-BE49-F238E27FC236}">
                <a16:creationId xmlns:a16="http://schemas.microsoft.com/office/drawing/2014/main" id="{B9C4996E-CB5C-4E5E-8A06-79250889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697F00A-CD06-49F8-BD5A-AEAEE097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governed path connects source evidence to ERP action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94B5AFFE-62C9-45EC-93F4-E7D52C44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40E1D495-FFB5-48A0-A0F9-D2F41F92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a1">
            <a:extLst xmlns:a="http://schemas.openxmlformats.org/drawingml/2006/main">
              <a:ext uri="{FF2B5EF4-FFF2-40B4-BE49-F238E27FC236}">
                <a16:creationId xmlns:a16="http://schemas.microsoft.com/office/drawing/2014/main" id="{DAA23EA5-AFEA-4111-8121-52BDA20C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2">
            <a:extLst xmlns:a="http://schemas.openxmlformats.org/drawingml/2006/main">
              <a:ext uri="{FF2B5EF4-FFF2-40B4-BE49-F238E27FC236}">
                <a16:creationId xmlns:a16="http://schemas.microsoft.com/office/drawing/2014/main" id="{C8075D21-1F02-42D4-A4D3-EAAF568E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3">
            <a:extLst xmlns:a="http://schemas.openxmlformats.org/drawingml/2006/main">
              <a:ext uri="{FF2B5EF4-FFF2-40B4-BE49-F238E27FC236}">
                <a16:creationId xmlns:a16="http://schemas.microsoft.com/office/drawing/2014/main" id="{1FC125ED-B642-445B-9A7B-33DC760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4">
            <a:extLst xmlns:a="http://schemas.openxmlformats.org/drawingml/2006/main">
              <a:ext uri="{FF2B5EF4-FFF2-40B4-BE49-F238E27FC236}">
                <a16:creationId xmlns:a16="http://schemas.microsoft.com/office/drawing/2014/main" id="{1D4C704B-2DE9-45A8-92A7-CC54014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57500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udit-1">
            <a:extLst xmlns:a="http://schemas.openxmlformats.org/drawingml/2006/main">
              <a:ext uri="{FF2B5EF4-FFF2-40B4-BE49-F238E27FC236}">
                <a16:creationId xmlns:a16="http://schemas.microsoft.com/office/drawing/2014/main" id="{CB058F21-3F7F-475C-ADD8-95B9A4EC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85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udit-2">
            <a:extLst xmlns:a="http://schemas.openxmlformats.org/drawingml/2006/main">
              <a:ext uri="{FF2B5EF4-FFF2-40B4-BE49-F238E27FC236}">
                <a16:creationId xmlns:a16="http://schemas.microsoft.com/office/drawing/2014/main" id="{9BBCBF88-5E3F-4896-9409-C36CE60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285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udit-3">
            <a:extLst xmlns:a="http://schemas.openxmlformats.org/drawingml/2006/main">
              <a:ext uri="{FF2B5EF4-FFF2-40B4-BE49-F238E27FC236}">
                <a16:creationId xmlns:a16="http://schemas.microsoft.com/office/drawing/2014/main" id="{23A97570-3DE3-4F36-B82D-C2B4B6B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38550"/>
            <a:ext cx="285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udit-4">
            <a:extLst xmlns:a="http://schemas.openxmlformats.org/drawingml/2006/main">
              <a:ext uri="{FF2B5EF4-FFF2-40B4-BE49-F238E27FC236}">
                <a16:creationId xmlns:a16="http://schemas.microsoft.com/office/drawing/2014/main" id="{82D5D088-697D-408E-B73F-E810F62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85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udit-5">
            <a:extLst xmlns:a="http://schemas.openxmlformats.org/drawingml/2006/main">
              <a:ext uri="{FF2B5EF4-FFF2-40B4-BE49-F238E27FC236}">
                <a16:creationId xmlns:a16="http://schemas.microsoft.com/office/drawing/2014/main" id="{1365B6E9-48FA-47A9-A2DB-1D0BEE8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638550"/>
            <a:ext cx="285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-box">
            <a:extLst xmlns:a="http://schemas.openxmlformats.org/drawingml/2006/main">
              <a:ext uri="{FF2B5EF4-FFF2-40B4-BE49-F238E27FC236}">
                <a16:creationId xmlns:a16="http://schemas.microsoft.com/office/drawing/2014/main" id="{0877ECF5-B7C0-4186-A9F2-444FEF2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907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3902D89C-30EB-4F5C-A506-7C1CF044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6" name="source-sub">
            <a:extLst xmlns:a="http://schemas.openxmlformats.org/drawingml/2006/main">
              <a:ext uri="{FF2B5EF4-FFF2-40B4-BE49-F238E27FC236}">
                <a16:creationId xmlns:a16="http://schemas.microsoft.com/office/drawing/2014/main" id="{F2BB58D1-F4AA-4E35-84D2-B31D3D03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44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Graph mailbox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API upload</a:t>
            </a:r>
          </a:p>
        </p:txBody>
      </p:sp>
      <p:sp>
        <p:nvSpPr>
          <p:cNvPr id="17" name="extract-box">
            <a:extLst xmlns:a="http://schemas.openxmlformats.org/drawingml/2006/main">
              <a:ext uri="{FF2B5EF4-FFF2-40B4-BE49-F238E27FC236}">
                <a16:creationId xmlns:a16="http://schemas.microsoft.com/office/drawing/2014/main" id="{5A581314-4C0B-40C0-96F4-1BC32F4E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955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xtract-label">
            <a:extLst xmlns:a="http://schemas.openxmlformats.org/drawingml/2006/main">
              <a:ext uri="{FF2B5EF4-FFF2-40B4-BE49-F238E27FC236}">
                <a16:creationId xmlns:a16="http://schemas.microsoft.com/office/drawing/2014/main" id="{3DB40E13-19B0-444C-8387-2AB8D2B3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669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9" name="extract-sub">
            <a:extLst xmlns:a="http://schemas.openxmlformats.org/drawingml/2006/main">
              <a:ext uri="{FF2B5EF4-FFF2-40B4-BE49-F238E27FC236}">
                <a16:creationId xmlns:a16="http://schemas.microsoft.com/office/drawing/2014/main" id="{4AB0C7FB-2943-4354-A19B-954F5221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6479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PDF text + OCR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Docling + Ollama</a:t>
            </a:r>
          </a:p>
        </p:txBody>
      </p:sp>
      <p:sp>
        <p:nvSpPr>
          <p:cNvPr id="20" name="agent-box">
            <a:extLst xmlns:a="http://schemas.openxmlformats.org/drawingml/2006/main">
              <a:ext uri="{FF2B5EF4-FFF2-40B4-BE49-F238E27FC236}">
                <a16:creationId xmlns:a16="http://schemas.microsoft.com/office/drawing/2014/main" id="{0D9F5128-5C63-419D-8292-4FC5C3D8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gent-label">
            <a:extLst xmlns:a="http://schemas.openxmlformats.org/drawingml/2006/main">
              <a:ext uri="{FF2B5EF4-FFF2-40B4-BE49-F238E27FC236}">
                <a16:creationId xmlns:a16="http://schemas.microsoft.com/office/drawing/2014/main" id="{5C2BF0CC-17C5-4920-9DD3-E435079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669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Orchestrate</a:t>
            </a:r>
          </a:p>
        </p:txBody>
      </p:sp>
      <p:sp>
        <p:nvSpPr>
          <p:cNvPr id="22" name="agent-sub">
            <a:extLst xmlns:a="http://schemas.openxmlformats.org/drawingml/2006/main">
              <a:ext uri="{FF2B5EF4-FFF2-40B4-BE49-F238E27FC236}">
                <a16:creationId xmlns:a16="http://schemas.microsoft.com/office/drawing/2014/main" id="{AD88F0F1-D983-4620-A7EF-E965B26F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479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E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7F4"/>
                </a:solidFill>
                <a:latin typeface="Arial"/>
                <a:ea typeface="Arial"/>
                <a:cs typeface="Arial"/>
              </a:rPr>
              <a:t>LangGraph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E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7F4"/>
                </a:solidFill>
                <a:latin typeface="Arial"/>
                <a:ea typeface="Arial"/>
                <a:cs typeface="Arial"/>
              </a:rPr>
              <a:t>LlamaIndex</a:t>
            </a:r>
          </a:p>
        </p:txBody>
      </p:sp>
      <p:sp>
        <p:nvSpPr>
          <p:cNvPr id="23" name="control-box">
            <a:extLst xmlns:a="http://schemas.openxmlformats.org/drawingml/2006/main">
              <a:ext uri="{FF2B5EF4-FFF2-40B4-BE49-F238E27FC236}">
                <a16:creationId xmlns:a16="http://schemas.microsoft.com/office/drawing/2014/main" id="{C6E68834-68EC-4276-B71E-D505C18E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1809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740B622F-1399-4A51-BA0B-FE6DA2E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669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5" name="control-sub">
            <a:extLst xmlns:a="http://schemas.openxmlformats.org/drawingml/2006/main">
              <a:ext uri="{FF2B5EF4-FFF2-40B4-BE49-F238E27FC236}">
                <a16:creationId xmlns:a16="http://schemas.microsoft.com/office/drawing/2014/main" id="{37A780B7-CD4B-4D98-9FFF-B405370F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47950"/>
            <a:ext cx="146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2/3-way match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policy gate</a:t>
            </a:r>
          </a:p>
        </p:txBody>
      </p:sp>
      <p:sp>
        <p:nvSpPr>
          <p:cNvPr id="26" name="erp-box">
            <a:extLst xmlns:a="http://schemas.openxmlformats.org/drawingml/2006/main">
              <a:ext uri="{FF2B5EF4-FFF2-40B4-BE49-F238E27FC236}">
                <a16:creationId xmlns:a16="http://schemas.microsoft.com/office/drawing/2014/main" id="{88763490-9764-4A68-8BBD-4202BA3F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952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rp-label">
            <a:extLst xmlns:a="http://schemas.openxmlformats.org/drawingml/2006/main">
              <a:ext uri="{FF2B5EF4-FFF2-40B4-BE49-F238E27FC236}">
                <a16:creationId xmlns:a16="http://schemas.microsoft.com/office/drawing/2014/main" id="{FB8E2644-712D-4153-923A-C01FC7C4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8" name="erp-sub">
            <a:extLst xmlns:a="http://schemas.openxmlformats.org/drawingml/2006/main">
              <a:ext uri="{FF2B5EF4-FFF2-40B4-BE49-F238E27FC236}">
                <a16:creationId xmlns:a16="http://schemas.microsoft.com/office/drawing/2014/main" id="{0C976C9A-64A3-4E6A-8048-46E84298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647950"/>
            <a:ext cx="609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ERP journal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AR cash apply</a:t>
            </a:r>
          </a:p>
        </p:txBody>
      </p:sp>
      <p:sp>
        <p:nvSpPr>
          <p:cNvPr id="29" name="audit-rail">
            <a:extLst xmlns:a="http://schemas.openxmlformats.org/drawingml/2006/main">
              <a:ext uri="{FF2B5EF4-FFF2-40B4-BE49-F238E27FC236}">
                <a16:creationId xmlns:a16="http://schemas.microsoft.com/office/drawing/2014/main" id="{78819959-219A-46FF-81C7-E6D72E4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410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audit-label">
            <a:extLst xmlns:a="http://schemas.openxmlformats.org/drawingml/2006/main">
              <a:ext uri="{FF2B5EF4-FFF2-40B4-BE49-F238E27FC236}">
                <a16:creationId xmlns:a16="http://schemas.microsoft.com/office/drawing/2014/main" id="{A619314D-29EA-4FD7-B5A4-B917FAB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768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POSTGRESQL + PGVECTOR · HASH-CHAINED AUDIT · PHOENIX TRACES</a:t>
            </a:r>
          </a:p>
        </p:txBody>
      </p:sp>
    </p:spTree>
    <p:extLst>
      <p:ext uri="{BB962C8B-B14F-4D97-AF65-F5344CB8AC3E}">
        <p14:creationId xmlns:p14="http://schemas.microsoft.com/office/powerpoint/2010/main" val="1936147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4">
            <a:extLst xmlns:a="http://schemas.openxmlformats.org/drawingml/2006/main">
              <a:ext uri="{FF2B5EF4-FFF2-40B4-BE49-F238E27FC236}">
                <a16:creationId xmlns:a16="http://schemas.microsoft.com/office/drawing/2014/main" id="{6705A3CC-4F72-4E07-895B-09D30C4C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5839DAA-4A09-424B-9AE0-69F4E013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AP agent advances only when each control state is satisfied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8D420686-1EA9-4101-A64E-CA9A878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C187545D-E3A8-4603-BBB4-1DC876D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2E411F50-8D03-4B53-8AC6-98B8CB9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5C60C7C5-683E-4D30-A3AE-2086B16F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-0">
            <a:extLst xmlns:a="http://schemas.openxmlformats.org/drawingml/2006/main">
              <a:ext uri="{FF2B5EF4-FFF2-40B4-BE49-F238E27FC236}">
                <a16:creationId xmlns:a16="http://schemas.microsoft.com/office/drawing/2014/main" id="{8609C68F-6AD9-4483-978D-29BB141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tage-h-0">
            <a:extLst xmlns:a="http://schemas.openxmlformats.org/drawingml/2006/main">
              <a:ext uri="{FF2B5EF4-FFF2-40B4-BE49-F238E27FC236}">
                <a16:creationId xmlns:a16="http://schemas.microsoft.com/office/drawing/2014/main" id="{C047EBB5-4842-4DED-B06B-F5C78E90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9" name="stage-b-0">
            <a:extLst xmlns:a="http://schemas.openxmlformats.org/drawingml/2006/main">
              <a:ext uri="{FF2B5EF4-FFF2-40B4-BE49-F238E27FC236}">
                <a16:creationId xmlns:a16="http://schemas.microsoft.com/office/drawing/2014/main" id="{5737A8F6-E018-4DDA-9380-31D3E551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543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Hash source and classify attachment.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BD40EB63-AE44-42F1-8E84-029AE8FC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n-1">
            <a:extLst xmlns:a="http://schemas.openxmlformats.org/drawingml/2006/main">
              <a:ext uri="{FF2B5EF4-FFF2-40B4-BE49-F238E27FC236}">
                <a16:creationId xmlns:a16="http://schemas.microsoft.com/office/drawing/2014/main" id="{5A88E7EE-243D-48EC-A3F5-155AB855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stage-h-1">
            <a:extLst xmlns:a="http://schemas.openxmlformats.org/drawingml/2006/main">
              <a:ext uri="{FF2B5EF4-FFF2-40B4-BE49-F238E27FC236}">
                <a16:creationId xmlns:a16="http://schemas.microsoft.com/office/drawing/2014/main" id="{302B8FD6-DB92-4E0E-84EA-91F3F945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3" name="stage-b-1">
            <a:extLst xmlns:a="http://schemas.openxmlformats.org/drawingml/2006/main">
              <a:ext uri="{FF2B5EF4-FFF2-40B4-BE49-F238E27FC236}">
                <a16:creationId xmlns:a16="http://schemas.microsoft.com/office/drawing/2014/main" id="{D12F4198-2564-46B6-959D-843D20D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43375"/>
            <a:ext cx="1543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Normalize fields, lines, confidence, evidence.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B3B3229A-5049-4DA8-BA29-52E1A097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n-2">
            <a:extLst xmlns:a="http://schemas.openxmlformats.org/drawingml/2006/main">
              <a:ext uri="{FF2B5EF4-FFF2-40B4-BE49-F238E27FC236}">
                <a16:creationId xmlns:a16="http://schemas.microsoft.com/office/drawing/2014/main" id="{60F87BDC-C7C5-4452-95F3-B9F0C232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stage-h-2">
            <a:extLst xmlns:a="http://schemas.openxmlformats.org/drawingml/2006/main">
              <a:ext uri="{FF2B5EF4-FFF2-40B4-BE49-F238E27FC236}">
                <a16:creationId xmlns:a16="http://schemas.microsoft.com/office/drawing/2014/main" id="{098A093C-084F-4206-9E76-14DB4E2B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766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7" name="stage-b-2">
            <a:extLst xmlns:a="http://schemas.openxmlformats.org/drawingml/2006/main">
              <a:ext uri="{FF2B5EF4-FFF2-40B4-BE49-F238E27FC236}">
                <a16:creationId xmlns:a16="http://schemas.microsoft.com/office/drawing/2014/main" id="{D5EAB6BB-77CB-415E-8F22-E2E08DF9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43375"/>
            <a:ext cx="1543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Load relevant finance policies.</a:t>
            </a:r>
          </a:p>
        </p:txBody>
      </p:sp>
      <p:sp>
        <p:nvSpPr>
          <p:cNvPr id="18" name="dot-3">
            <a:extLst xmlns:a="http://schemas.openxmlformats.org/drawingml/2006/main">
              <a:ext uri="{FF2B5EF4-FFF2-40B4-BE49-F238E27FC236}">
                <a16:creationId xmlns:a16="http://schemas.microsoft.com/office/drawing/2014/main" id="{14ABF46B-47FE-4A1C-BFAD-DF3668B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n-3">
            <a:extLst xmlns:a="http://schemas.openxmlformats.org/drawingml/2006/main">
              <a:ext uri="{FF2B5EF4-FFF2-40B4-BE49-F238E27FC236}">
                <a16:creationId xmlns:a16="http://schemas.microsoft.com/office/drawing/2014/main" id="{1D64C4BC-BF33-4271-AB9A-8C18CF7F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stage-h-3">
            <a:extLst xmlns:a="http://schemas.openxmlformats.org/drawingml/2006/main">
              <a:ext uri="{FF2B5EF4-FFF2-40B4-BE49-F238E27FC236}">
                <a16:creationId xmlns:a16="http://schemas.microsoft.com/office/drawing/2014/main" id="{06805134-7ACD-4412-83AE-F65DDAE1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21" name="stage-b-3">
            <a:extLst xmlns:a="http://schemas.openxmlformats.org/drawingml/2006/main">
              <a:ext uri="{FF2B5EF4-FFF2-40B4-BE49-F238E27FC236}">
                <a16:creationId xmlns:a16="http://schemas.microsoft.com/office/drawing/2014/main" id="{C6220084-6A5D-4DA3-897F-5A49984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43375"/>
            <a:ext cx="1543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Apply PO, GR, tolerance, duplicate rules.</a:t>
            </a:r>
          </a:p>
        </p:txBody>
      </p:sp>
      <p:sp>
        <p:nvSpPr>
          <p:cNvPr id="22" name="dot-4">
            <a:extLst xmlns:a="http://schemas.openxmlformats.org/drawingml/2006/main">
              <a:ext uri="{FF2B5EF4-FFF2-40B4-BE49-F238E27FC236}">
                <a16:creationId xmlns:a16="http://schemas.microsoft.com/office/drawing/2014/main" id="{C1C248DB-181E-4757-97D7-3A04A81A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n-4">
            <a:extLst xmlns:a="http://schemas.openxmlformats.org/drawingml/2006/main">
              <a:ext uri="{FF2B5EF4-FFF2-40B4-BE49-F238E27FC236}">
                <a16:creationId xmlns:a16="http://schemas.microsoft.com/office/drawing/2014/main" id="{1FFDA339-E8DA-41B8-83B6-DE81CB6B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stage-h-4">
            <a:extLst xmlns:a="http://schemas.openxmlformats.org/drawingml/2006/main">
              <a:ext uri="{FF2B5EF4-FFF2-40B4-BE49-F238E27FC236}">
                <a16:creationId xmlns:a16="http://schemas.microsoft.com/office/drawing/2014/main" id="{B0E6A156-511D-402A-A5AD-EE22C94C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5" name="stage-b-4">
            <a:extLst xmlns:a="http://schemas.openxmlformats.org/drawingml/2006/main">
              <a:ext uri="{FF2B5EF4-FFF2-40B4-BE49-F238E27FC236}">
                <a16:creationId xmlns:a16="http://schemas.microsoft.com/office/drawing/2014/main" id="{8D89968F-8CB3-4CCA-8C61-CBE67ADF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43375"/>
            <a:ext cx="1543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Route named exceptions to a human.</a:t>
            </a:r>
          </a:p>
        </p:txBody>
      </p:sp>
      <p:sp>
        <p:nvSpPr>
          <p:cNvPr id="26" name="dot-5">
            <a:extLst xmlns:a="http://schemas.openxmlformats.org/drawingml/2006/main">
              <a:ext uri="{FF2B5EF4-FFF2-40B4-BE49-F238E27FC236}">
                <a16:creationId xmlns:a16="http://schemas.microsoft.com/office/drawing/2014/main" id="{F521A7E5-6FE1-4BFA-AB63-04123F76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62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ge-n-5">
            <a:extLst xmlns:a="http://schemas.openxmlformats.org/drawingml/2006/main">
              <a:ext uri="{FF2B5EF4-FFF2-40B4-BE49-F238E27FC236}">
                <a16:creationId xmlns:a16="http://schemas.microsoft.com/office/drawing/2014/main" id="{4F44D89D-DC26-467A-8AA0-A2B1379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2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stage-h-5">
            <a:extLst xmlns:a="http://schemas.openxmlformats.org/drawingml/2006/main">
              <a:ext uri="{FF2B5EF4-FFF2-40B4-BE49-F238E27FC236}">
                <a16:creationId xmlns:a16="http://schemas.microsoft.com/office/drawing/2014/main" id="{6A2CBBEA-3315-44DF-A4B5-FF652B16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766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9" name="stage-b-5">
            <a:extLst xmlns:a="http://schemas.openxmlformats.org/drawingml/2006/main">
              <a:ext uri="{FF2B5EF4-FFF2-40B4-BE49-F238E27FC236}">
                <a16:creationId xmlns:a16="http://schemas.microsoft.com/office/drawing/2014/main" id="{FB39A034-DD1C-4DAC-B751-8B76701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143375"/>
            <a:ext cx="1543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Send one idempotent ERP journal.</a:t>
            </a:r>
          </a:p>
        </p:txBody>
      </p:sp>
      <p:sp>
        <p:nvSpPr>
          <p:cNvPr id="30" name="workflow-rule">
            <a:extLst xmlns:a="http://schemas.openxmlformats.org/drawingml/2006/main">
              <a:ext uri="{FF2B5EF4-FFF2-40B4-BE49-F238E27FC236}">
                <a16:creationId xmlns:a16="http://schemas.microsoft.com/office/drawing/2014/main" id="{75F281C4-0D55-44FE-94B3-94425584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failed transition creates an exception event; it never silently falls through to posting.</a:t>
            </a:r>
          </a:p>
        </p:txBody>
      </p:sp>
    </p:spTree>
    <p:extLst>
      <p:ext uri="{BB962C8B-B14F-4D97-AF65-F5344CB8AC3E}">
        <p14:creationId xmlns:p14="http://schemas.microsoft.com/office/powerpoint/2010/main" val="750381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C42D89E7-A9CD-418D-9154-937C8E5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7BE9CB2-623A-45F6-8A4E-D2B79115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25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match gate is deterministic, configurable, and boundary-tested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19EBA88D-1BD7-4423-9929-9E7AEBDE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2D25D956-E948-496C-94C3-9731A145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woway-k">
            <a:extLst xmlns:a="http://schemas.openxmlformats.org/drawingml/2006/main">
              <a:ext uri="{FF2B5EF4-FFF2-40B4-BE49-F238E27FC236}">
                <a16:creationId xmlns:a16="http://schemas.microsoft.com/office/drawing/2014/main" id="{B6F8A3FC-FEC7-4E7D-BC98-C9C0F7E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2-WAY</a:t>
            </a:r>
          </a:p>
        </p:txBody>
      </p:sp>
      <p:sp>
        <p:nvSpPr>
          <p:cNvPr id="6" name="twoway-h">
            <a:extLst xmlns:a="http://schemas.openxmlformats.org/drawingml/2006/main">
              <a:ext uri="{FF2B5EF4-FFF2-40B4-BE49-F238E27FC236}">
                <a16:creationId xmlns:a16="http://schemas.microsoft.com/office/drawing/2014/main" id="{3A354FBA-80AB-4D71-9A2F-198CC40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Invoice ↔ PO</a:t>
            </a:r>
          </a:p>
        </p:txBody>
      </p:sp>
      <p:sp>
        <p:nvSpPr>
          <p:cNvPr id="7" name="twoway-b">
            <a:extLst xmlns:a="http://schemas.openxmlformats.org/drawingml/2006/main">
              <a:ext uri="{FF2B5EF4-FFF2-40B4-BE49-F238E27FC236}">
                <a16:creationId xmlns:a16="http://schemas.microsoft.com/office/drawing/2014/main" id="{B516248B-3828-498E-96A2-8E3FED1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Vendor · currency · line mapping · unit price · ordered quantity · total · duplicate</a:t>
            </a:r>
          </a:p>
        </p:txBody>
      </p:sp>
      <p:sp>
        <p:nvSpPr>
          <p:cNvPr id="8" name="rule-630-180">
            <a:extLst xmlns:a="http://schemas.openxmlformats.org/drawingml/2006/main">
              <a:ext uri="{FF2B5EF4-FFF2-40B4-BE49-F238E27FC236}">
                <a16:creationId xmlns:a16="http://schemas.microsoft.com/office/drawing/2014/main" id="{719CA362-E64E-4B9C-9622-8098604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hreeway-k">
            <a:extLst xmlns:a="http://schemas.openxmlformats.org/drawingml/2006/main">
              <a:ext uri="{FF2B5EF4-FFF2-40B4-BE49-F238E27FC236}">
                <a16:creationId xmlns:a16="http://schemas.microsoft.com/office/drawing/2014/main" id="{31627BE4-BBC5-4C90-AE78-81EA6221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D58"/>
                </a:solidFill>
                <a:latin typeface="Arial"/>
                <a:ea typeface="Arial"/>
                <a:cs typeface="Arial"/>
              </a:rPr>
              <a:t>3-WAY</a:t>
            </a:r>
          </a:p>
        </p:txBody>
      </p:sp>
      <p:sp>
        <p:nvSpPr>
          <p:cNvPr id="10" name="threeway-h">
            <a:extLst xmlns:a="http://schemas.openxmlformats.org/drawingml/2006/main">
              <a:ext uri="{FF2B5EF4-FFF2-40B4-BE49-F238E27FC236}">
                <a16:creationId xmlns:a16="http://schemas.microsoft.com/office/drawing/2014/main" id="{8FDB7DBB-0ADC-4A56-AA8E-EC69B753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Invoice ↔ PO ↔ receipt</a:t>
            </a:r>
          </a:p>
        </p:txBody>
      </p:sp>
      <p:sp>
        <p:nvSpPr>
          <p:cNvPr id="11" name="threeway-b">
            <a:extLst xmlns:a="http://schemas.openxmlformats.org/drawingml/2006/main">
              <a:ext uri="{FF2B5EF4-FFF2-40B4-BE49-F238E27FC236}">
                <a16:creationId xmlns:a16="http://schemas.microsoft.com/office/drawing/2014/main" id="{62A44F04-6074-4E8A-8BF7-F2F7640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Every 2-way control, plus received quantity must cover invoiced quantity.</a:t>
            </a:r>
          </a:p>
        </p:txBody>
      </p:sp>
      <p:sp>
        <p:nvSpPr>
          <p:cNvPr id="12" name="tol-panel">
            <a:extLst xmlns:a="http://schemas.openxmlformats.org/drawingml/2006/main">
              <a:ext uri="{FF2B5EF4-FFF2-40B4-BE49-F238E27FC236}">
                <a16:creationId xmlns:a16="http://schemas.microsoft.com/office/drawing/2014/main" id="{D39397B2-02C8-411D-908E-81806B1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125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l-values">
            <a:extLst xmlns:a="http://schemas.openxmlformats.org/drawingml/2006/main">
              <a:ext uri="{FF2B5EF4-FFF2-40B4-BE49-F238E27FC236}">
                <a16:creationId xmlns:a16="http://schemas.microsoft.com/office/drawing/2014/main" id="{982F2C25-2263-4B1E-B659-94EED6F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2.00%</a:t>
            </a:r>
          </a:p>
        </p:txBody>
      </p:sp>
      <p:sp>
        <p:nvSpPr>
          <p:cNvPr id="14" name="tol-price">
            <a:extLst xmlns:a="http://schemas.openxmlformats.org/drawingml/2006/main">
              <a:ext uri="{FF2B5EF4-FFF2-40B4-BE49-F238E27FC236}">
                <a16:creationId xmlns:a16="http://schemas.microsoft.com/office/drawing/2014/main" id="{B00290DD-31A8-4979-A31A-733FD14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price tolerance</a:t>
            </a:r>
          </a:p>
        </p:txBody>
      </p:sp>
      <p:sp>
        <p:nvSpPr>
          <p:cNvPr id="15" name="tol-q-value">
            <a:extLst xmlns:a="http://schemas.openxmlformats.org/drawingml/2006/main">
              <a:ext uri="{FF2B5EF4-FFF2-40B4-BE49-F238E27FC236}">
                <a16:creationId xmlns:a16="http://schemas.microsoft.com/office/drawing/2014/main" id="{2D2F72E1-3B4A-4079-AE63-0C876B0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0.00%</a:t>
            </a:r>
          </a:p>
        </p:txBody>
      </p:sp>
      <p:sp>
        <p:nvSpPr>
          <p:cNvPr id="16" name="tol-q">
            <a:extLst xmlns:a="http://schemas.openxmlformats.org/drawingml/2006/main">
              <a:ext uri="{FF2B5EF4-FFF2-40B4-BE49-F238E27FC236}">
                <a16:creationId xmlns:a16="http://schemas.microsoft.com/office/drawing/2014/main" id="{B3C17762-AD07-4693-AFBA-A006C170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quantity tolerance</a:t>
            </a:r>
          </a:p>
        </p:txBody>
      </p:sp>
      <p:sp>
        <p:nvSpPr>
          <p:cNvPr id="17" name="tol-t-value">
            <a:extLst xmlns:a="http://schemas.openxmlformats.org/drawingml/2006/main">
              <a:ext uri="{FF2B5EF4-FFF2-40B4-BE49-F238E27FC236}">
                <a16:creationId xmlns:a16="http://schemas.microsoft.com/office/drawing/2014/main" id="{FD69A628-7383-4734-BBF3-D3EE5F87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2.00%</a:t>
            </a:r>
          </a:p>
        </p:txBody>
      </p:sp>
      <p:sp>
        <p:nvSpPr>
          <p:cNvPr id="18" name="tol-t">
            <a:extLst xmlns:a="http://schemas.openxmlformats.org/drawingml/2006/main">
              <a:ext uri="{FF2B5EF4-FFF2-40B4-BE49-F238E27FC236}">
                <a16:creationId xmlns:a16="http://schemas.microsoft.com/office/drawing/2014/main" id="{508EBAA5-F803-4458-A396-E0738F5E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total tolerance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59CFC78-89D9-46E7-A5F0-5A06A6E3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 is accepted; 2.01% is blocked.</a:t>
            </a:r>
          </a:p>
        </p:txBody>
      </p:sp>
    </p:spTree>
    <p:extLst>
      <p:ext uri="{BB962C8B-B14F-4D97-AF65-F5344CB8AC3E}">
        <p14:creationId xmlns:p14="http://schemas.microsoft.com/office/powerpoint/2010/main" val="2108313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6">
            <a:extLst xmlns:a="http://schemas.openxmlformats.org/drawingml/2006/main">
              <a:ext uri="{FF2B5EF4-FFF2-40B4-BE49-F238E27FC236}">
                <a16:creationId xmlns:a16="http://schemas.microsoft.com/office/drawing/2014/main" id="{8DC70536-056D-4E58-97FE-5E7E5CA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BE017E1-06E0-419F-B507-DFBC259C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8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Exceptions stop money movement and preserve decision context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D6A9A098-2CBE-4B49-9A2A-2867B3C1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CDD0C110-A1EB-4F8F-B94A-38D03B0C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exception-title">
            <a:extLst xmlns:a="http://schemas.openxmlformats.org/drawingml/2006/main">
              <a:ext uri="{FF2B5EF4-FFF2-40B4-BE49-F238E27FC236}">
                <a16:creationId xmlns:a16="http://schemas.microsoft.com/office/drawing/2014/main" id="{86E466AA-4979-4B72-A0E7-98C4EC26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Agent-created exception</a:t>
            </a:r>
          </a:p>
        </p:txBody>
      </p:sp>
      <p:sp>
        <p:nvSpPr>
          <p:cNvPr id="6" name="rule-42-268">
            <a:extLst xmlns:a="http://schemas.openxmlformats.org/drawingml/2006/main">
              <a:ext uri="{FF2B5EF4-FFF2-40B4-BE49-F238E27FC236}">
                <a16:creationId xmlns:a16="http://schemas.microsoft.com/office/drawing/2014/main" id="{62C6744F-CBA1-499E-ABB0-B13C0B57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-0">
            <a:extLst xmlns:a="http://schemas.openxmlformats.org/drawingml/2006/main">
              <a:ext uri="{FF2B5EF4-FFF2-40B4-BE49-F238E27FC236}">
                <a16:creationId xmlns:a16="http://schemas.microsoft.com/office/drawing/2014/main" id="{ADC5C06B-1546-4903-8DA7-6E4FCC21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DUPLICATE_INVOICE</a:t>
            </a:r>
          </a:p>
        </p:txBody>
      </p:sp>
      <p:sp>
        <p:nvSpPr>
          <p:cNvPr id="8" name="rule-42-334">
            <a:extLst xmlns:a="http://schemas.openxmlformats.org/drawingml/2006/main">
              <a:ext uri="{FF2B5EF4-FFF2-40B4-BE49-F238E27FC236}">
                <a16:creationId xmlns:a16="http://schemas.microsoft.com/office/drawing/2014/main" id="{E2BAAD7D-CDDE-4AEB-838C-8287010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-1">
            <a:extLst xmlns:a="http://schemas.openxmlformats.org/drawingml/2006/main">
              <a:ext uri="{FF2B5EF4-FFF2-40B4-BE49-F238E27FC236}">
                <a16:creationId xmlns:a16="http://schemas.microsoft.com/office/drawing/2014/main" id="{F18C2A43-5837-48AC-BED9-A36DEC7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MISSING_PO</a:t>
            </a:r>
          </a:p>
        </p:txBody>
      </p:sp>
      <p:sp>
        <p:nvSpPr>
          <p:cNvPr id="10" name="rule-42-400">
            <a:extLst xmlns:a="http://schemas.openxmlformats.org/drawingml/2006/main">
              <a:ext uri="{FF2B5EF4-FFF2-40B4-BE49-F238E27FC236}">
                <a16:creationId xmlns:a16="http://schemas.microsoft.com/office/drawing/2014/main" id="{32E98DA3-5066-4C3A-9F2C-C725386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-2">
            <a:extLst xmlns:a="http://schemas.openxmlformats.org/drawingml/2006/main">
              <a:ext uri="{FF2B5EF4-FFF2-40B4-BE49-F238E27FC236}">
                <a16:creationId xmlns:a16="http://schemas.microsoft.com/office/drawing/2014/main" id="{27C46C2C-F22A-4030-99CE-EFA7482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PRICE / QUANTITY VARIANCE</a:t>
            </a:r>
          </a:p>
        </p:txBody>
      </p:sp>
      <p:sp>
        <p:nvSpPr>
          <p:cNvPr id="12" name="rule-42-466">
            <a:extLst xmlns:a="http://schemas.openxmlformats.org/drawingml/2006/main">
              <a:ext uri="{FF2B5EF4-FFF2-40B4-BE49-F238E27FC236}">
                <a16:creationId xmlns:a16="http://schemas.microsoft.com/office/drawing/2014/main" id="{87F2CEDB-C3A3-45D3-9D9E-7C7CCC4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-3">
            <a:extLst xmlns:a="http://schemas.openxmlformats.org/drawingml/2006/main">
              <a:ext uri="{FF2B5EF4-FFF2-40B4-BE49-F238E27FC236}">
                <a16:creationId xmlns:a16="http://schemas.microsoft.com/office/drawing/2014/main" id="{1024D4F2-FC35-480D-B676-AEDE240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RECEIPT_SHORTFALL</a:t>
            </a:r>
          </a:p>
        </p:txBody>
      </p:sp>
      <p:sp>
        <p:nvSpPr>
          <p:cNvPr id="14" name="human-title">
            <a:extLst xmlns:a="http://schemas.openxmlformats.org/drawingml/2006/main">
              <a:ext uri="{FF2B5EF4-FFF2-40B4-BE49-F238E27FC236}">
                <a16:creationId xmlns:a16="http://schemas.microsoft.com/office/drawing/2014/main" id="{84214F8A-C4A8-4C25-929C-A7426E56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human decision</a:t>
            </a:r>
          </a:p>
        </p:txBody>
      </p:sp>
      <p:sp>
        <p:nvSpPr>
          <p:cNvPr id="15" name="human-panel">
            <a:extLst xmlns:a="http://schemas.openxmlformats.org/drawingml/2006/main">
              <a:ext uri="{FF2B5EF4-FFF2-40B4-BE49-F238E27FC236}">
                <a16:creationId xmlns:a16="http://schemas.microsoft.com/office/drawing/2014/main" id="{C87A6877-583F-4854-8E53-8EB276A4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uman-action">
            <a:extLst xmlns:a="http://schemas.openxmlformats.org/drawingml/2006/main">
              <a:ext uri="{FF2B5EF4-FFF2-40B4-BE49-F238E27FC236}">
                <a16:creationId xmlns:a16="http://schemas.microsoft.com/office/drawing/2014/main" id="{B0B9799B-8823-4B95-B9C0-D2BA7F45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or reject</a:t>
            </a:r>
          </a:p>
        </p:txBody>
      </p:sp>
      <p:sp>
        <p:nvSpPr>
          <p:cNvPr id="17" name="human-desc">
            <a:extLst xmlns:a="http://schemas.openxmlformats.org/drawingml/2006/main">
              <a:ext uri="{FF2B5EF4-FFF2-40B4-BE49-F238E27FC236}">
                <a16:creationId xmlns:a16="http://schemas.microsoft.com/office/drawing/2014/main" id="{E45C355E-DC33-45CE-BCEC-212402C4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The reviewer sees extracted evidence, match variances, retrieved policy context, and the complete source-linked trail.</a:t>
            </a:r>
          </a:p>
        </p:txBody>
      </p:sp>
      <p:sp>
        <p:nvSpPr>
          <p:cNvPr id="18" name="human-proof">
            <a:extLst xmlns:a="http://schemas.openxmlformats.org/drawingml/2006/main">
              <a:ext uri="{FF2B5EF4-FFF2-40B4-BE49-F238E27FC236}">
                <a16:creationId xmlns:a16="http://schemas.microsoft.com/office/drawing/2014/main" id="{07AA2C3A-5C23-4AEF-B7C8-BF8F7E4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Actor + comment → immutable audit event</a:t>
            </a:r>
          </a:p>
        </p:txBody>
      </p:sp>
      <p:sp>
        <p:nvSpPr>
          <p:cNvPr id="19" name="exception-bottom">
            <a:extLst xmlns:a="http://schemas.openxmlformats.org/drawingml/2006/main">
              <a:ext uri="{FF2B5EF4-FFF2-40B4-BE49-F238E27FC236}">
                <a16:creationId xmlns:a16="http://schemas.microsoft.com/office/drawing/2014/main" id="{04F14F91-3D7E-440F-AB43-11543E7C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 is a workflow transition—not an override that erases the exception.</a:t>
            </a:r>
          </a:p>
        </p:txBody>
      </p:sp>
    </p:spTree>
    <p:extLst>
      <p:ext uri="{BB962C8B-B14F-4D97-AF65-F5344CB8AC3E}">
        <p14:creationId xmlns:p14="http://schemas.microsoft.com/office/powerpoint/2010/main" val="234604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7">
            <a:extLst xmlns:a="http://schemas.openxmlformats.org/drawingml/2006/main">
              <a:ext uri="{FF2B5EF4-FFF2-40B4-BE49-F238E27FC236}">
                <a16:creationId xmlns:a16="http://schemas.microsoft.com/office/drawing/2014/main" id="{4EBEE1B5-A4E7-48F9-9104-627AB73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0F0817B-D0AA-4B2B-BA41-C431E90C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governed pattern applies incoming cash to open AR items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19C07495-D8CC-4DFC-BE00-D06DBAF5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380405C1-DB10-4B35-8D15-1CC4A960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ap-label">
            <a:extLst xmlns:a="http://schemas.openxmlformats.org/drawingml/2006/main">
              <a:ext uri="{FF2B5EF4-FFF2-40B4-BE49-F238E27FC236}">
                <a16:creationId xmlns:a16="http://schemas.microsoft.com/office/drawing/2014/main" id="{16BB3D93-6281-41C9-8007-CF66C597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ACCOUNTS PAYABLE</a:t>
            </a:r>
          </a:p>
        </p:txBody>
      </p:sp>
      <p:sp>
        <p:nvSpPr>
          <p:cNvPr id="6" name="ap-flow">
            <a:extLst xmlns:a="http://schemas.openxmlformats.org/drawingml/2006/main">
              <a:ext uri="{FF2B5EF4-FFF2-40B4-BE49-F238E27FC236}">
                <a16:creationId xmlns:a16="http://schemas.microsoft.com/office/drawing/2014/main" id="{CA02BC1F-923A-4CC9-8404-AAC21EF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28600" rIns="228600" bIns="2286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Invoice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 + receipt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Payment journal</a:t>
            </a:r>
          </a:p>
        </p:txBody>
      </p:sp>
      <p:sp>
        <p:nvSpPr>
          <p:cNvPr id="7" name="ar-label">
            <a:extLst xmlns:a="http://schemas.openxmlformats.org/drawingml/2006/main">
              <a:ext uri="{FF2B5EF4-FFF2-40B4-BE49-F238E27FC236}">
                <a16:creationId xmlns:a16="http://schemas.microsoft.com/office/drawing/2014/main" id="{50527C3C-876F-4589-895F-1783C73F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ACCOUNTS RECEIVABLE</a:t>
            </a:r>
          </a:p>
        </p:txBody>
      </p:sp>
      <p:sp>
        <p:nvSpPr>
          <p:cNvPr id="8" name="ar-flow">
            <a:extLst xmlns:a="http://schemas.openxmlformats.org/drawingml/2006/main">
              <a:ext uri="{FF2B5EF4-FFF2-40B4-BE49-F238E27FC236}">
                <a16:creationId xmlns:a16="http://schemas.microsoft.com/office/drawing/2014/main" id="{F81B90A3-E5AC-453E-98AB-4B272671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28600" rIns="228600" bIns="2286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Remittance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+ open items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Cash application</a:t>
            </a:r>
          </a:p>
        </p:txBody>
      </p:sp>
      <p:sp>
        <p:nvSpPr>
          <p:cNvPr id="9" name="shared-pattern">
            <a:extLst xmlns:a="http://schemas.openxmlformats.org/drawingml/2006/main">
              <a:ext uri="{FF2B5EF4-FFF2-40B4-BE49-F238E27FC236}">
                <a16:creationId xmlns:a16="http://schemas.microsoft.com/office/drawing/2014/main" id="{B2D47B5F-A6BB-4DD3-8308-667670C7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Shared controls: source traceability · exact amount/currency · exception routing · idempotent external action</a:t>
            </a:r>
          </a:p>
        </p:txBody>
      </p:sp>
    </p:spTree>
    <p:extLst>
      <p:ext uri="{BB962C8B-B14F-4D97-AF65-F5344CB8AC3E}">
        <p14:creationId xmlns:p14="http://schemas.microsoft.com/office/powerpoint/2010/main" val="1430855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8">
            <a:extLst xmlns:a="http://schemas.openxmlformats.org/drawingml/2006/main">
              <a:ext uri="{FF2B5EF4-FFF2-40B4-BE49-F238E27FC236}">
                <a16:creationId xmlns:a16="http://schemas.microsoft.com/office/drawing/2014/main" id="{9C544C11-8F90-4DCF-8D1A-72F436F0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DBA0428-E495-4AC6-9DC2-E2D194B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93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Five mandatory APIs expose the controlled workflow and its evidence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00A1C043-DCE5-4450-854D-1578A1FA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956F251E-A11D-4F12-87DC-2E5E901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api-head-method">
            <a:extLst xmlns:a="http://schemas.openxmlformats.org/drawingml/2006/main">
              <a:ext uri="{FF2B5EF4-FFF2-40B4-BE49-F238E27FC236}">
                <a16:creationId xmlns:a16="http://schemas.microsoft.com/office/drawing/2014/main" id="{3526F5DD-6376-4471-B486-0C8F22C0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6" name="api-head-path">
            <a:extLst xmlns:a="http://schemas.openxmlformats.org/drawingml/2006/main">
              <a:ext uri="{FF2B5EF4-FFF2-40B4-BE49-F238E27FC236}">
                <a16:creationId xmlns:a16="http://schemas.microsoft.com/office/drawing/2014/main" id="{20B5E8CC-929F-4A45-861D-625157A4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145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7" name="api-head-proof">
            <a:extLst xmlns:a="http://schemas.openxmlformats.org/drawingml/2006/main">
              <a:ext uri="{FF2B5EF4-FFF2-40B4-BE49-F238E27FC236}">
                <a16:creationId xmlns:a16="http://schemas.microsoft.com/office/drawing/2014/main" id="{96AE445B-F58D-46FF-8218-FAFB431A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CONTROL EVIDENCE</a:t>
            </a:r>
          </a:p>
        </p:txBody>
      </p:sp>
      <p:sp>
        <p:nvSpPr>
          <p:cNvPr id="8" name="rule-42-215">
            <a:extLst xmlns:a="http://schemas.openxmlformats.org/drawingml/2006/main">
              <a:ext uri="{FF2B5EF4-FFF2-40B4-BE49-F238E27FC236}">
                <a16:creationId xmlns:a16="http://schemas.microsoft.com/office/drawing/2014/main" id="{5198056A-E39C-46F0-895B-4976174E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-0">
            <a:extLst xmlns:a="http://schemas.openxmlformats.org/drawingml/2006/main">
              <a:ext uri="{FF2B5EF4-FFF2-40B4-BE49-F238E27FC236}">
                <a16:creationId xmlns:a16="http://schemas.microsoft.com/office/drawing/2014/main" id="{57E7FCC6-25B4-4102-8A41-C7058911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0" name="p-0">
            <a:extLst xmlns:a="http://schemas.openxmlformats.org/drawingml/2006/main">
              <a:ext uri="{FF2B5EF4-FFF2-40B4-BE49-F238E27FC236}">
                <a16:creationId xmlns:a16="http://schemas.microsoft.com/office/drawing/2014/main" id="{E921BE49-E3F6-4FA2-9D0A-95C53EC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383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/api/v1/ingest-invoice</a:t>
            </a:r>
          </a:p>
        </p:txBody>
      </p:sp>
      <p:sp>
        <p:nvSpPr>
          <p:cNvPr id="11" name="e-0">
            <a:extLst xmlns:a="http://schemas.openxmlformats.org/drawingml/2006/main">
              <a:ext uri="{FF2B5EF4-FFF2-40B4-BE49-F238E27FC236}">
                <a16:creationId xmlns:a16="http://schemas.microsoft.com/office/drawing/2014/main" id="{2B699806-0FEC-4CE7-8219-4D9925E4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source hash + extracted invoice</a:t>
            </a:r>
          </a:p>
        </p:txBody>
      </p:sp>
      <p:sp>
        <p:nvSpPr>
          <p:cNvPr id="12" name="rule-42-283">
            <a:extLst xmlns:a="http://schemas.openxmlformats.org/drawingml/2006/main">
              <a:ext uri="{FF2B5EF4-FFF2-40B4-BE49-F238E27FC236}">
                <a16:creationId xmlns:a16="http://schemas.microsoft.com/office/drawing/2014/main" id="{5B59A888-93EE-419D-96CF-C952C967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-1">
            <a:extLst xmlns:a="http://schemas.openxmlformats.org/drawingml/2006/main">
              <a:ext uri="{FF2B5EF4-FFF2-40B4-BE49-F238E27FC236}">
                <a16:creationId xmlns:a16="http://schemas.microsoft.com/office/drawing/2014/main" id="{4E597357-EA6E-4BA1-A550-2C75F30D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4" name="p-1">
            <a:extLst xmlns:a="http://schemas.openxmlformats.org/drawingml/2006/main">
              <a:ext uri="{FF2B5EF4-FFF2-40B4-BE49-F238E27FC236}">
                <a16:creationId xmlns:a16="http://schemas.microsoft.com/office/drawing/2014/main" id="{317341FA-1B1F-4294-9918-A6701027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765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/api/v1/match-po</a:t>
            </a:r>
          </a:p>
        </p:txBody>
      </p:sp>
      <p:sp>
        <p:nvSpPr>
          <p:cNvPr id="15" name="e-1">
            <a:extLst xmlns:a="http://schemas.openxmlformats.org/drawingml/2006/main">
              <a:ext uri="{FF2B5EF4-FFF2-40B4-BE49-F238E27FC236}">
                <a16:creationId xmlns:a16="http://schemas.microsoft.com/office/drawing/2014/main" id="{C96B0903-E5BC-4634-B746-C619006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variances + next action</a:t>
            </a:r>
          </a:p>
        </p:txBody>
      </p:sp>
      <p:sp>
        <p:nvSpPr>
          <p:cNvPr id="16" name="rule-42-350">
            <a:extLst xmlns:a="http://schemas.openxmlformats.org/drawingml/2006/main">
              <a:ext uri="{FF2B5EF4-FFF2-40B4-BE49-F238E27FC236}">
                <a16:creationId xmlns:a16="http://schemas.microsoft.com/office/drawing/2014/main" id="{DAAFE960-43C1-400F-9ADB-708B971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-2">
            <a:extLst xmlns:a="http://schemas.openxmlformats.org/drawingml/2006/main">
              <a:ext uri="{FF2B5EF4-FFF2-40B4-BE49-F238E27FC236}">
                <a16:creationId xmlns:a16="http://schemas.microsoft.com/office/drawing/2014/main" id="{D57FB3F2-83EB-4982-9705-B7729F4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DC843F40-3CC7-4995-81A2-664DBF01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147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/api/v1/post-payment-journal</a:t>
            </a:r>
          </a:p>
        </p:txBody>
      </p:sp>
      <p:sp>
        <p:nvSpPr>
          <p:cNvPr id="19" name="e-2">
            <a:extLst xmlns:a="http://schemas.openxmlformats.org/drawingml/2006/main">
              <a:ext uri="{FF2B5EF4-FFF2-40B4-BE49-F238E27FC236}">
                <a16:creationId xmlns:a16="http://schemas.microsoft.com/office/drawing/2014/main" id="{83D0626C-4E3D-4C7D-8661-37D2E7B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147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idempotent journal result</a:t>
            </a:r>
          </a:p>
        </p:txBody>
      </p:sp>
      <p:sp>
        <p:nvSpPr>
          <p:cNvPr id="20" name="rule-42-417">
            <a:extLst xmlns:a="http://schemas.openxmlformats.org/drawingml/2006/main">
              <a:ext uri="{FF2B5EF4-FFF2-40B4-BE49-F238E27FC236}">
                <a16:creationId xmlns:a16="http://schemas.microsoft.com/office/drawing/2014/main" id="{97684BF2-1F48-4AFB-A7B8-00D27C5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-3">
            <a:extLst xmlns:a="http://schemas.openxmlformats.org/drawingml/2006/main">
              <a:ext uri="{FF2B5EF4-FFF2-40B4-BE49-F238E27FC236}">
                <a16:creationId xmlns:a16="http://schemas.microsoft.com/office/drawing/2014/main" id="{A7082E86-1184-444F-8267-034ADB4F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D58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EE674026-6D2A-4DBD-8281-727464EA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529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/api/v1/audit-log</a:t>
            </a:r>
          </a:p>
        </p:txBody>
      </p:sp>
      <p:sp>
        <p:nvSpPr>
          <p:cNvPr id="23" name="e-3">
            <a:extLst xmlns:a="http://schemas.openxmlformats.org/drawingml/2006/main">
              <a:ext uri="{FF2B5EF4-FFF2-40B4-BE49-F238E27FC236}">
                <a16:creationId xmlns:a16="http://schemas.microsoft.com/office/drawing/2014/main" id="{0052990B-1444-4BD3-AF62-8AF713C3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chain status + decision events</a:t>
            </a:r>
          </a:p>
        </p:txBody>
      </p:sp>
      <p:sp>
        <p:nvSpPr>
          <p:cNvPr id="24" name="rule-42-484">
            <a:extLst xmlns:a="http://schemas.openxmlformats.org/drawingml/2006/main">
              <a:ext uri="{FF2B5EF4-FFF2-40B4-BE49-F238E27FC236}">
                <a16:creationId xmlns:a16="http://schemas.microsoft.com/office/drawing/2014/main" id="{ADB443C3-FE43-4E1C-AEE3-2E69752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-4">
            <a:extLst xmlns:a="http://schemas.openxmlformats.org/drawingml/2006/main">
              <a:ext uri="{FF2B5EF4-FFF2-40B4-BE49-F238E27FC236}">
                <a16:creationId xmlns:a16="http://schemas.microsoft.com/office/drawing/2014/main" id="{8DBC13CC-D006-43BB-ACB1-19033A7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5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D58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26" name="p-4">
            <a:extLst xmlns:a="http://schemas.openxmlformats.org/drawingml/2006/main">
              <a:ext uri="{FF2B5EF4-FFF2-40B4-BE49-F238E27FC236}">
                <a16:creationId xmlns:a16="http://schemas.microsoft.com/office/drawing/2014/main" id="{5A6C48F0-50A1-4C6C-8E50-D053626C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910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/api/v1/health</a:t>
            </a:r>
          </a:p>
        </p:txBody>
      </p:sp>
      <p:sp>
        <p:nvSpPr>
          <p:cNvPr id="27" name="e-4">
            <a:extLst xmlns:a="http://schemas.openxmlformats.org/drawingml/2006/main">
              <a:ext uri="{FF2B5EF4-FFF2-40B4-BE49-F238E27FC236}">
                <a16:creationId xmlns:a16="http://schemas.microsoft.com/office/drawing/2014/main" id="{88AF42B0-603A-4155-A9B5-C10D5C1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910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service + backend + ledger health</a:t>
            </a:r>
          </a:p>
        </p:txBody>
      </p:sp>
      <p:sp>
        <p:nvSpPr>
          <p:cNvPr id="28" name="rule-42-551">
            <a:extLst xmlns:a="http://schemas.openxmlformats.org/drawingml/2006/main">
              <a:ext uri="{FF2B5EF4-FFF2-40B4-BE49-F238E27FC236}">
                <a16:creationId xmlns:a16="http://schemas.microsoft.com/office/drawing/2014/main" id="{64F76331-AEE4-4F56-B333-314E3C8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pi-extra">
            <a:extLst xmlns:a="http://schemas.openxmlformats.org/drawingml/2006/main">
              <a:ext uri="{FF2B5EF4-FFF2-40B4-BE49-F238E27FC236}">
                <a16:creationId xmlns:a16="http://schemas.microsoft.com/office/drawing/2014/main" id="{320EA9D4-54AB-4939-BD0C-B9F0E59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Additional endpoints cover mailbox polling, exception decisions, review queue, and AR remittance ingestion.</a:t>
            </a:r>
          </a:p>
        </p:txBody>
      </p:sp>
    </p:spTree>
    <p:extLst>
      <p:ext uri="{BB962C8B-B14F-4D97-AF65-F5344CB8AC3E}">
        <p14:creationId xmlns:p14="http://schemas.microsoft.com/office/powerpoint/2010/main" val="1977210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9">
            <a:extLst xmlns:a="http://schemas.openxmlformats.org/drawingml/2006/main">
              <a:ext uri="{FF2B5EF4-FFF2-40B4-BE49-F238E27FC236}">
                <a16:creationId xmlns:a16="http://schemas.microsoft.com/office/drawing/2014/main" id="{573C0D6E-C5DC-4E06-BA9C-4670B219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2F0E8DB-5FCD-4811-BEF1-A0035B93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mandatory technology has a concrete role in the prototype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3389B6AB-230E-4CEF-B143-985A4038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BDA240A8-B6C8-454C-8B46-C3765648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stack-0">
            <a:extLst xmlns:a="http://schemas.openxmlformats.org/drawingml/2006/main">
              <a:ext uri="{FF2B5EF4-FFF2-40B4-BE49-F238E27FC236}">
                <a16:creationId xmlns:a16="http://schemas.microsoft.com/office/drawing/2014/main" id="{05D64300-6AC1-4050-B852-71C4A4DF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0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ck-k-0">
            <a:extLst xmlns:a="http://schemas.openxmlformats.org/drawingml/2006/main">
              <a:ext uri="{FF2B5EF4-FFF2-40B4-BE49-F238E27FC236}">
                <a16:creationId xmlns:a16="http://schemas.microsoft.com/office/drawing/2014/main" id="{8300C5E9-4CDD-4CD8-BE94-9EFEC5F9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INGEST + DOCUMENTS</a:t>
            </a:r>
          </a:p>
        </p:txBody>
      </p:sp>
      <p:sp>
        <p:nvSpPr>
          <p:cNvPr id="7" name="stack-v-0">
            <a:extLst xmlns:a="http://schemas.openxmlformats.org/drawingml/2006/main">
              <a:ext uri="{FF2B5EF4-FFF2-40B4-BE49-F238E27FC236}">
                <a16:creationId xmlns:a16="http://schemas.microsoft.com/office/drawing/2014/main" id="{BD5BA171-76DC-4A8D-A780-60265E69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657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Microsoft Graph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Docling</a:t>
            </a:r>
          </a:p>
        </p:txBody>
      </p:sp>
      <p:sp>
        <p:nvSpPr>
          <p:cNvPr id="8" name="stack-1">
            <a:extLst xmlns:a="http://schemas.openxmlformats.org/drawingml/2006/main">
              <a:ext uri="{FF2B5EF4-FFF2-40B4-BE49-F238E27FC236}">
                <a16:creationId xmlns:a16="http://schemas.microsoft.com/office/drawing/2014/main" id="{3A15C19B-8E1B-4C0A-932B-41DED901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200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ck-k-1">
            <a:extLst xmlns:a="http://schemas.openxmlformats.org/drawingml/2006/main">
              <a:ext uri="{FF2B5EF4-FFF2-40B4-BE49-F238E27FC236}">
                <a16:creationId xmlns:a16="http://schemas.microsoft.com/office/drawing/2014/main" id="{4D1A99D0-F663-4E50-96BD-4FFB5DD9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AGENT + RAG</a:t>
            </a:r>
          </a:p>
        </p:txBody>
      </p:sp>
      <p:sp>
        <p:nvSpPr>
          <p:cNvPr id="10" name="stack-v-1">
            <a:extLst xmlns:a="http://schemas.openxmlformats.org/drawingml/2006/main">
              <a:ext uri="{FF2B5EF4-FFF2-40B4-BE49-F238E27FC236}">
                <a16:creationId xmlns:a16="http://schemas.microsoft.com/office/drawing/2014/main" id="{E5BFF12C-991B-418E-9F1C-F0255869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1657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LangGraph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LlamaIndex</a:t>
            </a:r>
          </a:p>
        </p:txBody>
      </p:sp>
      <p:sp>
        <p:nvSpPr>
          <p:cNvPr id="11" name="stack-2">
            <a:extLst xmlns:a="http://schemas.openxmlformats.org/drawingml/2006/main">
              <a:ext uri="{FF2B5EF4-FFF2-40B4-BE49-F238E27FC236}">
                <a16:creationId xmlns:a16="http://schemas.microsoft.com/office/drawing/2014/main" id="{6C31BA98-6BC0-4EDA-8FFA-38CE0B75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200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ck-k-2">
            <a:extLst xmlns:a="http://schemas.openxmlformats.org/drawingml/2006/main">
              <a:ext uri="{FF2B5EF4-FFF2-40B4-BE49-F238E27FC236}">
                <a16:creationId xmlns:a16="http://schemas.microsoft.com/office/drawing/2014/main" id="{AB39D1A1-712F-46D9-A6C5-600BAF6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 + DATA</a:t>
            </a:r>
          </a:p>
        </p:txBody>
      </p:sp>
      <p:sp>
        <p:nvSpPr>
          <p:cNvPr id="13" name="stack-v-2">
            <a:extLst xmlns:a="http://schemas.openxmlformats.org/drawingml/2006/main">
              <a:ext uri="{FF2B5EF4-FFF2-40B4-BE49-F238E27FC236}">
                <a16:creationId xmlns:a16="http://schemas.microsoft.com/office/drawing/2014/main" id="{D3D5BB39-6C52-41B3-85AF-FE8F13A8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1657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PostgreSQL + pgvector</a:t>
            </a:r>
          </a:p>
        </p:txBody>
      </p:sp>
      <p:sp>
        <p:nvSpPr>
          <p:cNvPr id="14" name="stack-3">
            <a:extLst xmlns:a="http://schemas.openxmlformats.org/drawingml/2006/main">
              <a:ext uri="{FF2B5EF4-FFF2-40B4-BE49-F238E27FC236}">
                <a16:creationId xmlns:a16="http://schemas.microsoft.com/office/drawing/2014/main" id="{984CBB88-BB50-4223-A82A-73DE81C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200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ck-k-3">
            <a:extLst xmlns:a="http://schemas.openxmlformats.org/drawingml/2006/main">
              <a:ext uri="{FF2B5EF4-FFF2-40B4-BE49-F238E27FC236}">
                <a16:creationId xmlns:a16="http://schemas.microsoft.com/office/drawing/2014/main" id="{638720B0-E73D-4DDF-ABFD-6AFB94E9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ERP + OBSERVE</a:t>
            </a:r>
          </a:p>
        </p:txBody>
      </p:sp>
      <p:sp>
        <p:nvSpPr>
          <p:cNvPr id="16" name="stack-v-3">
            <a:extLst xmlns:a="http://schemas.openxmlformats.org/drawingml/2006/main">
              <a:ext uri="{FF2B5EF4-FFF2-40B4-BE49-F238E27FC236}">
                <a16:creationId xmlns:a16="http://schemas.microsoft.com/office/drawing/2014/main" id="{BD5E950A-C882-49E3-B9E2-776CA0F7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657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Mock ERP adapter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Arize Phoenix</a:t>
            </a:r>
          </a:p>
        </p:txBody>
      </p:sp>
      <p:sp>
        <p:nvSpPr>
          <p:cNvPr id="17" name="stack-4">
            <a:extLst xmlns:a="http://schemas.openxmlformats.org/drawingml/2006/main">
              <a:ext uri="{FF2B5EF4-FFF2-40B4-BE49-F238E27FC236}">
                <a16:creationId xmlns:a16="http://schemas.microsoft.com/office/drawing/2014/main" id="{30F8627B-7B05-4A43-B58D-9C0624E2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52625"/>
            <a:ext cx="200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ck-k-4">
            <a:extLst xmlns:a="http://schemas.openxmlformats.org/drawingml/2006/main">
              <a:ext uri="{FF2B5EF4-FFF2-40B4-BE49-F238E27FC236}">
                <a16:creationId xmlns:a16="http://schemas.microsoft.com/office/drawing/2014/main" id="{E0D556A3-9E4B-41F9-8626-3FBB630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EVALUATE + SHIP</a:t>
            </a:r>
          </a:p>
        </p:txBody>
      </p:sp>
      <p:sp>
        <p:nvSpPr>
          <p:cNvPr id="19" name="stack-v-4">
            <a:extLst xmlns:a="http://schemas.openxmlformats.org/drawingml/2006/main">
              <a:ext uri="{FF2B5EF4-FFF2-40B4-BE49-F238E27FC236}">
                <a16:creationId xmlns:a16="http://schemas.microsoft.com/office/drawing/2014/main" id="{CFA55E46-264F-4DAE-AE6F-FED7318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1657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RAGAS + custom metrics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20" name="stack-note">
            <a:extLst xmlns:a="http://schemas.openxmlformats.org/drawingml/2006/main">
              <a:ext uri="{FF2B5EF4-FFF2-40B4-BE49-F238E27FC236}">
                <a16:creationId xmlns:a16="http://schemas.microsoft.com/office/drawing/2014/main" id="{CD9A0CD7-DB15-4353-9864-0FA4B2E5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 services are profile-gated so the core demo remains reproducible without a GPU.</a:t>
            </a:r>
          </a:p>
        </p:txBody>
      </p:sp>
    </p:spTree>
    <p:extLst>
      <p:ext uri="{BB962C8B-B14F-4D97-AF65-F5344CB8AC3E}">
        <p14:creationId xmlns:p14="http://schemas.microsoft.com/office/powerpoint/2010/main" val="129121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0">
            <a:extLst xmlns:a="http://schemas.openxmlformats.org/drawingml/2006/main">
              <a:ext uri="{FF2B5EF4-FFF2-40B4-BE49-F238E27FC236}">
                <a16:creationId xmlns:a16="http://schemas.microsoft.com/office/drawing/2014/main" id="{C000CA17-8EFA-4E4C-B224-03D15FF6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7CA57DF-7C4C-4FA9-9531-84AB2B3F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96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controlled benchmark proves behavior—not production generalization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A0EAB6F1-AA1A-4DC7-B2AC-C822D176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58537768-CBA4-42CE-AFB4-654211A8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etrics-lead">
            <a:extLst xmlns:a="http://schemas.openxmlformats.org/drawingml/2006/main">
              <a:ext uri="{FF2B5EF4-FFF2-40B4-BE49-F238E27FC236}">
                <a16:creationId xmlns:a16="http://schemas.microsoft.com/office/drawing/2014/main" id="{1ACDDDF9-7E59-4B04-BF61-F115AAF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Six synthetic cases span JSON, text-native PDF, and scan-like PNG: three clean and three controlled exceptions.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F795AA9B-2B6C-4297-9BF5-34B0A2C7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571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-0">
            <a:extLst xmlns:a="http://schemas.openxmlformats.org/drawingml/2006/main">
              <a:ext uri="{FF2B5EF4-FFF2-40B4-BE49-F238E27FC236}">
                <a16:creationId xmlns:a16="http://schemas.microsoft.com/office/drawing/2014/main" id="{F5D1B8B8-EDB1-4819-A17D-70FF872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8" name="metric-l-0">
            <a:extLst xmlns:a="http://schemas.openxmlformats.org/drawingml/2006/main">
              <a:ext uri="{FF2B5EF4-FFF2-40B4-BE49-F238E27FC236}">
                <a16:creationId xmlns:a16="http://schemas.microsoft.com/office/drawing/2014/main" id="{73E8EE75-5FAF-4F85-8915-5F6C1258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field extraction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30 / 30 labels</a:t>
            </a:r>
          </a:p>
        </p:txBody>
      </p:sp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9A4F02B2-23E8-4ADC-8FC4-9FCBAEB3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571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-1">
            <a:extLst xmlns:a="http://schemas.openxmlformats.org/drawingml/2006/main">
              <a:ext uri="{FF2B5EF4-FFF2-40B4-BE49-F238E27FC236}">
                <a16:creationId xmlns:a16="http://schemas.microsoft.com/office/drawing/2014/main" id="{BDE8D63F-5DC3-493D-977F-811275B4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480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1" name="metric-l-1">
            <a:extLst xmlns:a="http://schemas.openxmlformats.org/drawingml/2006/main">
              <a:ext uri="{FF2B5EF4-FFF2-40B4-BE49-F238E27FC236}">
                <a16:creationId xmlns:a16="http://schemas.microsoft.com/office/drawing/2014/main" id="{6DA2BCE0-55C5-4A2E-9638-F298CEBD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48125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match + exception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6 / 6 documents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4020BA33-3FDA-400B-B46F-3EAE5E9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35718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-2">
            <a:extLst xmlns:a="http://schemas.openxmlformats.org/drawingml/2006/main">
              <a:ext uri="{FF2B5EF4-FFF2-40B4-BE49-F238E27FC236}">
                <a16:creationId xmlns:a16="http://schemas.microsoft.com/office/drawing/2014/main" id="{1D9C6753-F2F2-4323-9604-438CD455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4" name="metric-l-2">
            <a:extLst xmlns:a="http://schemas.openxmlformats.org/drawingml/2006/main">
              <a:ext uri="{FF2B5EF4-FFF2-40B4-BE49-F238E27FC236}">
                <a16:creationId xmlns:a16="http://schemas.microsoft.com/office/drawing/2014/main" id="{CD33AE0A-5429-415C-85A0-DF78BB39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48125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straight-through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3 / 6 documents</a:t>
            </a:r>
          </a:p>
        </p:txBody>
      </p:sp>
      <p:sp>
        <p:nvSpPr>
          <p:cNvPr id="15" name="metrics-caveat">
            <a:extLst xmlns:a="http://schemas.openxmlformats.org/drawingml/2006/main">
              <a:ext uri="{FF2B5EF4-FFF2-40B4-BE49-F238E27FC236}">
                <a16:creationId xmlns:a16="http://schemas.microsoft.com/office/drawing/2014/main" id="{884B0ECE-FDB8-4D85-B3F1-E94D2D6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gate: ≥500 permissioned invoices, stratified by vendor, scan quality, language, and line count—plus false-STP and reconciliation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669675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1">
            <a:extLst xmlns:a="http://schemas.openxmlformats.org/drawingml/2006/main">
              <a:ext uri="{FF2B5EF4-FFF2-40B4-BE49-F238E27FC236}">
                <a16:creationId xmlns:a16="http://schemas.microsoft.com/office/drawing/2014/main" id="{69420006-0C07-4BB9-B06C-8BF1EC1A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LEDGERPILOT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01C2065C-DCA8-4101-BECB-9AD40E16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526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reviewer can deploy, verify, and demonstrate the prototype in three moves</a:t>
            </a:r>
          </a:p>
        </p:txBody>
      </p:sp>
      <p:sp>
        <p:nvSpPr>
          <p:cNvPr id="3" name="rule-42-145">
            <a:extLst xmlns:a="http://schemas.openxmlformats.org/drawingml/2006/main">
              <a:ext uri="{FF2B5EF4-FFF2-40B4-BE49-F238E27FC236}">
                <a16:creationId xmlns:a16="http://schemas.microsoft.com/office/drawing/2014/main" id="{D37B3FE6-7C16-4AD2-89CC-0FFC410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1F90B162-5476-46BB-8DE0-17DA7A8D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deploy-line">
            <a:extLst xmlns:a="http://schemas.openxmlformats.org/drawingml/2006/main">
              <a:ext uri="{FF2B5EF4-FFF2-40B4-BE49-F238E27FC236}">
                <a16:creationId xmlns:a16="http://schemas.microsoft.com/office/drawing/2014/main" id="{BE8D2695-1FE5-4FCC-83DD-F603CA6E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ploy-dot-0">
            <a:extLst xmlns:a="http://schemas.openxmlformats.org/drawingml/2006/main">
              <a:ext uri="{FF2B5EF4-FFF2-40B4-BE49-F238E27FC236}">
                <a16:creationId xmlns:a16="http://schemas.microsoft.com/office/drawing/2014/main" id="{7B5BCC65-530D-4C66-B994-BFEEB2DC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ploy-num-0">
            <a:extLst xmlns:a="http://schemas.openxmlformats.org/drawingml/2006/main">
              <a:ext uri="{FF2B5EF4-FFF2-40B4-BE49-F238E27FC236}">
                <a16:creationId xmlns:a16="http://schemas.microsoft.com/office/drawing/2014/main" id="{89855FC0-C758-4882-8F17-1974F5F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deploy-h-0">
            <a:extLst xmlns:a="http://schemas.openxmlformats.org/drawingml/2006/main">
              <a:ext uri="{FF2B5EF4-FFF2-40B4-BE49-F238E27FC236}">
                <a16:creationId xmlns:a16="http://schemas.microsoft.com/office/drawing/2014/main" id="{34E188CA-F1E1-4526-B1D7-C0803BB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9" name="deploy-b-0">
            <a:extLst xmlns:a="http://schemas.openxmlformats.org/drawingml/2006/main">
              <a:ext uri="{FF2B5EF4-FFF2-40B4-BE49-F238E27FC236}">
                <a16:creationId xmlns:a16="http://schemas.microsoft.com/office/drawing/2014/main" id="{CCBFEC79-7ECA-4BE1-8BFB-00EAA0C3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docker compose up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--build -d postgres api</a:t>
            </a:r>
          </a:p>
        </p:txBody>
      </p:sp>
      <p:sp>
        <p:nvSpPr>
          <p:cNvPr id="10" name="deploy-dot-1">
            <a:extLst xmlns:a="http://schemas.openxmlformats.org/drawingml/2006/main">
              <a:ext uri="{FF2B5EF4-FFF2-40B4-BE49-F238E27FC236}">
                <a16:creationId xmlns:a16="http://schemas.microsoft.com/office/drawing/2014/main" id="{2F568932-0A05-4DB8-AD48-BFB9627C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ploy-num-1">
            <a:extLst xmlns:a="http://schemas.openxmlformats.org/drawingml/2006/main">
              <a:ext uri="{FF2B5EF4-FFF2-40B4-BE49-F238E27FC236}">
                <a16:creationId xmlns:a16="http://schemas.microsoft.com/office/drawing/2014/main" id="{8BCC0152-7980-4E73-8F52-1A31A363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deploy-h-1">
            <a:extLst xmlns:a="http://schemas.openxmlformats.org/drawingml/2006/main">
              <a:ext uri="{FF2B5EF4-FFF2-40B4-BE49-F238E27FC236}">
                <a16:creationId xmlns:a16="http://schemas.microsoft.com/office/drawing/2014/main" id="{4AADC002-BB64-4A92-AE54-C2BBBE45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3" name="deploy-b-1">
            <a:extLst xmlns:a="http://schemas.openxmlformats.org/drawingml/2006/main">
              <a:ext uri="{FF2B5EF4-FFF2-40B4-BE49-F238E27FC236}">
                <a16:creationId xmlns:a16="http://schemas.microsoft.com/office/drawing/2014/main" id="{267395FB-66D2-4F39-8DD0-503B7980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/health · Swagger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11 tests · multi-format eval</a:t>
            </a:r>
          </a:p>
        </p:txBody>
      </p:sp>
      <p:sp>
        <p:nvSpPr>
          <p:cNvPr id="14" name="deploy-dot-2">
            <a:extLst xmlns:a="http://schemas.openxmlformats.org/drawingml/2006/main">
              <a:ext uri="{FF2B5EF4-FFF2-40B4-BE49-F238E27FC236}">
                <a16:creationId xmlns:a16="http://schemas.microsoft.com/office/drawing/2014/main" id="{AAA2ADE0-06D1-4498-8DB1-AF47CA6B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ploy-num-2">
            <a:extLst xmlns:a="http://schemas.openxmlformats.org/drawingml/2006/main">
              <a:ext uri="{FF2B5EF4-FFF2-40B4-BE49-F238E27FC236}">
                <a16:creationId xmlns:a16="http://schemas.microsoft.com/office/drawing/2014/main" id="{C4814BB1-0377-4BA5-B355-CA6F7B82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E6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ploy-h-2">
            <a:extLst xmlns:a="http://schemas.openxmlformats.org/drawingml/2006/main">
              <a:ext uri="{FF2B5EF4-FFF2-40B4-BE49-F238E27FC236}">
                <a16:creationId xmlns:a16="http://schemas.microsoft.com/office/drawing/2014/main" id="{2ECCA5E6-D21E-48E9-80D4-14DA383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Demonstrate</a:t>
            </a:r>
          </a:p>
        </p:txBody>
      </p:sp>
      <p:sp>
        <p:nvSpPr>
          <p:cNvPr id="17" name="deploy-b-2">
            <a:extLst xmlns:a="http://schemas.openxmlformats.org/drawingml/2006/main">
              <a:ext uri="{FF2B5EF4-FFF2-40B4-BE49-F238E27FC236}">
                <a16:creationId xmlns:a16="http://schemas.microsoft.com/office/drawing/2014/main" id="{9AD726C3-B828-49F7-9E08-C4A15C8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ingest → match → post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then inspect audit chain</a:t>
            </a:r>
          </a:p>
        </p:txBody>
      </p:sp>
      <p:sp>
        <p:nvSpPr>
          <p:cNvPr id="18" name="profiles">
            <a:extLst xmlns:a="http://schemas.openxmlformats.org/drawingml/2006/main">
              <a:ext uri="{FF2B5EF4-FFF2-40B4-BE49-F238E27FC236}">
                <a16:creationId xmlns:a16="http://schemas.microsoft.com/office/drawing/2014/main" id="{287B7F82-DC15-4F15-9012-A814FCC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files-text">
            <a:extLst xmlns:a="http://schemas.openxmlformats.org/drawingml/2006/main">
              <a:ext uri="{FF2B5EF4-FFF2-40B4-BE49-F238E27FC236}">
                <a16:creationId xmlns:a16="http://schemas.microsoft.com/office/drawing/2014/main" id="{18C349F5-9EC9-4486-9A9C-F79E3889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 profiles add Ollama and Phoenix; the deterministic core remains demoable without them.</a:t>
            </a:r>
          </a:p>
        </p:txBody>
      </p:sp>
    </p:spTree>
    <p:extLst>
      <p:ext uri="{BB962C8B-B14F-4D97-AF65-F5344CB8AC3E}">
        <p14:creationId xmlns:p14="http://schemas.microsoft.com/office/powerpoint/2010/main" val="693033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C642C145-87F7-4C31-8A29-EF7AF833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SUBMISSION READY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12C4633-7868-464F-AFF4-53353CE3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 to demonstrate a controlled path from evidence to payment</a:t>
            </a:r>
          </a:p>
        </p:txBody>
      </p:sp>
      <p:sp>
        <p:nvSpPr>
          <p:cNvPr id="3" name="rule-42-340">
            <a:extLst xmlns:a="http://schemas.openxmlformats.org/drawingml/2006/main">
              <a:ext uri="{FF2B5EF4-FFF2-40B4-BE49-F238E27FC236}">
                <a16:creationId xmlns:a16="http://schemas.microsoft.com/office/drawing/2014/main" id="{B0659B16-0D39-4339-A668-3917FF2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EEB8C36E-32FE-4533-945B-C7EE2832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Working AP + AR flows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Versioned OpenAPI + Docker Compose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Tests + evaluation + audit chain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Architecture, controls, and deployment docs</a:t>
            </a:r>
          </a:p>
        </p:txBody>
      </p:sp>
      <p:sp>
        <p:nvSpPr>
          <p:cNvPr id="5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D699C886-3F89-4750-9879-3C2043A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304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callout-text">
            <a:extLst xmlns:a="http://schemas.openxmlformats.org/drawingml/2006/main">
              <a:ext uri="{FF2B5EF4-FFF2-40B4-BE49-F238E27FC236}">
                <a16:creationId xmlns:a16="http://schemas.microsoft.com/office/drawing/2014/main" id="{B2977421-35D6-4E63-9B1F-010A4D21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 a real ERP sandbox and evaluate on permissioned vendor invoices.</a:t>
            </a:r>
          </a:p>
        </p:txBody>
      </p:sp>
      <p:sp>
        <p:nvSpPr>
          <p:cNvPr id="7" name="close-page">
            <a:extLst xmlns:a="http://schemas.openxmlformats.org/drawingml/2006/main">
              <a:ext uri="{FF2B5EF4-FFF2-40B4-BE49-F238E27FC236}">
                <a16:creationId xmlns:a16="http://schemas.microsoft.com/office/drawing/2014/main" id="{6B99AC52-EC41-4D34-8A4B-9B8440B8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7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7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514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2026-08-28T18:29:54.9480000Z</dcterms:created>
  <dcterms:modified xsi:type="dcterms:W3CDTF">2026-08-28T18:29:54.9480000Z</dcterms:modified>
</coreProperties>
</file>